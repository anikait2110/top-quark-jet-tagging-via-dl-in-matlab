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media/image47.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82" r:id="rId3"/>
    <p:sldId id="283" r:id="rId4"/>
    <p:sldId id="284" r:id="rId5"/>
    <p:sldId id="285" r:id="rId6"/>
    <p:sldId id="286" r:id="rId7"/>
    <p:sldId id="278"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257" r:id="rId21"/>
    <p:sldId id="269" r:id="rId22"/>
    <p:sldId id="277" r:id="rId23"/>
    <p:sldId id="276" r:id="rId24"/>
    <p:sldId id="275" r:id="rId25"/>
    <p:sldId id="274" r:id="rId26"/>
    <p:sldId id="273" r:id="rId27"/>
    <p:sldId id="272" r:id="rId28"/>
    <p:sldId id="271" r:id="rId29"/>
    <p:sldId id="270" r:id="rId30"/>
    <p:sldId id="259" r:id="rId31"/>
    <p:sldId id="279" r:id="rId32"/>
    <p:sldId id="258" r:id="rId33"/>
    <p:sldId id="267" r:id="rId34"/>
    <p:sldId id="268" r:id="rId35"/>
  </p:sldIdLst>
  <p:sldSz cx="18300700" cy="10299700"/>
  <p:notesSz cx="18300700" cy="102997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51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BD9F1504-4A69-44E7-AECC-9FE05D189E81}" type="datetimeFigureOut">
              <a:rPr lang="en-IN" smtClean="0"/>
              <a:t>31-05-2024</a:t>
            </a:fld>
            <a:endParaRPr lang="en-IN"/>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5C5BC592-3BC4-4208-B24E-5FDFD1F29265}" type="slidenum">
              <a:rPr lang="en-IN" smtClean="0"/>
              <a:t>‹#›</a:t>
            </a:fld>
            <a:endParaRPr lang="en-IN"/>
          </a:p>
        </p:txBody>
      </p:sp>
    </p:spTree>
    <p:extLst>
      <p:ext uri="{BB962C8B-B14F-4D97-AF65-F5344CB8AC3E}">
        <p14:creationId xmlns:p14="http://schemas.microsoft.com/office/powerpoint/2010/main" val="288577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4df2e38304_1_460: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4df2e38304_1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2b51b6346_0_550: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2b51b6346_0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b574140_0_0: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b5741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2b51b6346_0_591: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2b51b6346_0_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b05357d695_0_104: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b05357d695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9125f2cb5_0_5: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9125f2cb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2b51b6346_0_681: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2b51b6346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4df2e38304_1_466: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4df2e38304_1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2b51b6346_0_656: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2b51b6346_0_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2b51b6346_0_572: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2b51b6346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2b51b6346_0_577: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2b51b6346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2b51b6346_0_566: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2b51b6346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2b51b6346_0_560: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2b51b6346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RMSProp mentioned in Hinton’s lecture notes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c2aa2ec4a_0_50: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c2aa2ec4a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4df2e38304_1_476: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4df2e38304_1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c2aa2ec4a_0_0: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c2aa2ec4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2febf96af_0_11: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2febf96a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32b574140_0_51: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32b574140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2552" y="3192907"/>
            <a:ext cx="15555595" cy="2162937"/>
          </a:xfrm>
          <a:prstGeom prst="rect">
            <a:avLst/>
          </a:prstGeom>
        </p:spPr>
        <p:txBody>
          <a:bodyPr wrap="square" lIns="0" tIns="0" rIns="0" bIns="0">
            <a:spAutoFit/>
          </a:bodyPr>
          <a:lstStyle>
            <a:lvl1pPr>
              <a:defRPr sz="6000" b="0" i="0">
                <a:solidFill>
                  <a:schemeClr val="bg1"/>
                </a:solidFill>
                <a:latin typeface="Verdana"/>
                <a:cs typeface="Verdana"/>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sz="2400" b="0" i="0">
                <a:solidFill>
                  <a:schemeClr val="bg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bg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400" b="0" i="0">
                <a:solidFill>
                  <a:schemeClr val="bg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bg1"/>
                </a:solidFill>
                <a:latin typeface="Verdana"/>
                <a:cs typeface="Verdana"/>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bg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Slide" type="secHead">
  <p:cSld name="Section Slide">
    <p:bg>
      <p:bgPr>
        <a:solidFill>
          <a:srgbClr val="0082BB"/>
        </a:solidFill>
        <a:effectLst/>
      </p:bgPr>
    </p:bg>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1248642" y="2608306"/>
            <a:ext cx="15784354" cy="4284243"/>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500"/>
              <a:buFont typeface="Corbel"/>
              <a:buNone/>
              <a:defRPr sz="811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1248642" y="6892694"/>
            <a:ext cx="15784354" cy="2252958"/>
          </a:xfrm>
          <a:prstGeom prst="rect">
            <a:avLst/>
          </a:prstGeom>
          <a:noFill/>
          <a:ln>
            <a:noFill/>
          </a:ln>
        </p:spPr>
        <p:txBody>
          <a:bodyPr spcFirstLastPara="1" wrap="square" lIns="91425" tIns="45700" rIns="91425" bIns="45700" anchor="t" anchorCtr="0">
            <a:noAutofit/>
          </a:bodyPr>
          <a:lstStyle>
            <a:lvl1pPr marL="823966" lvl="0" indent="-411983" algn="l">
              <a:lnSpc>
                <a:spcPct val="90000"/>
              </a:lnSpc>
              <a:spcBef>
                <a:spcPts val="1352"/>
              </a:spcBef>
              <a:spcAft>
                <a:spcPts val="0"/>
              </a:spcAft>
              <a:buClr>
                <a:schemeClr val="lt1"/>
              </a:buClr>
              <a:buSzPts val="1800"/>
              <a:buNone/>
              <a:defRPr sz="3244">
                <a:solidFill>
                  <a:schemeClr val="lt1"/>
                </a:solidFill>
              </a:defRPr>
            </a:lvl1pPr>
            <a:lvl2pPr marL="1647932" lvl="1" indent="-411983" algn="l">
              <a:lnSpc>
                <a:spcPct val="90000"/>
              </a:lnSpc>
              <a:spcBef>
                <a:spcPts val="676"/>
              </a:spcBef>
              <a:spcAft>
                <a:spcPts val="0"/>
              </a:spcAft>
              <a:buClr>
                <a:srgbClr val="888888"/>
              </a:buClr>
              <a:buSzPts val="1500"/>
              <a:buNone/>
              <a:defRPr sz="2703">
                <a:solidFill>
                  <a:srgbClr val="888888"/>
                </a:solidFill>
              </a:defRPr>
            </a:lvl2pPr>
            <a:lvl3pPr marL="2471898" lvl="2" indent="-411983" algn="l">
              <a:lnSpc>
                <a:spcPct val="90000"/>
              </a:lnSpc>
              <a:spcBef>
                <a:spcPts val="676"/>
              </a:spcBef>
              <a:spcAft>
                <a:spcPts val="0"/>
              </a:spcAft>
              <a:buClr>
                <a:srgbClr val="888888"/>
              </a:buClr>
              <a:buSzPts val="1350"/>
              <a:buNone/>
              <a:defRPr sz="2433">
                <a:solidFill>
                  <a:srgbClr val="888888"/>
                </a:solidFill>
              </a:defRPr>
            </a:lvl3pPr>
            <a:lvl4pPr marL="3295863" lvl="3" indent="-411983" algn="l">
              <a:lnSpc>
                <a:spcPct val="90000"/>
              </a:lnSpc>
              <a:spcBef>
                <a:spcPts val="676"/>
              </a:spcBef>
              <a:spcAft>
                <a:spcPts val="0"/>
              </a:spcAft>
              <a:buClr>
                <a:srgbClr val="888888"/>
              </a:buClr>
              <a:buSzPts val="1200"/>
              <a:buNone/>
              <a:defRPr sz="2163">
                <a:solidFill>
                  <a:srgbClr val="888888"/>
                </a:solidFill>
              </a:defRPr>
            </a:lvl4pPr>
            <a:lvl5pPr marL="4119829" lvl="4" indent="-411983" algn="l">
              <a:lnSpc>
                <a:spcPct val="90000"/>
              </a:lnSpc>
              <a:spcBef>
                <a:spcPts val="676"/>
              </a:spcBef>
              <a:spcAft>
                <a:spcPts val="0"/>
              </a:spcAft>
              <a:buClr>
                <a:srgbClr val="888888"/>
              </a:buClr>
              <a:buSzPts val="1200"/>
              <a:buNone/>
              <a:defRPr sz="2163">
                <a:solidFill>
                  <a:srgbClr val="888888"/>
                </a:solidFill>
              </a:defRPr>
            </a:lvl5pPr>
            <a:lvl6pPr marL="4943795" lvl="5" indent="-411983" algn="l">
              <a:lnSpc>
                <a:spcPct val="90000"/>
              </a:lnSpc>
              <a:spcBef>
                <a:spcPts val="676"/>
              </a:spcBef>
              <a:spcAft>
                <a:spcPts val="0"/>
              </a:spcAft>
              <a:buClr>
                <a:srgbClr val="888888"/>
              </a:buClr>
              <a:buSzPts val="1200"/>
              <a:buNone/>
              <a:defRPr sz="2163">
                <a:solidFill>
                  <a:srgbClr val="888888"/>
                </a:solidFill>
              </a:defRPr>
            </a:lvl6pPr>
            <a:lvl7pPr marL="5767761" lvl="6" indent="-411983" algn="l">
              <a:lnSpc>
                <a:spcPct val="90000"/>
              </a:lnSpc>
              <a:spcBef>
                <a:spcPts val="676"/>
              </a:spcBef>
              <a:spcAft>
                <a:spcPts val="0"/>
              </a:spcAft>
              <a:buClr>
                <a:srgbClr val="888888"/>
              </a:buClr>
              <a:buSzPts val="1200"/>
              <a:buNone/>
              <a:defRPr sz="2163">
                <a:solidFill>
                  <a:srgbClr val="888888"/>
                </a:solidFill>
              </a:defRPr>
            </a:lvl7pPr>
            <a:lvl8pPr marL="6591727" lvl="7" indent="-411983" algn="l">
              <a:lnSpc>
                <a:spcPct val="90000"/>
              </a:lnSpc>
              <a:spcBef>
                <a:spcPts val="676"/>
              </a:spcBef>
              <a:spcAft>
                <a:spcPts val="0"/>
              </a:spcAft>
              <a:buClr>
                <a:srgbClr val="888888"/>
              </a:buClr>
              <a:buSzPts val="1200"/>
              <a:buNone/>
              <a:defRPr sz="2163">
                <a:solidFill>
                  <a:srgbClr val="888888"/>
                </a:solidFill>
              </a:defRPr>
            </a:lvl8pPr>
            <a:lvl9pPr marL="7415693" lvl="8" indent="-411983" algn="l">
              <a:lnSpc>
                <a:spcPct val="90000"/>
              </a:lnSpc>
              <a:spcBef>
                <a:spcPts val="676"/>
              </a:spcBef>
              <a:spcAft>
                <a:spcPts val="0"/>
              </a:spcAft>
              <a:buClr>
                <a:srgbClr val="888888"/>
              </a:buClr>
              <a:buSzPts val="1200"/>
              <a:buNone/>
              <a:defRPr sz="2163">
                <a:solidFill>
                  <a:srgbClr val="888888"/>
                </a:solidFill>
              </a:defRPr>
            </a:lvl9pPr>
          </a:lstStyle>
          <a:p>
            <a:endParaRPr/>
          </a:p>
        </p:txBody>
      </p:sp>
      <p:sp>
        <p:nvSpPr>
          <p:cNvPr id="29" name="Google Shape;29;p4"/>
          <p:cNvSpPr txBox="1">
            <a:spLocks noGrp="1"/>
          </p:cNvSpPr>
          <p:nvPr>
            <p:ph type="dt" idx="10"/>
          </p:nvPr>
        </p:nvSpPr>
        <p:spPr>
          <a:xfrm>
            <a:off x="1258173" y="9546297"/>
            <a:ext cx="4117658" cy="54823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5375831" y="9546297"/>
            <a:ext cx="711494" cy="5482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622" b="0" i="0" u="none" strike="noStrike" cap="none">
                <a:solidFill>
                  <a:schemeClr val="lt1"/>
                </a:solidFill>
                <a:latin typeface="Corbel"/>
                <a:ea typeface="Corbel"/>
                <a:cs typeface="Corbel"/>
                <a:sym typeface="Corbel"/>
              </a:defRPr>
            </a:lvl1pPr>
            <a:lvl2pPr marL="0" lvl="1" indent="0" algn="l">
              <a:spcBef>
                <a:spcPts val="0"/>
              </a:spcBef>
              <a:buNone/>
              <a:defRPr sz="1622" b="0" i="0" u="none" strike="noStrike" cap="none">
                <a:solidFill>
                  <a:schemeClr val="lt1"/>
                </a:solidFill>
                <a:latin typeface="Corbel"/>
                <a:ea typeface="Corbel"/>
                <a:cs typeface="Corbel"/>
                <a:sym typeface="Corbel"/>
              </a:defRPr>
            </a:lvl2pPr>
            <a:lvl3pPr marL="0" lvl="2" indent="0" algn="l">
              <a:spcBef>
                <a:spcPts val="0"/>
              </a:spcBef>
              <a:buNone/>
              <a:defRPr sz="1622" b="0" i="0" u="none" strike="noStrike" cap="none">
                <a:solidFill>
                  <a:schemeClr val="lt1"/>
                </a:solidFill>
                <a:latin typeface="Corbel"/>
                <a:ea typeface="Corbel"/>
                <a:cs typeface="Corbel"/>
                <a:sym typeface="Corbel"/>
              </a:defRPr>
            </a:lvl3pPr>
            <a:lvl4pPr marL="0" lvl="3" indent="0" algn="l">
              <a:spcBef>
                <a:spcPts val="0"/>
              </a:spcBef>
              <a:buNone/>
              <a:defRPr sz="1622" b="0" i="0" u="none" strike="noStrike" cap="none">
                <a:solidFill>
                  <a:schemeClr val="lt1"/>
                </a:solidFill>
                <a:latin typeface="Corbel"/>
                <a:ea typeface="Corbel"/>
                <a:cs typeface="Corbel"/>
                <a:sym typeface="Corbel"/>
              </a:defRPr>
            </a:lvl4pPr>
            <a:lvl5pPr marL="0" lvl="4" indent="0" algn="l">
              <a:spcBef>
                <a:spcPts val="0"/>
              </a:spcBef>
              <a:buNone/>
              <a:defRPr sz="1622" b="0" i="0" u="none" strike="noStrike" cap="none">
                <a:solidFill>
                  <a:schemeClr val="lt1"/>
                </a:solidFill>
                <a:latin typeface="Corbel"/>
                <a:ea typeface="Corbel"/>
                <a:cs typeface="Corbel"/>
                <a:sym typeface="Corbel"/>
              </a:defRPr>
            </a:lvl5pPr>
            <a:lvl6pPr marL="0" lvl="5" indent="0" algn="l">
              <a:spcBef>
                <a:spcPts val="0"/>
              </a:spcBef>
              <a:buNone/>
              <a:defRPr sz="1622" b="0" i="0" u="none" strike="noStrike" cap="none">
                <a:solidFill>
                  <a:schemeClr val="lt1"/>
                </a:solidFill>
                <a:latin typeface="Corbel"/>
                <a:ea typeface="Corbel"/>
                <a:cs typeface="Corbel"/>
                <a:sym typeface="Corbel"/>
              </a:defRPr>
            </a:lvl6pPr>
            <a:lvl7pPr marL="0" lvl="6" indent="0" algn="l">
              <a:spcBef>
                <a:spcPts val="0"/>
              </a:spcBef>
              <a:buNone/>
              <a:defRPr sz="1622" b="0" i="0" u="none" strike="noStrike" cap="none">
                <a:solidFill>
                  <a:schemeClr val="lt1"/>
                </a:solidFill>
                <a:latin typeface="Corbel"/>
                <a:ea typeface="Corbel"/>
                <a:cs typeface="Corbel"/>
                <a:sym typeface="Corbel"/>
              </a:defRPr>
            </a:lvl7pPr>
            <a:lvl8pPr marL="0" lvl="7" indent="0" algn="l">
              <a:spcBef>
                <a:spcPts val="0"/>
              </a:spcBef>
              <a:buNone/>
              <a:defRPr sz="1622" b="0" i="0" u="none" strike="noStrike" cap="none">
                <a:solidFill>
                  <a:schemeClr val="lt1"/>
                </a:solidFill>
                <a:latin typeface="Corbel"/>
                <a:ea typeface="Corbel"/>
                <a:cs typeface="Corbel"/>
                <a:sym typeface="Corbel"/>
              </a:defRPr>
            </a:lvl8pPr>
            <a:lvl9pPr marL="0" lvl="8" indent="0" algn="l">
              <a:spcBef>
                <a:spcPts val="0"/>
              </a:spcBef>
              <a:buNone/>
              <a:defRPr sz="1622" b="0" i="0" u="none" strike="noStrike" cap="none">
                <a:solidFill>
                  <a:schemeClr val="lt1"/>
                </a:solidFill>
                <a:latin typeface="Corbel"/>
                <a:ea typeface="Corbel"/>
                <a:cs typeface="Corbel"/>
                <a:sym typeface="Corbel"/>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755085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a:off x="623833" y="891148"/>
            <a:ext cx="17053034" cy="1146754"/>
          </a:xfrm>
          <a:prstGeom prst="rect">
            <a:avLst/>
          </a:prstGeom>
        </p:spPr>
        <p:txBody>
          <a:bodyPr spcFirstLastPara="1" wrap="square" lIns="91425" tIns="45700" rIns="91425" bIns="45700" anchor="ctr" anchorCtr="0">
            <a:noAutofit/>
          </a:bodyPr>
          <a:lstStyle>
            <a:lvl1pPr lvl="0" rtl="0">
              <a:spcBef>
                <a:spcPts val="0"/>
              </a:spcBef>
              <a:spcAft>
                <a:spcPts val="0"/>
              </a:spcAft>
              <a:buSzPts val="33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13"/>
          <p:cNvSpPr txBox="1">
            <a:spLocks noGrp="1"/>
          </p:cNvSpPr>
          <p:nvPr>
            <p:ph type="body" idx="1"/>
          </p:nvPr>
        </p:nvSpPr>
        <p:spPr>
          <a:xfrm>
            <a:off x="623833" y="2307796"/>
            <a:ext cx="17053034" cy="6841055"/>
          </a:xfrm>
          <a:prstGeom prst="rect">
            <a:avLst/>
          </a:prstGeom>
        </p:spPr>
        <p:txBody>
          <a:bodyPr spcFirstLastPara="1" wrap="square" lIns="91425" tIns="45700" rIns="91425" bIns="45700" anchor="t" anchorCtr="0">
            <a:noAutofit/>
          </a:bodyPr>
          <a:lstStyle>
            <a:lvl1pPr marL="823966" lvl="0" indent="-652306" rtl="0">
              <a:spcBef>
                <a:spcPts val="1352"/>
              </a:spcBef>
              <a:spcAft>
                <a:spcPts val="0"/>
              </a:spcAft>
              <a:buSzPts val="2100"/>
              <a:buChar char="•"/>
              <a:defRPr/>
            </a:lvl1pPr>
            <a:lvl2pPr marL="1647932" lvl="1" indent="-617974" rtl="0">
              <a:spcBef>
                <a:spcPts val="676"/>
              </a:spcBef>
              <a:spcAft>
                <a:spcPts val="0"/>
              </a:spcAft>
              <a:buSzPts val="1800"/>
              <a:buChar char="•"/>
              <a:defRPr/>
            </a:lvl2pPr>
            <a:lvl3pPr marL="2471898" lvl="2" indent="-583642" rtl="0">
              <a:spcBef>
                <a:spcPts val="676"/>
              </a:spcBef>
              <a:spcAft>
                <a:spcPts val="0"/>
              </a:spcAft>
              <a:buSzPts val="1500"/>
              <a:buChar char="•"/>
              <a:defRPr/>
            </a:lvl3pPr>
            <a:lvl4pPr marL="3295863" lvl="3" indent="-566477" rtl="0">
              <a:spcBef>
                <a:spcPts val="676"/>
              </a:spcBef>
              <a:spcAft>
                <a:spcPts val="0"/>
              </a:spcAft>
              <a:buSzPts val="1350"/>
              <a:buChar char="•"/>
              <a:defRPr/>
            </a:lvl4pPr>
            <a:lvl5pPr marL="4119829" lvl="4" indent="-566477" rtl="0">
              <a:spcBef>
                <a:spcPts val="676"/>
              </a:spcBef>
              <a:spcAft>
                <a:spcPts val="0"/>
              </a:spcAft>
              <a:buSzPts val="1350"/>
              <a:buChar char="•"/>
              <a:defRPr/>
            </a:lvl5pPr>
            <a:lvl6pPr marL="4943795" lvl="5" indent="-566477" rtl="0">
              <a:spcBef>
                <a:spcPts val="676"/>
              </a:spcBef>
              <a:spcAft>
                <a:spcPts val="0"/>
              </a:spcAft>
              <a:buSzPts val="1350"/>
              <a:buChar char="•"/>
              <a:defRPr/>
            </a:lvl6pPr>
            <a:lvl7pPr marL="5767761" lvl="6" indent="-566477" rtl="0">
              <a:spcBef>
                <a:spcPts val="676"/>
              </a:spcBef>
              <a:spcAft>
                <a:spcPts val="0"/>
              </a:spcAft>
              <a:buSzPts val="1350"/>
              <a:buChar char="•"/>
              <a:defRPr/>
            </a:lvl7pPr>
            <a:lvl8pPr marL="6591727" lvl="7" indent="-566477" rtl="0">
              <a:spcBef>
                <a:spcPts val="676"/>
              </a:spcBef>
              <a:spcAft>
                <a:spcPts val="0"/>
              </a:spcAft>
              <a:buSzPts val="1350"/>
              <a:buChar char="•"/>
              <a:defRPr/>
            </a:lvl8pPr>
            <a:lvl9pPr marL="7415693" lvl="8" indent="-566477" rtl="0">
              <a:spcBef>
                <a:spcPts val="676"/>
              </a:spcBef>
              <a:spcAft>
                <a:spcPts val="0"/>
              </a:spcAft>
              <a:buSzPts val="1350"/>
              <a:buChar char="•"/>
              <a:defRPr/>
            </a:lvl9pPr>
          </a:lstStyle>
          <a:p>
            <a:endParaRPr/>
          </a:p>
        </p:txBody>
      </p:sp>
      <p:sp>
        <p:nvSpPr>
          <p:cNvPr id="77" name="Google Shape;77;p13"/>
          <p:cNvSpPr txBox="1">
            <a:spLocks noGrp="1"/>
          </p:cNvSpPr>
          <p:nvPr>
            <p:ph type="sldNum" idx="12"/>
          </p:nvPr>
        </p:nvSpPr>
        <p:spPr>
          <a:xfrm>
            <a:off x="16956683" y="9337948"/>
            <a:ext cx="1098162" cy="788292"/>
          </a:xfrm>
          <a:prstGeom prst="rect">
            <a:avLst/>
          </a:prstGeom>
        </p:spPr>
        <p:txBody>
          <a:bodyPr spcFirstLastPara="1" wrap="square" lIns="91425" tIns="45700" rIns="91425" bIns="457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l"/>
            <a:fld id="{00000000-1234-1234-1234-123412341234}" type="slidenum">
              <a:rPr lang="en" smtClean="0"/>
              <a:pPr algn="l"/>
              <a:t>‹#›</a:t>
            </a:fld>
            <a:endParaRPr lang="en"/>
          </a:p>
        </p:txBody>
      </p:sp>
    </p:spTree>
    <p:extLst>
      <p:ext uri="{BB962C8B-B14F-4D97-AF65-F5344CB8AC3E}">
        <p14:creationId xmlns:p14="http://schemas.microsoft.com/office/powerpoint/2010/main" val="1911507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otally blank slide">
  <p:cSld name="Totally blank slide">
    <p:spTree>
      <p:nvGrpSpPr>
        <p:cNvPr id="1" name="Shape 72"/>
        <p:cNvGrpSpPr/>
        <p:nvPr/>
      </p:nvGrpSpPr>
      <p:grpSpPr>
        <a:xfrm>
          <a:off x="0" y="0"/>
          <a:ext cx="0" cy="0"/>
          <a:chOff x="0" y="0"/>
          <a:chExt cx="0" cy="0"/>
        </a:xfrm>
      </p:grpSpPr>
      <p:sp>
        <p:nvSpPr>
          <p:cNvPr id="73" name="Google Shape;73;p12"/>
          <p:cNvSpPr txBox="1">
            <a:spLocks noGrp="1"/>
          </p:cNvSpPr>
          <p:nvPr>
            <p:ph type="sldNum" idx="12"/>
          </p:nvPr>
        </p:nvSpPr>
        <p:spPr>
          <a:xfrm>
            <a:off x="17125452" y="9511430"/>
            <a:ext cx="1098162" cy="788292"/>
          </a:xfrm>
          <a:prstGeom prst="rect">
            <a:avLst/>
          </a:prstGeom>
        </p:spPr>
        <p:txBody>
          <a:bodyPr spcFirstLastPara="1" wrap="square" lIns="91425" tIns="45700" rIns="91425" bIns="45700" anchor="t" anchorCtr="0">
            <a:noAutofit/>
          </a:bodyPr>
          <a:lstStyle>
            <a:lvl1pPr lvl="0" algn="r">
              <a:buNone/>
              <a:defRPr sz="2343">
                <a:solidFill>
                  <a:schemeClr val="dk1"/>
                </a:solidFill>
              </a:defRPr>
            </a:lvl1pPr>
            <a:lvl2pPr lvl="1" algn="r">
              <a:buNone/>
              <a:defRPr sz="2343">
                <a:solidFill>
                  <a:schemeClr val="dk1"/>
                </a:solidFill>
              </a:defRPr>
            </a:lvl2pPr>
            <a:lvl3pPr lvl="2" algn="r">
              <a:buNone/>
              <a:defRPr sz="2343">
                <a:solidFill>
                  <a:schemeClr val="dk1"/>
                </a:solidFill>
              </a:defRPr>
            </a:lvl3pPr>
            <a:lvl4pPr lvl="3" algn="r">
              <a:buNone/>
              <a:defRPr sz="2343">
                <a:solidFill>
                  <a:schemeClr val="dk1"/>
                </a:solidFill>
              </a:defRPr>
            </a:lvl4pPr>
            <a:lvl5pPr lvl="4" algn="r">
              <a:buNone/>
              <a:defRPr sz="2343">
                <a:solidFill>
                  <a:schemeClr val="dk1"/>
                </a:solidFill>
              </a:defRPr>
            </a:lvl5pPr>
            <a:lvl6pPr lvl="5" algn="r">
              <a:buNone/>
              <a:defRPr sz="2343">
                <a:solidFill>
                  <a:schemeClr val="dk1"/>
                </a:solidFill>
              </a:defRPr>
            </a:lvl6pPr>
            <a:lvl7pPr lvl="6" algn="r">
              <a:buNone/>
              <a:defRPr sz="2343">
                <a:solidFill>
                  <a:schemeClr val="dk1"/>
                </a:solidFill>
              </a:defRPr>
            </a:lvl7pPr>
            <a:lvl8pPr lvl="7" algn="r">
              <a:buNone/>
              <a:defRPr sz="2343">
                <a:solidFill>
                  <a:schemeClr val="dk1"/>
                </a:solidFill>
              </a:defRPr>
            </a:lvl8pPr>
            <a:lvl9pPr lvl="8" algn="r">
              <a:buNone/>
              <a:defRPr sz="2343">
                <a:solidFill>
                  <a:schemeClr val="dk1"/>
                </a:solidFill>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50680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49"/>
        <p:cNvGrpSpPr/>
        <p:nvPr/>
      </p:nvGrpSpPr>
      <p:grpSpPr>
        <a:xfrm>
          <a:off x="0" y="0"/>
          <a:ext cx="0" cy="0"/>
          <a:chOff x="0" y="0"/>
          <a:chExt cx="0" cy="0"/>
        </a:xfrm>
      </p:grpSpPr>
      <p:sp>
        <p:nvSpPr>
          <p:cNvPr id="50" name="Google Shape;50;p8"/>
          <p:cNvSpPr txBox="1">
            <a:spLocks noGrp="1"/>
          </p:cNvSpPr>
          <p:nvPr>
            <p:ph type="dt" idx="10"/>
          </p:nvPr>
        </p:nvSpPr>
        <p:spPr>
          <a:xfrm>
            <a:off x="1258173" y="9546297"/>
            <a:ext cx="4117658" cy="54823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5375831" y="9546297"/>
            <a:ext cx="711494" cy="5482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rtl="0"/>
            <a:fld id="{00000000-1234-1234-1234-123412341234}" type="slidenum">
              <a:rPr lang="en" smtClean="0"/>
              <a:pPr rtl="0"/>
              <a:t>‹#›</a:t>
            </a:fld>
            <a:endParaRPr lang="en"/>
          </a:p>
        </p:txBody>
      </p:sp>
      <p:pic>
        <p:nvPicPr>
          <p:cNvPr id="52" name="Google Shape;52;p8"/>
          <p:cNvPicPr preferRelativeResize="0"/>
          <p:nvPr/>
        </p:nvPicPr>
        <p:blipFill rotWithShape="1">
          <a:blip r:embed="rId2">
            <a:alphaModFix/>
          </a:blip>
          <a:srcRect/>
          <a:stretch/>
        </p:blipFill>
        <p:spPr>
          <a:xfrm>
            <a:off x="15821939" y="0"/>
            <a:ext cx="2230886" cy="1403419"/>
          </a:xfrm>
          <a:prstGeom prst="rect">
            <a:avLst/>
          </a:prstGeom>
          <a:noFill/>
          <a:ln>
            <a:noFill/>
          </a:ln>
        </p:spPr>
      </p:pic>
    </p:spTree>
    <p:extLst>
      <p:ext uri="{BB962C8B-B14F-4D97-AF65-F5344CB8AC3E}">
        <p14:creationId xmlns:p14="http://schemas.microsoft.com/office/powerpoint/2010/main" val="425038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759532" y="2435168"/>
            <a:ext cx="7528991" cy="939800"/>
          </a:xfrm>
          <a:prstGeom prst="rect">
            <a:avLst/>
          </a:prstGeom>
        </p:spPr>
        <p:txBody>
          <a:bodyPr wrap="square" lIns="0" tIns="0" rIns="0" bIns="0">
            <a:spAutoFit/>
          </a:bodyPr>
          <a:lstStyle>
            <a:lvl1pPr>
              <a:defRPr sz="6000" b="0" i="0">
                <a:solidFill>
                  <a:schemeClr val="bg1"/>
                </a:solidFill>
                <a:latin typeface="Verdana"/>
                <a:cs typeface="Verdana"/>
              </a:defRPr>
            </a:lvl1pPr>
          </a:lstStyle>
          <a:p>
            <a:endParaRPr/>
          </a:p>
        </p:txBody>
      </p:sp>
      <p:sp>
        <p:nvSpPr>
          <p:cNvPr id="3" name="Holder 3"/>
          <p:cNvSpPr>
            <a:spLocks noGrp="1"/>
          </p:cNvSpPr>
          <p:nvPr>
            <p:ph type="body" idx="1"/>
          </p:nvPr>
        </p:nvSpPr>
        <p:spPr>
          <a:xfrm>
            <a:off x="1625155" y="2906313"/>
            <a:ext cx="8514715" cy="2219960"/>
          </a:xfrm>
          <a:prstGeom prst="rect">
            <a:avLst/>
          </a:prstGeom>
        </p:spPr>
        <p:txBody>
          <a:bodyPr wrap="square" lIns="0" tIns="0" rIns="0" bIns="0">
            <a:spAutoFit/>
          </a:bodyPr>
          <a:lstStyle>
            <a:lvl1pPr>
              <a:defRPr sz="2400" b="0" i="0">
                <a:solidFill>
                  <a:schemeClr val="bg1"/>
                </a:solidFill>
                <a:latin typeface="Trebuchet MS"/>
                <a:cs typeface="Trebuchet MS"/>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5/31/2024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hyperlink" Target="https://arxiv.org/abs/1707.08945"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hyperlink" Target="http://playground.tensorflow.org/"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https://creativecommons.org/licenses/by/2.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hyperlink" Target="https://towardsdatascience.com/gradient-descent-algorithm-and-its-variants-10f652806a3" TargetMode="Externa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hyperlink" Target="https://creativecommons.org/licenses/by-sa/4.0" TargetMode="External"/><Relationship Id="rId4" Type="http://schemas.openxmlformats.org/officeDocument/2006/relationships/hyperlink" Target="http://www.gnu.org/copyleft/fdl.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6.jp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hyperlink" Target="https://lossfunctions.tumblr.com/"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ruder.io/optimizing-gradient-descent/"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s://imgur.com/s25RsOr" TargetMode="External"/><Relationship Id="rId4" Type="http://schemas.openxmlformats.org/officeDocument/2006/relationships/image" Target="../media/image21.gif"/></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keras.io/"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s://pytorch.org/" TargetMode="External"/><Relationship Id="rId4" Type="http://schemas.openxmlformats.org/officeDocument/2006/relationships/hyperlink" Target="https://www.tensorflow.org/guide/kera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7.jpg"/><Relationship Id="rId5" Type="http://schemas.openxmlformats.org/officeDocument/2006/relationships/hyperlink" Target="https://zenodo.org/record/2603256#.Y20xysvMLmE" TargetMode="External"/><Relationship Id="rId4" Type="http://schemas.openxmlformats.org/officeDocument/2006/relationships/hyperlink" Target="https://www.mathworks.com/products/deep-learning.html"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www.mathworks.com/help/matlab/ref/matlab.io.datastore.imagedatastore.html" TargetMode="External"/><Relationship Id="rId3" Type="http://schemas.openxmlformats.org/officeDocument/2006/relationships/hyperlink" Target="https://www.mathworks.com/matlabcentral/fileexchange/105635-deep-learning-for-real-time-top-quark-jet-tagging?s_tid=srchtitle" TargetMode="External"/><Relationship Id="rId7" Type="http://schemas.openxmlformats.org/officeDocument/2006/relationships/hyperlink" Target="https://www.mathworks.com/help/deeplearning/ref/deepnetworkdesigner-app.html" TargetMode="External"/><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hyperlink" Target="https://www.mathworks.com/help/matlab/tall-arrays.html" TargetMode="External"/><Relationship Id="rId5" Type="http://schemas.openxmlformats.org/officeDocument/2006/relationships/hyperlink" Target="https://www.mathworks.com/help/matlab/ref/matlab.io.datastore.parquetdatastore.html" TargetMode="External"/><Relationship Id="rId4" Type="http://schemas.openxmlformats.org/officeDocument/2006/relationships/hyperlink" Target="https://doi.org/10.5281/zenodo.2603256" TargetMode="External"/><Relationship Id="rId9" Type="http://schemas.openxmlformats.org/officeDocument/2006/relationships/image" Target="../media/image48.jpg"/></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0.png"/><Relationship Id="rId7" Type="http://schemas.openxmlformats.org/officeDocument/2006/relationships/hyperlink" Target="https://www.mathworks.com/help/matlab/ref/tall.tall.html" TargetMode="External"/><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hyperlink" Target="https://www.mathworks.com/help/matlab/ref/matlab.io.datastore.parquetdatastore.html" TargetMode="External"/><Relationship Id="rId5" Type="http://schemas.openxmlformats.org/officeDocument/2006/relationships/hyperlink" Target="https://www.mathworks.com/matlabcentral/fileexchange/105635-deep-learning-for-real-time-top-quark-jet-tagging?s_tid=srchtitle" TargetMode="External"/><Relationship Id="rId4" Type="http://schemas.openxmlformats.org/officeDocument/2006/relationships/hyperlink" Target="https://www.mathworks.com/help/deeplearning/examples.html?category=getting-started-with-deep-learning-toolbox&amp;exampleproduct=all&amp;s_tid=CRUX_lftnav"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 Id="rId4" Type="http://schemas.openxmlformats.org/officeDocument/2006/relationships/hyperlink" Target="https://www.linkedin.com/in/vaidik-sharma-2aba80186/"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sp>
        <p:nvSpPr>
          <p:cNvPr id="3" name="object 3"/>
          <p:cNvSpPr/>
          <p:nvPr/>
        </p:nvSpPr>
        <p:spPr>
          <a:xfrm>
            <a:off x="466559" y="506152"/>
            <a:ext cx="17355185" cy="9275445"/>
          </a:xfrm>
          <a:custGeom>
            <a:avLst/>
            <a:gdLst/>
            <a:ahLst/>
            <a:cxnLst/>
            <a:rect l="l" t="t" r="r" b="b"/>
            <a:pathLst>
              <a:path w="17355185" h="9275445">
                <a:moveTo>
                  <a:pt x="8677427" y="9275008"/>
                </a:moveTo>
                <a:lnTo>
                  <a:pt x="0" y="9275008"/>
                </a:lnTo>
                <a:lnTo>
                  <a:pt x="0" y="0"/>
                </a:lnTo>
                <a:lnTo>
                  <a:pt x="17354842" y="0"/>
                </a:lnTo>
                <a:lnTo>
                  <a:pt x="17354842" y="9275008"/>
                </a:lnTo>
                <a:lnTo>
                  <a:pt x="8677427" y="9275008"/>
                </a:lnTo>
                <a:close/>
              </a:path>
            </a:pathLst>
          </a:custGeom>
          <a:ln w="18719">
            <a:solidFill>
              <a:srgbClr val="FFFFFF"/>
            </a:solidFill>
          </a:ln>
        </p:spPr>
        <p:txBody>
          <a:bodyPr wrap="square" lIns="0" tIns="0" rIns="0" bIns="0" rtlCol="0"/>
          <a:lstStyle/>
          <a:p>
            <a:endParaRPr/>
          </a:p>
        </p:txBody>
      </p:sp>
      <p:sp>
        <p:nvSpPr>
          <p:cNvPr id="4" name="object 4"/>
          <p:cNvSpPr txBox="1"/>
          <p:nvPr/>
        </p:nvSpPr>
        <p:spPr>
          <a:xfrm>
            <a:off x="4764632" y="3356051"/>
            <a:ext cx="8759190" cy="2395528"/>
          </a:xfrm>
          <a:prstGeom prst="rect">
            <a:avLst/>
          </a:prstGeom>
        </p:spPr>
        <p:txBody>
          <a:bodyPr vert="horz" wrap="square" lIns="0" tIns="187325" rIns="0" bIns="0" rtlCol="0">
            <a:spAutoFit/>
          </a:bodyPr>
          <a:lstStyle/>
          <a:p>
            <a:pPr marL="12065" marR="5080" indent="-635" algn="ctr">
              <a:lnSpc>
                <a:spcPct val="80900"/>
              </a:lnSpc>
              <a:spcBef>
                <a:spcPts val="1475"/>
              </a:spcBef>
            </a:pPr>
            <a:r>
              <a:rPr sz="5900" spc="-195" dirty="0">
                <a:solidFill>
                  <a:srgbClr val="FFFFFF"/>
                </a:solidFill>
                <a:latin typeface="Verdana"/>
                <a:cs typeface="Verdana"/>
              </a:rPr>
              <a:t>Enhancing</a:t>
            </a:r>
            <a:r>
              <a:rPr sz="5900" spc="-370" dirty="0">
                <a:solidFill>
                  <a:srgbClr val="FFFFFF"/>
                </a:solidFill>
                <a:latin typeface="Verdana"/>
                <a:cs typeface="Verdana"/>
              </a:rPr>
              <a:t> </a:t>
            </a:r>
            <a:r>
              <a:rPr sz="5900" spc="-165" dirty="0">
                <a:solidFill>
                  <a:srgbClr val="FFFFFF"/>
                </a:solidFill>
                <a:latin typeface="Verdana"/>
                <a:cs typeface="Verdana"/>
              </a:rPr>
              <a:t>Top</a:t>
            </a:r>
            <a:r>
              <a:rPr sz="5900" spc="-365" dirty="0">
                <a:solidFill>
                  <a:srgbClr val="FFFFFF"/>
                </a:solidFill>
                <a:latin typeface="Verdana"/>
                <a:cs typeface="Verdana"/>
              </a:rPr>
              <a:t> </a:t>
            </a:r>
            <a:r>
              <a:rPr sz="5900" spc="-280" dirty="0">
                <a:solidFill>
                  <a:srgbClr val="FFFFFF"/>
                </a:solidFill>
                <a:latin typeface="Verdana"/>
                <a:cs typeface="Verdana"/>
              </a:rPr>
              <a:t>Quark </a:t>
            </a:r>
            <a:r>
              <a:rPr sz="5900" spc="-150" dirty="0">
                <a:solidFill>
                  <a:srgbClr val="FFFFFF"/>
                </a:solidFill>
                <a:latin typeface="Verdana"/>
                <a:cs typeface="Verdana"/>
              </a:rPr>
              <a:t>Detection</a:t>
            </a:r>
            <a:r>
              <a:rPr sz="5900" spc="-345" dirty="0">
                <a:solidFill>
                  <a:srgbClr val="FFFFFF"/>
                </a:solidFill>
                <a:latin typeface="Verdana"/>
                <a:cs typeface="Verdana"/>
              </a:rPr>
              <a:t> </a:t>
            </a:r>
            <a:r>
              <a:rPr sz="5900" spc="-185" dirty="0">
                <a:solidFill>
                  <a:srgbClr val="FFFFFF"/>
                </a:solidFill>
                <a:latin typeface="Verdana"/>
                <a:cs typeface="Verdana"/>
              </a:rPr>
              <a:t>Through</a:t>
            </a:r>
            <a:r>
              <a:rPr sz="5900" spc="-345" dirty="0">
                <a:solidFill>
                  <a:srgbClr val="FFFFFF"/>
                </a:solidFill>
                <a:latin typeface="Verdana"/>
                <a:cs typeface="Verdana"/>
              </a:rPr>
              <a:t> </a:t>
            </a:r>
            <a:r>
              <a:rPr sz="5900" spc="-55" dirty="0">
                <a:solidFill>
                  <a:srgbClr val="FFFFFF"/>
                </a:solidFill>
                <a:latin typeface="Verdana"/>
                <a:cs typeface="Verdana"/>
              </a:rPr>
              <a:t>Deep </a:t>
            </a:r>
            <a:r>
              <a:rPr sz="5900" spc="-195" dirty="0">
                <a:solidFill>
                  <a:srgbClr val="FFFFFF"/>
                </a:solidFill>
                <a:latin typeface="Verdana"/>
                <a:cs typeface="Verdana"/>
              </a:rPr>
              <a:t>Learning</a:t>
            </a:r>
            <a:endParaRPr sz="5900" dirty="0">
              <a:latin typeface="Verdana"/>
              <a:cs typeface="Verdana"/>
            </a:endParaRPr>
          </a:p>
        </p:txBody>
      </p:sp>
      <p:grpSp>
        <p:nvGrpSpPr>
          <p:cNvPr id="5" name="object 5"/>
          <p:cNvGrpSpPr/>
          <p:nvPr/>
        </p:nvGrpSpPr>
        <p:grpSpPr>
          <a:xfrm>
            <a:off x="5015877" y="1772633"/>
            <a:ext cx="8256270" cy="6487795"/>
            <a:chOff x="5015877" y="1772633"/>
            <a:chExt cx="8256270" cy="6487795"/>
          </a:xfrm>
        </p:grpSpPr>
        <p:sp>
          <p:nvSpPr>
            <p:cNvPr id="6" name="object 6"/>
            <p:cNvSpPr/>
            <p:nvPr/>
          </p:nvSpPr>
          <p:spPr>
            <a:xfrm>
              <a:off x="5015865" y="8239772"/>
              <a:ext cx="8256270" cy="20320"/>
            </a:xfrm>
            <a:custGeom>
              <a:avLst/>
              <a:gdLst/>
              <a:ahLst/>
              <a:cxnLst/>
              <a:rect l="l" t="t" r="r" b="b"/>
              <a:pathLst>
                <a:path w="8256269" h="20320">
                  <a:moveTo>
                    <a:pt x="8256257" y="1435"/>
                  </a:moveTo>
                  <a:lnTo>
                    <a:pt x="0" y="0"/>
                  </a:lnTo>
                  <a:lnTo>
                    <a:pt x="0" y="18719"/>
                  </a:lnTo>
                  <a:lnTo>
                    <a:pt x="8256257" y="20154"/>
                  </a:lnTo>
                  <a:lnTo>
                    <a:pt x="8256257" y="1435"/>
                  </a:lnTo>
                  <a:close/>
                </a:path>
              </a:pathLst>
            </a:custGeom>
            <a:solidFill>
              <a:srgbClr val="FFFFFF"/>
            </a:solidFill>
          </p:spPr>
          <p:txBody>
            <a:bodyPr wrap="square" lIns="0" tIns="0" rIns="0" bIns="0" rtlCol="0"/>
            <a:lstStyle/>
            <a:p>
              <a:endParaRPr/>
            </a:p>
          </p:txBody>
        </p:sp>
        <p:sp>
          <p:nvSpPr>
            <p:cNvPr id="7" name="object 7"/>
            <p:cNvSpPr/>
            <p:nvPr/>
          </p:nvSpPr>
          <p:spPr>
            <a:xfrm>
              <a:off x="8169820" y="1781992"/>
              <a:ext cx="1948180" cy="454025"/>
            </a:xfrm>
            <a:custGeom>
              <a:avLst/>
              <a:gdLst/>
              <a:ahLst/>
              <a:cxnLst/>
              <a:rect l="l" t="t" r="r" b="b"/>
              <a:pathLst>
                <a:path w="1948179" h="454025">
                  <a:moveTo>
                    <a:pt x="226791" y="453525"/>
                  </a:moveTo>
                  <a:lnTo>
                    <a:pt x="0" y="453525"/>
                  </a:lnTo>
                  <a:lnTo>
                    <a:pt x="0" y="0"/>
                  </a:lnTo>
                  <a:lnTo>
                    <a:pt x="453595" y="0"/>
                  </a:lnTo>
                  <a:lnTo>
                    <a:pt x="453595" y="453525"/>
                  </a:lnTo>
                  <a:lnTo>
                    <a:pt x="226791" y="453525"/>
                  </a:lnTo>
                  <a:close/>
                </a:path>
                <a:path w="1948179" h="454025">
                  <a:moveTo>
                    <a:pt x="974152" y="453525"/>
                  </a:moveTo>
                  <a:lnTo>
                    <a:pt x="747360" y="453525"/>
                  </a:lnTo>
                  <a:lnTo>
                    <a:pt x="747360" y="0"/>
                  </a:lnTo>
                  <a:lnTo>
                    <a:pt x="1200956" y="0"/>
                  </a:lnTo>
                  <a:lnTo>
                    <a:pt x="1200956" y="453525"/>
                  </a:lnTo>
                  <a:lnTo>
                    <a:pt x="974152" y="453525"/>
                  </a:lnTo>
                  <a:close/>
                </a:path>
                <a:path w="1948179" h="454025">
                  <a:moveTo>
                    <a:pt x="1720788" y="453525"/>
                  </a:moveTo>
                  <a:lnTo>
                    <a:pt x="1493997" y="453525"/>
                  </a:lnTo>
                  <a:lnTo>
                    <a:pt x="1493997" y="0"/>
                  </a:lnTo>
                  <a:lnTo>
                    <a:pt x="1947593" y="0"/>
                  </a:lnTo>
                  <a:lnTo>
                    <a:pt x="1947593" y="453525"/>
                  </a:lnTo>
                  <a:lnTo>
                    <a:pt x="1720788" y="453525"/>
                  </a:lnTo>
                  <a:close/>
                </a:path>
              </a:pathLst>
            </a:custGeom>
            <a:ln w="18718">
              <a:solidFill>
                <a:srgbClr val="FFFFFF"/>
              </a:solidFill>
            </a:ln>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txBox="1">
            <a:spLocks noGrp="1"/>
          </p:cNvSpPr>
          <p:nvPr>
            <p:ph type="title"/>
          </p:nvPr>
        </p:nvSpPr>
        <p:spPr>
          <a:xfrm>
            <a:off x="2034975" y="2608306"/>
            <a:ext cx="14213586" cy="4284243"/>
          </a:xfrm>
          <a:prstGeom prst="rect">
            <a:avLst/>
          </a:prstGeom>
        </p:spPr>
        <p:txBody>
          <a:bodyPr spcFirstLastPara="1" wrap="square" lIns="164768" tIns="82362" rIns="164768" bIns="82362" anchor="b" anchorCtr="0">
            <a:noAutofit/>
          </a:bodyPr>
          <a:lstStyle/>
          <a:p>
            <a:pPr rtl="0"/>
            <a:r>
              <a:rPr lang="en"/>
              <a:t>Fundamentals of machine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3"/>
          <p:cNvSpPr txBox="1">
            <a:spLocks noGrp="1"/>
          </p:cNvSpPr>
          <p:nvPr>
            <p:ph type="title"/>
          </p:nvPr>
        </p:nvSpPr>
        <p:spPr>
          <a:xfrm>
            <a:off x="1472343" y="891148"/>
            <a:ext cx="15356015" cy="1146754"/>
          </a:xfrm>
          <a:prstGeom prst="rect">
            <a:avLst/>
          </a:prstGeom>
        </p:spPr>
        <p:txBody>
          <a:bodyPr spcFirstLastPara="1" wrap="square" lIns="164768" tIns="82362" rIns="164768" bIns="82362" anchor="ctr" anchorCtr="0">
            <a:noAutofit/>
          </a:bodyPr>
          <a:lstStyle/>
          <a:p>
            <a:pPr algn="l"/>
            <a:r>
              <a:rPr lang="en" dirty="0">
                <a:solidFill>
                  <a:schemeClr val="tx1"/>
                </a:solidFill>
              </a:rPr>
              <a:t>Data</a:t>
            </a:r>
            <a:endParaRPr dirty="0">
              <a:solidFill>
                <a:schemeClr val="tx1"/>
              </a:solidFill>
            </a:endParaRPr>
          </a:p>
        </p:txBody>
      </p:sp>
      <p:sp>
        <p:nvSpPr>
          <p:cNvPr id="233" name="Google Shape;233;p33"/>
          <p:cNvSpPr txBox="1">
            <a:spLocks noGrp="1"/>
          </p:cNvSpPr>
          <p:nvPr>
            <p:ph type="body" idx="1"/>
          </p:nvPr>
        </p:nvSpPr>
        <p:spPr>
          <a:xfrm>
            <a:off x="1472343" y="2307796"/>
            <a:ext cx="9398409" cy="6034381"/>
          </a:xfrm>
          <a:prstGeom prst="rect">
            <a:avLst/>
          </a:prstGeom>
        </p:spPr>
        <p:txBody>
          <a:bodyPr spcFirstLastPara="1" wrap="square" lIns="164768" tIns="82362" rIns="164768" bIns="82362" anchor="t" anchorCtr="0">
            <a:noAutofit/>
          </a:bodyPr>
          <a:lstStyle/>
          <a:p>
            <a:pPr indent="-686638" algn="l">
              <a:buSzPts val="2400"/>
            </a:pPr>
            <a:r>
              <a:rPr lang="en" sz="4325" dirty="0">
                <a:solidFill>
                  <a:schemeClr val="tx1"/>
                </a:solidFill>
              </a:rPr>
              <a:t>Humans learn by observation and unsupervised learning</a:t>
            </a:r>
            <a:endParaRPr sz="4325" dirty="0">
              <a:solidFill>
                <a:schemeClr val="tx1"/>
              </a:solidFill>
            </a:endParaRPr>
          </a:p>
          <a:p>
            <a:pPr lvl="1" indent="-686638" algn="l">
              <a:buSzPts val="2400"/>
            </a:pPr>
            <a:r>
              <a:rPr lang="en" sz="4325" dirty="0">
                <a:solidFill>
                  <a:schemeClr val="tx1"/>
                </a:solidFill>
              </a:rPr>
              <a:t>model of the world /</a:t>
            </a:r>
            <a:br>
              <a:rPr lang="en" sz="4325" dirty="0">
                <a:solidFill>
                  <a:schemeClr val="tx1"/>
                </a:solidFill>
              </a:rPr>
            </a:br>
            <a:r>
              <a:rPr lang="en" sz="4325" dirty="0">
                <a:solidFill>
                  <a:schemeClr val="tx1"/>
                </a:solidFill>
              </a:rPr>
              <a:t>common sense reasoning</a:t>
            </a:r>
            <a:endParaRPr sz="4325" dirty="0">
              <a:solidFill>
                <a:schemeClr val="tx1"/>
              </a:solidFill>
            </a:endParaRPr>
          </a:p>
          <a:p>
            <a:pPr indent="-686638" algn="l">
              <a:spcBef>
                <a:spcPts val="1802"/>
              </a:spcBef>
              <a:buSzPts val="2400"/>
            </a:pPr>
            <a:r>
              <a:rPr lang="en" sz="4325" dirty="0">
                <a:solidFill>
                  <a:schemeClr val="tx1"/>
                </a:solidFill>
              </a:rPr>
              <a:t>Machine learning needs lots of (labeled) data to compensate</a:t>
            </a:r>
            <a:endParaRPr sz="4325" dirty="0">
              <a:solidFill>
                <a:schemeClr val="tx1"/>
              </a:solidFill>
            </a:endParaRPr>
          </a:p>
        </p:txBody>
      </p:sp>
      <p:pic>
        <p:nvPicPr>
          <p:cNvPr id="234" name="Google Shape;234;p33"/>
          <p:cNvPicPr preferRelativeResize="0"/>
          <p:nvPr/>
        </p:nvPicPr>
        <p:blipFill>
          <a:blip r:embed="rId3">
            <a:alphaModFix/>
          </a:blip>
          <a:stretch>
            <a:fillRect/>
          </a:stretch>
        </p:blipFill>
        <p:spPr>
          <a:xfrm>
            <a:off x="10870751" y="6692283"/>
            <a:ext cx="6071777" cy="3456617"/>
          </a:xfrm>
          <a:prstGeom prst="rect">
            <a:avLst/>
          </a:prstGeom>
          <a:noFill/>
          <a:ln>
            <a:noFill/>
          </a:ln>
        </p:spPr>
      </p:pic>
      <p:pic>
        <p:nvPicPr>
          <p:cNvPr id="235" name="Google Shape;235;p33"/>
          <p:cNvPicPr preferRelativeResize="0"/>
          <p:nvPr/>
        </p:nvPicPr>
        <p:blipFill>
          <a:blip r:embed="rId4">
            <a:alphaModFix/>
          </a:blip>
          <a:stretch>
            <a:fillRect/>
          </a:stretch>
        </p:blipFill>
        <p:spPr>
          <a:xfrm>
            <a:off x="10897723" y="2537169"/>
            <a:ext cx="6044805" cy="395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34"/>
          <p:cNvPicPr preferRelativeResize="0"/>
          <p:nvPr/>
        </p:nvPicPr>
        <p:blipFill>
          <a:blip r:embed="rId3">
            <a:alphaModFix/>
          </a:blip>
          <a:stretch>
            <a:fillRect/>
          </a:stretch>
        </p:blipFill>
        <p:spPr>
          <a:xfrm>
            <a:off x="11086727" y="1819370"/>
            <a:ext cx="5956660" cy="4549034"/>
          </a:xfrm>
          <a:prstGeom prst="rect">
            <a:avLst/>
          </a:prstGeom>
          <a:noFill/>
          <a:ln>
            <a:noFill/>
          </a:ln>
        </p:spPr>
      </p:pic>
      <p:sp>
        <p:nvSpPr>
          <p:cNvPr id="241" name="Google Shape;241;p34"/>
          <p:cNvSpPr txBox="1">
            <a:spLocks noGrp="1"/>
          </p:cNvSpPr>
          <p:nvPr>
            <p:ph type="body" idx="4294967295"/>
          </p:nvPr>
        </p:nvSpPr>
        <p:spPr>
          <a:xfrm>
            <a:off x="816806" y="1909308"/>
            <a:ext cx="12794336" cy="7523917"/>
          </a:xfrm>
          <a:prstGeom prst="rect">
            <a:avLst/>
          </a:prstGeom>
        </p:spPr>
        <p:txBody>
          <a:bodyPr spcFirstLastPara="1" wrap="square" lIns="164768" tIns="82362" rIns="164768" bIns="82362" anchor="t" anchorCtr="0">
            <a:noAutofit/>
          </a:bodyPr>
          <a:lstStyle/>
          <a:p>
            <a:pPr marL="823966" indent="-686638" algn="l" rtl="0">
              <a:spcBef>
                <a:spcPts val="1352"/>
              </a:spcBef>
              <a:buSzPts val="2400"/>
              <a:buChar char="•"/>
            </a:pPr>
            <a:r>
              <a:rPr lang="en" sz="4325" dirty="0">
                <a:solidFill>
                  <a:schemeClr val="tx1"/>
                </a:solidFill>
              </a:rPr>
              <a:t>Tensors: generalization of matrices</a:t>
            </a:r>
            <a:br>
              <a:rPr lang="en" sz="4325" dirty="0">
                <a:solidFill>
                  <a:schemeClr val="tx1"/>
                </a:solidFill>
              </a:rPr>
            </a:br>
            <a:r>
              <a:rPr lang="en" sz="4325" dirty="0">
                <a:solidFill>
                  <a:schemeClr val="tx1"/>
                </a:solidFill>
              </a:rPr>
              <a:t>to </a:t>
            </a:r>
            <a:r>
              <a:rPr lang="en" sz="4325" i="1" dirty="0">
                <a:solidFill>
                  <a:schemeClr val="tx1"/>
                </a:solidFill>
              </a:rPr>
              <a:t>n</a:t>
            </a:r>
            <a:r>
              <a:rPr lang="en" sz="4325" dirty="0">
                <a:solidFill>
                  <a:schemeClr val="tx1"/>
                </a:solidFill>
              </a:rPr>
              <a:t> dimensions (or rank, order, degree)</a:t>
            </a:r>
            <a:endParaRPr sz="4325" dirty="0">
              <a:solidFill>
                <a:schemeClr val="tx1"/>
              </a:solidFill>
            </a:endParaRPr>
          </a:p>
          <a:p>
            <a:pPr marL="1647932" lvl="1" indent="-686638" algn="l" rtl="0">
              <a:buSzPts val="2400"/>
              <a:buChar char="•"/>
            </a:pPr>
            <a:r>
              <a:rPr lang="en" sz="4325" dirty="0">
                <a:solidFill>
                  <a:schemeClr val="tx1"/>
                </a:solidFill>
              </a:rPr>
              <a:t>1D tensor: vector</a:t>
            </a:r>
            <a:endParaRPr sz="4325" dirty="0">
              <a:solidFill>
                <a:schemeClr val="tx1"/>
              </a:solidFill>
            </a:endParaRPr>
          </a:p>
          <a:p>
            <a:pPr marL="1647932" lvl="1" indent="-686638" algn="l" rtl="0">
              <a:buSzPts val="2400"/>
              <a:buChar char="•"/>
            </a:pPr>
            <a:r>
              <a:rPr lang="en" sz="4325" dirty="0">
                <a:solidFill>
                  <a:schemeClr val="tx1"/>
                </a:solidFill>
              </a:rPr>
              <a:t>2D tensor: matrix</a:t>
            </a:r>
            <a:endParaRPr sz="4325" dirty="0">
              <a:solidFill>
                <a:schemeClr val="tx1"/>
              </a:solidFill>
            </a:endParaRPr>
          </a:p>
          <a:p>
            <a:pPr marL="1647932" lvl="1" indent="-686638" algn="l" rtl="0">
              <a:spcBef>
                <a:spcPts val="676"/>
              </a:spcBef>
              <a:buSzPts val="2400"/>
              <a:buChar char="•"/>
            </a:pPr>
            <a:r>
              <a:rPr lang="en" sz="4325" dirty="0">
                <a:solidFill>
                  <a:schemeClr val="tx1"/>
                </a:solidFill>
              </a:rPr>
              <a:t>3D, 4D, 5D tensors</a:t>
            </a:r>
            <a:endParaRPr sz="4325" dirty="0">
              <a:solidFill>
                <a:schemeClr val="tx1"/>
              </a:solidFill>
            </a:endParaRPr>
          </a:p>
          <a:p>
            <a:pPr marL="1647932" lvl="1" indent="-663750" algn="l" rtl="0">
              <a:spcBef>
                <a:spcPts val="1802"/>
              </a:spcBef>
              <a:buSzPts val="2200"/>
              <a:buChar char="•"/>
            </a:pPr>
            <a:r>
              <a:rPr lang="en" sz="3965" dirty="0">
                <a:solidFill>
                  <a:schemeClr val="tx1"/>
                </a:solidFill>
                <a:highlight>
                  <a:srgbClr val="FFFAFA"/>
                </a:highlight>
                <a:latin typeface="Consolas"/>
                <a:ea typeface="Consolas"/>
                <a:cs typeface="Consolas"/>
                <a:sym typeface="Consolas"/>
              </a:rPr>
              <a:t>numpy.ndarray(shape, dtype)</a:t>
            </a:r>
            <a:endParaRPr sz="4325" dirty="0">
              <a:solidFill>
                <a:schemeClr val="tx1"/>
              </a:solidFill>
            </a:endParaRPr>
          </a:p>
          <a:p>
            <a:pPr marL="823966" indent="-686638" algn="l" rtl="0">
              <a:spcBef>
                <a:spcPts val="1352"/>
              </a:spcBef>
              <a:buSzPts val="2400"/>
              <a:buChar char="•"/>
            </a:pPr>
            <a:r>
              <a:rPr lang="en" sz="4325" dirty="0">
                <a:solidFill>
                  <a:schemeClr val="tx1"/>
                </a:solidFill>
              </a:rPr>
              <a:t>Training – validation – test split (+ adversarial test)</a:t>
            </a:r>
            <a:endParaRPr sz="4325" dirty="0">
              <a:solidFill>
                <a:schemeClr val="tx1"/>
              </a:solidFill>
            </a:endParaRPr>
          </a:p>
          <a:p>
            <a:pPr marL="823966" indent="-686638" algn="l" rtl="0">
              <a:spcBef>
                <a:spcPts val="1802"/>
              </a:spcBef>
              <a:buSzPts val="2400"/>
              <a:buChar char="•"/>
            </a:pPr>
            <a:r>
              <a:rPr lang="en" sz="4325" dirty="0">
                <a:solidFill>
                  <a:schemeClr val="tx1"/>
                </a:solidFill>
              </a:rPr>
              <a:t>Minibatches</a:t>
            </a:r>
            <a:endParaRPr sz="4325" dirty="0">
              <a:solidFill>
                <a:schemeClr val="tx1"/>
              </a:solidFill>
            </a:endParaRPr>
          </a:p>
          <a:p>
            <a:pPr marL="1647932" lvl="1" indent="-686638" algn="l" rtl="0">
              <a:spcBef>
                <a:spcPts val="676"/>
              </a:spcBef>
              <a:buSzPts val="2400"/>
              <a:buChar char="•"/>
            </a:pPr>
            <a:r>
              <a:rPr lang="en" sz="4325" dirty="0">
                <a:solidFill>
                  <a:schemeClr val="tx1"/>
                </a:solidFill>
              </a:rPr>
              <a:t>small sets of input data used at a time</a:t>
            </a:r>
            <a:endParaRPr sz="4325" dirty="0">
              <a:solidFill>
                <a:schemeClr val="tx1"/>
              </a:solidFill>
            </a:endParaRPr>
          </a:p>
          <a:p>
            <a:pPr marL="1647932" lvl="1" indent="-686638" algn="l" rtl="0">
              <a:spcAft>
                <a:spcPts val="1802"/>
              </a:spcAft>
              <a:buSzPts val="2400"/>
              <a:buChar char="•"/>
            </a:pPr>
            <a:r>
              <a:rPr lang="en" sz="4325" dirty="0">
                <a:solidFill>
                  <a:schemeClr val="tx1"/>
                </a:solidFill>
              </a:rPr>
              <a:t>usually processed independently</a:t>
            </a:r>
            <a:endParaRPr sz="4325" dirty="0">
              <a:solidFill>
                <a:schemeClr val="tx1"/>
              </a:solidFill>
            </a:endParaRPr>
          </a:p>
        </p:txBody>
      </p:sp>
      <p:sp>
        <p:nvSpPr>
          <p:cNvPr id="242" name="Google Shape;242;p34"/>
          <p:cNvSpPr txBox="1">
            <a:spLocks noGrp="1"/>
          </p:cNvSpPr>
          <p:nvPr>
            <p:ph type="title" idx="4294967295"/>
          </p:nvPr>
        </p:nvSpPr>
        <p:spPr>
          <a:xfrm>
            <a:off x="1472343" y="891148"/>
            <a:ext cx="15356015" cy="1146754"/>
          </a:xfrm>
          <a:prstGeom prst="rect">
            <a:avLst/>
          </a:prstGeom>
        </p:spPr>
        <p:txBody>
          <a:bodyPr spcFirstLastPara="1" wrap="square" lIns="164768" tIns="82362" rIns="164768" bIns="82362" anchor="ctr" anchorCtr="0">
            <a:noAutofit/>
          </a:bodyPr>
          <a:lstStyle/>
          <a:p>
            <a:pPr algn="l" rtl="0"/>
            <a:r>
              <a:rPr lang="en">
                <a:solidFill>
                  <a:schemeClr val="tx1"/>
                </a:solidFill>
              </a:rPr>
              <a:t>Data</a:t>
            </a:r>
            <a:endParaRPr>
              <a:solidFill>
                <a:schemeClr val="tx1"/>
              </a:solidFill>
            </a:endParaRPr>
          </a:p>
        </p:txBody>
      </p:sp>
      <p:pic>
        <p:nvPicPr>
          <p:cNvPr id="243" name="Google Shape;243;p34"/>
          <p:cNvPicPr preferRelativeResize="0"/>
          <p:nvPr/>
        </p:nvPicPr>
        <p:blipFill>
          <a:blip r:embed="rId4">
            <a:alphaModFix/>
          </a:blip>
          <a:stretch>
            <a:fillRect/>
          </a:stretch>
        </p:blipFill>
        <p:spPr>
          <a:xfrm>
            <a:off x="14266679" y="6754350"/>
            <a:ext cx="2574114" cy="2678875"/>
          </a:xfrm>
          <a:prstGeom prst="rect">
            <a:avLst/>
          </a:prstGeom>
          <a:noFill/>
          <a:ln>
            <a:noFill/>
          </a:ln>
        </p:spPr>
      </p:pic>
      <p:sp>
        <p:nvSpPr>
          <p:cNvPr id="244" name="Google Shape;244;p34"/>
          <p:cNvSpPr txBox="1"/>
          <p:nvPr/>
        </p:nvSpPr>
        <p:spPr>
          <a:xfrm>
            <a:off x="12448417" y="9415395"/>
            <a:ext cx="4941693" cy="468217"/>
          </a:xfrm>
          <a:prstGeom prst="rect">
            <a:avLst/>
          </a:prstGeom>
          <a:noFill/>
          <a:ln>
            <a:noFill/>
          </a:ln>
        </p:spPr>
        <p:txBody>
          <a:bodyPr spcFirstLastPara="1" wrap="square" lIns="164768" tIns="164768" rIns="164768" bIns="164768" anchor="t" anchorCtr="0">
            <a:noAutofit/>
          </a:bodyPr>
          <a:lstStyle/>
          <a:p>
            <a:pPr algn="l" rtl="0"/>
            <a:r>
              <a:rPr lang="en" sz="1802">
                <a:latin typeface="Corbel"/>
                <a:ea typeface="Corbel"/>
                <a:cs typeface="Corbel"/>
                <a:sym typeface="Corbel"/>
              </a:rPr>
              <a:t>Image from: </a:t>
            </a:r>
            <a:r>
              <a:rPr lang="en" sz="1802" u="sng">
                <a:solidFill>
                  <a:schemeClr val="hlink"/>
                </a:solidFill>
                <a:hlinkClick r:id="rId5"/>
              </a:rPr>
              <a:t>https://arxiv.org/abs/1707.08945</a:t>
            </a:r>
            <a:endParaRPr sz="1802">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35" descr="Screen Shot 2016-10-04 at 16.09.40.png"/>
          <p:cNvPicPr preferRelativeResize="0"/>
          <p:nvPr/>
        </p:nvPicPr>
        <p:blipFill>
          <a:blip r:embed="rId3">
            <a:alphaModFix/>
          </a:blip>
          <a:stretch>
            <a:fillRect/>
          </a:stretch>
        </p:blipFill>
        <p:spPr>
          <a:xfrm>
            <a:off x="1379123" y="2672798"/>
            <a:ext cx="4880890" cy="4843607"/>
          </a:xfrm>
          <a:prstGeom prst="rect">
            <a:avLst/>
          </a:prstGeom>
          <a:noFill/>
          <a:ln w="28575" cap="flat" cmpd="sng">
            <a:solidFill>
              <a:schemeClr val="dk2"/>
            </a:solidFill>
            <a:prstDash val="solid"/>
            <a:round/>
            <a:headEnd type="none" w="sm" len="sm"/>
            <a:tailEnd type="none" w="sm" len="sm"/>
          </a:ln>
        </p:spPr>
      </p:pic>
      <p:pic>
        <p:nvPicPr>
          <p:cNvPr id="250" name="Google Shape;250;p35" descr="Screen Shot 2016-10-04 at 16.12.17.png"/>
          <p:cNvPicPr preferRelativeResize="0"/>
          <p:nvPr/>
        </p:nvPicPr>
        <p:blipFill>
          <a:blip r:embed="rId4">
            <a:alphaModFix/>
          </a:blip>
          <a:stretch>
            <a:fillRect/>
          </a:stretch>
        </p:blipFill>
        <p:spPr>
          <a:xfrm>
            <a:off x="6665719" y="2682312"/>
            <a:ext cx="4825045" cy="4843602"/>
          </a:xfrm>
          <a:prstGeom prst="rect">
            <a:avLst/>
          </a:prstGeom>
          <a:noFill/>
          <a:ln w="28575" cap="flat" cmpd="sng">
            <a:solidFill>
              <a:schemeClr val="dk2"/>
            </a:solidFill>
            <a:prstDash val="solid"/>
            <a:round/>
            <a:headEnd type="none" w="sm" len="sm"/>
            <a:tailEnd type="none" w="sm" len="sm"/>
          </a:ln>
        </p:spPr>
      </p:pic>
      <p:pic>
        <p:nvPicPr>
          <p:cNvPr id="251" name="Google Shape;251;p35" descr="Screen Shot 2016-10-04 at 16.13.12.png"/>
          <p:cNvPicPr preferRelativeResize="0"/>
          <p:nvPr/>
        </p:nvPicPr>
        <p:blipFill>
          <a:blip r:embed="rId5">
            <a:alphaModFix/>
          </a:blip>
          <a:stretch>
            <a:fillRect/>
          </a:stretch>
        </p:blipFill>
        <p:spPr>
          <a:xfrm>
            <a:off x="11896486" y="2682227"/>
            <a:ext cx="4880868" cy="4843768"/>
          </a:xfrm>
          <a:prstGeom prst="rect">
            <a:avLst/>
          </a:prstGeom>
          <a:noFill/>
          <a:ln w="28575" cap="flat" cmpd="sng">
            <a:solidFill>
              <a:schemeClr val="dk2"/>
            </a:solidFill>
            <a:prstDash val="solid"/>
            <a:round/>
            <a:headEnd type="none" w="sm" len="sm"/>
            <a:tailEnd type="none" w="sm" len="sm"/>
          </a:ln>
        </p:spPr>
      </p:pic>
      <p:sp>
        <p:nvSpPr>
          <p:cNvPr id="252" name="Google Shape;252;p35"/>
          <p:cNvSpPr txBox="1">
            <a:spLocks noGrp="1"/>
          </p:cNvSpPr>
          <p:nvPr>
            <p:ph type="title" idx="4294967295"/>
          </p:nvPr>
        </p:nvSpPr>
        <p:spPr>
          <a:xfrm>
            <a:off x="1472343" y="891148"/>
            <a:ext cx="15356015" cy="1146754"/>
          </a:xfrm>
          <a:prstGeom prst="rect">
            <a:avLst/>
          </a:prstGeom>
        </p:spPr>
        <p:txBody>
          <a:bodyPr spcFirstLastPara="1" wrap="square" lIns="164768" tIns="82362" rIns="164768" bIns="82362" anchor="ctr" anchorCtr="0">
            <a:noAutofit/>
          </a:bodyPr>
          <a:lstStyle/>
          <a:p>
            <a:pPr algn="l" rtl="0"/>
            <a:r>
              <a:rPr lang="en">
                <a:solidFill>
                  <a:srgbClr val="000000"/>
                </a:solidFill>
              </a:rPr>
              <a:t>Model – learning/training – inference</a:t>
            </a:r>
            <a:endParaRPr>
              <a:solidFill>
                <a:srgbClr val="000000"/>
              </a:solidFill>
            </a:endParaRPr>
          </a:p>
        </p:txBody>
      </p:sp>
      <p:sp>
        <p:nvSpPr>
          <p:cNvPr id="253" name="Google Shape;253;p35"/>
          <p:cNvSpPr txBox="1">
            <a:spLocks noGrp="1"/>
          </p:cNvSpPr>
          <p:nvPr>
            <p:ph type="body" idx="4294967295"/>
          </p:nvPr>
        </p:nvSpPr>
        <p:spPr>
          <a:xfrm>
            <a:off x="1472343" y="8289251"/>
            <a:ext cx="11326967" cy="1370049"/>
          </a:xfrm>
          <a:prstGeom prst="rect">
            <a:avLst/>
          </a:prstGeom>
        </p:spPr>
        <p:txBody>
          <a:bodyPr spcFirstLastPara="1" wrap="square" lIns="164768" tIns="82362" rIns="164768" bIns="82362" anchor="t" anchorCtr="0">
            <a:noAutofit/>
          </a:bodyPr>
          <a:lstStyle/>
          <a:p>
            <a:pPr marL="823966" indent="-686638" algn="l" rtl="0">
              <a:spcBef>
                <a:spcPts val="1352"/>
              </a:spcBef>
              <a:buSzPts val="2400"/>
              <a:buChar char="•"/>
            </a:pPr>
            <a:endParaRPr sz="4325" dirty="0">
              <a:solidFill>
                <a:schemeClr val="tx1"/>
              </a:solidFill>
            </a:endParaRPr>
          </a:p>
          <a:p>
            <a:pPr marL="823966" indent="-686638" algn="l" rtl="0">
              <a:buSzPts val="2400"/>
              <a:buChar char="•"/>
            </a:pPr>
            <a:r>
              <a:rPr lang="en" sz="4325" dirty="0">
                <a:solidFill>
                  <a:schemeClr val="tx1"/>
                </a:solidFill>
              </a:rPr>
              <a:t>parameters 𝜃 and hyperparameters</a:t>
            </a:r>
            <a:endParaRPr sz="4325" dirty="0">
              <a:solidFill>
                <a:schemeClr val="tx1"/>
              </a:solidFill>
            </a:endParaRPr>
          </a:p>
        </p:txBody>
      </p:sp>
      <p:sp>
        <p:nvSpPr>
          <p:cNvPr id="254" name="Google Shape;254;p35"/>
          <p:cNvSpPr txBox="1"/>
          <p:nvPr/>
        </p:nvSpPr>
        <p:spPr>
          <a:xfrm>
            <a:off x="11478821" y="7463963"/>
            <a:ext cx="5662943" cy="771531"/>
          </a:xfrm>
          <a:prstGeom prst="rect">
            <a:avLst/>
          </a:prstGeom>
          <a:noFill/>
          <a:ln>
            <a:noFill/>
          </a:ln>
        </p:spPr>
        <p:txBody>
          <a:bodyPr spcFirstLastPara="1" wrap="square" lIns="164768" tIns="164768" rIns="164768" bIns="164768" anchor="t" anchorCtr="0">
            <a:noAutofit/>
          </a:bodyPr>
          <a:lstStyle/>
          <a:p>
            <a:pPr algn="l" rtl="0"/>
            <a:r>
              <a:rPr lang="en" u="sng">
                <a:solidFill>
                  <a:schemeClr val="hlink"/>
                </a:solidFill>
                <a:hlinkClick r:id="rId6"/>
              </a:rPr>
              <a:t>http://playground.tensorflow.org/</a:t>
            </a:r>
            <a:r>
              <a:rPr lang="en"/>
              <a:t> </a:t>
            </a:r>
            <a:endParaRPr/>
          </a:p>
        </p:txBody>
      </p:sp>
      <p:pic>
        <p:nvPicPr>
          <p:cNvPr id="255" name="Google Shape;255;p35"/>
          <p:cNvPicPr preferRelativeResize="0"/>
          <p:nvPr/>
        </p:nvPicPr>
        <p:blipFill>
          <a:blip r:embed="rId7">
            <a:alphaModFix/>
          </a:blip>
          <a:stretch>
            <a:fillRect/>
          </a:stretch>
        </p:blipFill>
        <p:spPr>
          <a:xfrm>
            <a:off x="2538673" y="8478780"/>
            <a:ext cx="3152126" cy="69421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6"/>
          <p:cNvSpPr txBox="1">
            <a:spLocks noGrp="1"/>
          </p:cNvSpPr>
          <p:nvPr>
            <p:ph type="title"/>
          </p:nvPr>
        </p:nvSpPr>
        <p:spPr>
          <a:xfrm>
            <a:off x="1472343" y="433384"/>
            <a:ext cx="15356015" cy="1146754"/>
          </a:xfrm>
          <a:prstGeom prst="rect">
            <a:avLst/>
          </a:prstGeom>
        </p:spPr>
        <p:txBody>
          <a:bodyPr spcFirstLastPara="1" wrap="square" lIns="164768" tIns="82362" rIns="164768" bIns="82362" anchor="ctr" anchorCtr="0">
            <a:noAutofit/>
          </a:bodyPr>
          <a:lstStyle/>
          <a:p>
            <a:pPr algn="l"/>
            <a:r>
              <a:rPr lang="en" dirty="0">
                <a:solidFill>
                  <a:schemeClr val="tx1"/>
                </a:solidFill>
              </a:rPr>
              <a:t>Optimization</a:t>
            </a:r>
            <a:endParaRPr dirty="0">
              <a:solidFill>
                <a:schemeClr val="tx1"/>
              </a:solidFill>
            </a:endParaRPr>
          </a:p>
        </p:txBody>
      </p:sp>
      <p:sp>
        <p:nvSpPr>
          <p:cNvPr id="261" name="Google Shape;261;p36"/>
          <p:cNvSpPr txBox="1">
            <a:spLocks noGrp="1"/>
          </p:cNvSpPr>
          <p:nvPr>
            <p:ph type="body" idx="1"/>
          </p:nvPr>
        </p:nvSpPr>
        <p:spPr>
          <a:xfrm>
            <a:off x="1472343" y="1697428"/>
            <a:ext cx="9550877" cy="4329118"/>
          </a:xfrm>
          <a:prstGeom prst="rect">
            <a:avLst/>
          </a:prstGeom>
        </p:spPr>
        <p:txBody>
          <a:bodyPr spcFirstLastPara="1" wrap="square" lIns="164768" tIns="82362" rIns="164768" bIns="82362" anchor="t" anchorCtr="0">
            <a:noAutofit/>
          </a:bodyPr>
          <a:lstStyle/>
          <a:p>
            <a:pPr indent="-686638" algn="l">
              <a:buSzPts val="2400"/>
            </a:pPr>
            <a:r>
              <a:rPr lang="en" sz="4325" dirty="0">
                <a:solidFill>
                  <a:schemeClr val="tx1"/>
                </a:solidFill>
              </a:rPr>
              <a:t>Mathematical optimization:</a:t>
            </a:r>
            <a:br>
              <a:rPr lang="en" sz="4325" dirty="0">
                <a:solidFill>
                  <a:schemeClr val="tx1"/>
                </a:solidFill>
              </a:rPr>
            </a:br>
            <a:r>
              <a:rPr lang="en" sz="3604" dirty="0">
                <a:solidFill>
                  <a:schemeClr val="tx1"/>
                </a:solidFill>
              </a:rPr>
              <a:t>“the selection of a best element (with</a:t>
            </a:r>
            <a:br>
              <a:rPr lang="en" sz="3604" dirty="0">
                <a:solidFill>
                  <a:schemeClr val="tx1"/>
                </a:solidFill>
              </a:rPr>
            </a:br>
            <a:r>
              <a:rPr lang="en" sz="3604" dirty="0">
                <a:solidFill>
                  <a:schemeClr val="tx1"/>
                </a:solidFill>
              </a:rPr>
              <a:t>regard to some criterion) from some</a:t>
            </a:r>
            <a:br>
              <a:rPr lang="en" sz="3604" dirty="0">
                <a:solidFill>
                  <a:schemeClr val="tx1"/>
                </a:solidFill>
              </a:rPr>
            </a:br>
            <a:r>
              <a:rPr lang="en" sz="3604" dirty="0">
                <a:solidFill>
                  <a:schemeClr val="tx1"/>
                </a:solidFill>
              </a:rPr>
              <a:t>set of available alternatives”  (Wikipedia)</a:t>
            </a:r>
            <a:endParaRPr sz="3604" dirty="0">
              <a:solidFill>
                <a:schemeClr val="tx1"/>
              </a:solidFill>
            </a:endParaRPr>
          </a:p>
          <a:p>
            <a:pPr indent="-686638" algn="l">
              <a:spcBef>
                <a:spcPts val="1802"/>
              </a:spcBef>
              <a:buSzPts val="2400"/>
            </a:pPr>
            <a:r>
              <a:rPr lang="en" sz="4325" dirty="0">
                <a:solidFill>
                  <a:schemeClr val="tx1"/>
                </a:solidFill>
              </a:rPr>
              <a:t>Main types:</a:t>
            </a:r>
            <a:br>
              <a:rPr lang="en" sz="4325" dirty="0">
                <a:solidFill>
                  <a:schemeClr val="tx1"/>
                </a:solidFill>
              </a:rPr>
            </a:br>
            <a:r>
              <a:rPr lang="en" sz="4325" dirty="0">
                <a:solidFill>
                  <a:schemeClr val="tx1"/>
                </a:solidFill>
              </a:rPr>
              <a:t>finite-step, iterative, heuristic</a:t>
            </a:r>
            <a:endParaRPr sz="4325" dirty="0">
              <a:solidFill>
                <a:schemeClr val="tx1"/>
              </a:solidFill>
            </a:endParaRPr>
          </a:p>
          <a:p>
            <a:pPr marL="0" indent="0" algn="l">
              <a:spcBef>
                <a:spcPts val="1802"/>
              </a:spcBef>
              <a:buNone/>
            </a:pPr>
            <a:br>
              <a:rPr lang="en" sz="4325" dirty="0">
                <a:solidFill>
                  <a:schemeClr val="tx1"/>
                </a:solidFill>
              </a:rPr>
            </a:br>
            <a:endParaRPr sz="4325" dirty="0">
              <a:solidFill>
                <a:schemeClr val="tx1"/>
              </a:solidFill>
            </a:endParaRPr>
          </a:p>
          <a:p>
            <a:pPr marL="0" indent="0" algn="l">
              <a:spcBef>
                <a:spcPts val="1802"/>
              </a:spcBef>
              <a:buNone/>
            </a:pPr>
            <a:endParaRPr sz="4325" dirty="0">
              <a:solidFill>
                <a:schemeClr val="tx1"/>
              </a:solidFill>
            </a:endParaRPr>
          </a:p>
        </p:txBody>
      </p:sp>
      <p:pic>
        <p:nvPicPr>
          <p:cNvPr id="262" name="Google Shape;262;p36"/>
          <p:cNvPicPr preferRelativeResize="0"/>
          <p:nvPr/>
        </p:nvPicPr>
        <p:blipFill>
          <a:blip r:embed="rId3">
            <a:alphaModFix/>
          </a:blip>
          <a:stretch>
            <a:fillRect/>
          </a:stretch>
        </p:blipFill>
        <p:spPr>
          <a:xfrm>
            <a:off x="11075079" y="2001976"/>
            <a:ext cx="6177702" cy="4108416"/>
          </a:xfrm>
          <a:prstGeom prst="rect">
            <a:avLst/>
          </a:prstGeom>
          <a:noFill/>
          <a:ln>
            <a:noFill/>
          </a:ln>
          <a:effectLst>
            <a:outerShdw blurRad="200025" dist="180975" dir="9000000" algn="bl" rotWithShape="0">
              <a:srgbClr val="000000">
                <a:alpha val="50000"/>
              </a:srgbClr>
            </a:outerShdw>
          </a:effectLst>
        </p:spPr>
      </p:pic>
      <p:sp>
        <p:nvSpPr>
          <p:cNvPr id="263" name="Google Shape;263;p36"/>
          <p:cNvSpPr txBox="1"/>
          <p:nvPr/>
        </p:nvSpPr>
        <p:spPr>
          <a:xfrm>
            <a:off x="10927792" y="6026361"/>
            <a:ext cx="6462589" cy="559049"/>
          </a:xfrm>
          <a:prstGeom prst="rect">
            <a:avLst/>
          </a:prstGeom>
          <a:noFill/>
          <a:ln>
            <a:noFill/>
          </a:ln>
        </p:spPr>
        <p:txBody>
          <a:bodyPr spcFirstLastPara="1" wrap="square" lIns="164768" tIns="164768" rIns="164768" bIns="164768" anchor="t" anchorCtr="0">
            <a:noAutofit/>
          </a:bodyPr>
          <a:lstStyle/>
          <a:p>
            <a:pPr algn="l" rtl="0"/>
            <a:r>
              <a:rPr lang="en" sz="1081"/>
              <a:t>By Rebecca Wilson (originally posted to Flickr as Vicariously) [</a:t>
            </a:r>
            <a:r>
              <a:rPr lang="en" sz="1081" u="sng">
                <a:solidFill>
                  <a:schemeClr val="hlink"/>
                </a:solidFill>
                <a:hlinkClick r:id="rId4"/>
              </a:rPr>
              <a:t>CC BY 2.0</a:t>
            </a:r>
            <a:r>
              <a:rPr lang="en" sz="1081"/>
              <a:t>], via Wikimedia Commons</a:t>
            </a:r>
            <a:endParaRPr sz="1081"/>
          </a:p>
        </p:txBody>
      </p:sp>
      <p:grpSp>
        <p:nvGrpSpPr>
          <p:cNvPr id="264" name="Google Shape;264;p36"/>
          <p:cNvGrpSpPr/>
          <p:nvPr/>
        </p:nvGrpSpPr>
        <p:grpSpPr>
          <a:xfrm>
            <a:off x="1472343" y="5751703"/>
            <a:ext cx="13476117" cy="3968164"/>
            <a:chOff x="311700" y="3191450"/>
            <a:chExt cx="7477500" cy="2201817"/>
          </a:xfrm>
        </p:grpSpPr>
        <p:pic>
          <p:nvPicPr>
            <p:cNvPr id="265" name="Google Shape;265;p36"/>
            <p:cNvPicPr preferRelativeResize="0"/>
            <p:nvPr/>
          </p:nvPicPr>
          <p:blipFill>
            <a:blip r:embed="rId5">
              <a:alphaModFix/>
            </a:blip>
            <a:stretch>
              <a:fillRect/>
            </a:stretch>
          </p:blipFill>
          <p:spPr>
            <a:xfrm>
              <a:off x="1966900" y="4450292"/>
              <a:ext cx="5210175" cy="942975"/>
            </a:xfrm>
            <a:prstGeom prst="rect">
              <a:avLst/>
            </a:prstGeom>
            <a:noFill/>
            <a:ln>
              <a:noFill/>
            </a:ln>
          </p:spPr>
        </p:pic>
        <p:grpSp>
          <p:nvGrpSpPr>
            <p:cNvPr id="266" name="Google Shape;266;p36"/>
            <p:cNvGrpSpPr/>
            <p:nvPr/>
          </p:nvGrpSpPr>
          <p:grpSpPr>
            <a:xfrm>
              <a:off x="4863375" y="3812272"/>
              <a:ext cx="2925825" cy="859658"/>
              <a:chOff x="4863375" y="3050075"/>
              <a:chExt cx="2925825" cy="773700"/>
            </a:xfrm>
          </p:grpSpPr>
          <p:sp>
            <p:nvSpPr>
              <p:cNvPr id="267" name="Google Shape;267;p36"/>
              <p:cNvSpPr txBox="1"/>
              <p:nvPr/>
            </p:nvSpPr>
            <p:spPr>
              <a:xfrm>
                <a:off x="4863375" y="3050075"/>
                <a:ext cx="700200" cy="498000"/>
              </a:xfrm>
              <a:prstGeom prst="rect">
                <a:avLst/>
              </a:prstGeom>
              <a:noFill/>
              <a:ln w="19050" cap="flat" cmpd="sng">
                <a:solidFill>
                  <a:srgbClr val="0000FF"/>
                </a:solidFill>
                <a:prstDash val="solid"/>
                <a:round/>
                <a:headEnd type="none" w="sm" len="sm"/>
                <a:tailEnd type="none" w="sm" len="sm"/>
              </a:ln>
            </p:spPr>
            <p:txBody>
              <a:bodyPr spcFirstLastPara="1" wrap="square" lIns="164768" tIns="164768" rIns="164768" bIns="164768" anchor="t" anchorCtr="0">
                <a:noAutofit/>
              </a:bodyPr>
              <a:lstStyle/>
              <a:p>
                <a:pPr algn="l" rtl="0"/>
                <a:r>
                  <a:rPr lang="en" sz="3965">
                    <a:solidFill>
                      <a:srgbClr val="0000FF"/>
                    </a:solidFill>
                  </a:rPr>
                  <a:t>loss</a:t>
                </a:r>
                <a:endParaRPr sz="3965">
                  <a:solidFill>
                    <a:srgbClr val="0000FF"/>
                  </a:solidFill>
                </a:endParaRPr>
              </a:p>
            </p:txBody>
          </p:sp>
          <p:sp>
            <p:nvSpPr>
              <p:cNvPr id="268" name="Google Shape;268;p36"/>
              <p:cNvSpPr txBox="1"/>
              <p:nvPr/>
            </p:nvSpPr>
            <p:spPr>
              <a:xfrm>
                <a:off x="5918700" y="3050075"/>
                <a:ext cx="1870500" cy="498000"/>
              </a:xfrm>
              <a:prstGeom prst="rect">
                <a:avLst/>
              </a:prstGeom>
              <a:noFill/>
              <a:ln w="19050" cap="flat" cmpd="sng">
                <a:solidFill>
                  <a:srgbClr val="FF0000"/>
                </a:solidFill>
                <a:prstDash val="solid"/>
                <a:round/>
                <a:headEnd type="none" w="sm" len="sm"/>
                <a:tailEnd type="none" w="sm" len="sm"/>
              </a:ln>
            </p:spPr>
            <p:txBody>
              <a:bodyPr spcFirstLastPara="1" wrap="square" lIns="164768" tIns="164768" rIns="164768" bIns="164768" anchor="t" anchorCtr="0">
                <a:noAutofit/>
              </a:bodyPr>
              <a:lstStyle/>
              <a:p>
                <a:pPr algn="l" rtl="0"/>
                <a:r>
                  <a:rPr lang="en" sz="3965">
                    <a:solidFill>
                      <a:srgbClr val="FF0000"/>
                    </a:solidFill>
                  </a:rPr>
                  <a:t>regularization</a:t>
                </a:r>
                <a:endParaRPr sz="3965">
                  <a:solidFill>
                    <a:srgbClr val="FF0000"/>
                  </a:solidFill>
                </a:endParaRPr>
              </a:p>
            </p:txBody>
          </p:sp>
          <p:cxnSp>
            <p:nvCxnSpPr>
              <p:cNvPr id="269" name="Google Shape;269;p36"/>
              <p:cNvCxnSpPr>
                <a:stCxn id="267" idx="2"/>
              </p:cNvCxnSpPr>
              <p:nvPr/>
            </p:nvCxnSpPr>
            <p:spPr>
              <a:xfrm flipH="1">
                <a:off x="5205675" y="3548075"/>
                <a:ext cx="7800" cy="267900"/>
              </a:xfrm>
              <a:prstGeom prst="straightConnector1">
                <a:avLst/>
              </a:prstGeom>
              <a:noFill/>
              <a:ln w="28575" cap="flat" cmpd="sng">
                <a:solidFill>
                  <a:srgbClr val="0000FF"/>
                </a:solidFill>
                <a:prstDash val="solid"/>
                <a:round/>
                <a:headEnd type="none" w="med" len="med"/>
                <a:tailEnd type="stealth" w="med" len="med"/>
              </a:ln>
            </p:spPr>
          </p:cxnSp>
          <p:cxnSp>
            <p:nvCxnSpPr>
              <p:cNvPr id="270" name="Google Shape;270;p36"/>
              <p:cNvCxnSpPr>
                <a:stCxn id="268" idx="2"/>
              </p:cNvCxnSpPr>
              <p:nvPr/>
            </p:nvCxnSpPr>
            <p:spPr>
              <a:xfrm>
                <a:off x="6853950" y="3548075"/>
                <a:ext cx="1200" cy="275700"/>
              </a:xfrm>
              <a:prstGeom prst="straightConnector1">
                <a:avLst/>
              </a:prstGeom>
              <a:noFill/>
              <a:ln w="28575" cap="flat" cmpd="sng">
                <a:solidFill>
                  <a:srgbClr val="FF0000"/>
                </a:solidFill>
                <a:prstDash val="solid"/>
                <a:round/>
                <a:headEnd type="none" w="med" len="med"/>
                <a:tailEnd type="stealth" w="med" len="med"/>
              </a:ln>
            </p:spPr>
          </p:cxnSp>
        </p:grpSp>
        <p:sp>
          <p:nvSpPr>
            <p:cNvPr id="271" name="Google Shape;271;p36"/>
            <p:cNvSpPr txBox="1"/>
            <p:nvPr/>
          </p:nvSpPr>
          <p:spPr>
            <a:xfrm>
              <a:off x="311700" y="3191450"/>
              <a:ext cx="5299500" cy="1173600"/>
            </a:xfrm>
            <a:prstGeom prst="rect">
              <a:avLst/>
            </a:prstGeom>
            <a:noFill/>
            <a:ln>
              <a:noFill/>
            </a:ln>
          </p:spPr>
          <p:txBody>
            <a:bodyPr spcFirstLastPara="1" wrap="square" lIns="164768" tIns="164768" rIns="164768" bIns="164768" anchor="t" anchorCtr="0">
              <a:noAutofit/>
            </a:bodyPr>
            <a:lstStyle/>
            <a:p>
              <a:pPr marL="823966" indent="-686638" algn="l" rtl="0">
                <a:spcBef>
                  <a:spcPts val="1352"/>
                </a:spcBef>
                <a:buClr>
                  <a:schemeClr val="dk1"/>
                </a:buClr>
                <a:buSzPts val="2400"/>
                <a:buChar char="•"/>
              </a:pPr>
              <a:r>
                <a:rPr lang="en" sz="4325">
                  <a:solidFill>
                    <a:schemeClr val="dk1"/>
                  </a:solidFill>
                  <a:latin typeface="Corbel"/>
                  <a:ea typeface="Corbel"/>
                  <a:cs typeface="Corbel"/>
                  <a:sym typeface="Corbel"/>
                </a:rPr>
                <a:t>Learning as an optimization problem</a:t>
              </a:r>
              <a:endParaRPr sz="4325">
                <a:solidFill>
                  <a:schemeClr val="dk1"/>
                </a:solidFill>
                <a:latin typeface="Corbel"/>
                <a:ea typeface="Corbel"/>
                <a:cs typeface="Corbel"/>
                <a:sym typeface="Corbel"/>
              </a:endParaRPr>
            </a:p>
            <a:p>
              <a:pPr marL="1647932" lvl="1" indent="-686638" algn="l" rtl="0">
                <a:spcBef>
                  <a:spcPts val="1802"/>
                </a:spcBef>
                <a:buClr>
                  <a:schemeClr val="dk1"/>
                </a:buClr>
                <a:buSzPts val="2400"/>
                <a:buChar char="•"/>
              </a:pPr>
              <a:r>
                <a:rPr lang="en" sz="4325">
                  <a:solidFill>
                    <a:schemeClr val="dk1"/>
                  </a:solidFill>
                  <a:latin typeface="Corbel"/>
                  <a:ea typeface="Corbel"/>
                  <a:cs typeface="Corbel"/>
                  <a:sym typeface="Corbel"/>
                </a:rPr>
                <a:t>cost function:</a:t>
              </a:r>
              <a:endParaRPr sz="4325">
                <a:solidFill>
                  <a:schemeClr val="dk1"/>
                </a:solidFill>
                <a:latin typeface="Corbel"/>
                <a:ea typeface="Corbel"/>
                <a:cs typeface="Corbel"/>
                <a:sym typeface="Corbel"/>
              </a:endParaRPr>
            </a:p>
            <a:p>
              <a:pPr algn="l" rtl="0"/>
              <a:endParaRPr>
                <a:latin typeface="Corbel"/>
                <a:ea typeface="Corbel"/>
                <a:cs typeface="Corbel"/>
                <a:sym typeface="Corbe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38"/>
          <p:cNvPicPr preferRelativeResize="0"/>
          <p:nvPr/>
        </p:nvPicPr>
        <p:blipFill rotWithShape="1">
          <a:blip r:embed="rId3">
            <a:alphaModFix/>
          </a:blip>
          <a:srcRect r="44493"/>
          <a:stretch/>
        </p:blipFill>
        <p:spPr>
          <a:xfrm>
            <a:off x="10314991" y="3280810"/>
            <a:ext cx="7075117" cy="7018888"/>
          </a:xfrm>
          <a:prstGeom prst="rect">
            <a:avLst/>
          </a:prstGeom>
          <a:noFill/>
          <a:ln>
            <a:noFill/>
          </a:ln>
        </p:spPr>
      </p:pic>
      <p:sp>
        <p:nvSpPr>
          <p:cNvPr id="284" name="Google Shape;284;p38"/>
          <p:cNvSpPr txBox="1">
            <a:spLocks noGrp="1"/>
          </p:cNvSpPr>
          <p:nvPr>
            <p:ph type="title" idx="4294967295"/>
          </p:nvPr>
        </p:nvSpPr>
        <p:spPr>
          <a:xfrm>
            <a:off x="1472343" y="433384"/>
            <a:ext cx="15356015" cy="1146754"/>
          </a:xfrm>
          <a:prstGeom prst="rect">
            <a:avLst/>
          </a:prstGeom>
        </p:spPr>
        <p:txBody>
          <a:bodyPr spcFirstLastPara="1" wrap="square" lIns="164768" tIns="82362" rIns="164768" bIns="82362" anchor="ctr" anchorCtr="0">
            <a:noAutofit/>
          </a:bodyPr>
          <a:lstStyle/>
          <a:p>
            <a:pPr algn="l" rtl="0"/>
            <a:r>
              <a:rPr lang="en" dirty="0">
                <a:solidFill>
                  <a:schemeClr val="tx1"/>
                </a:solidFill>
              </a:rPr>
              <a:t>Gradient descent</a:t>
            </a:r>
            <a:endParaRPr dirty="0">
              <a:solidFill>
                <a:schemeClr val="tx1"/>
              </a:solidFill>
            </a:endParaRPr>
          </a:p>
        </p:txBody>
      </p:sp>
      <p:sp>
        <p:nvSpPr>
          <p:cNvPr id="285" name="Google Shape;285;p38"/>
          <p:cNvSpPr txBox="1">
            <a:spLocks noGrp="1"/>
          </p:cNvSpPr>
          <p:nvPr>
            <p:ph type="body" idx="4294967295"/>
          </p:nvPr>
        </p:nvSpPr>
        <p:spPr>
          <a:xfrm>
            <a:off x="1472343" y="2155207"/>
            <a:ext cx="12831101" cy="8144062"/>
          </a:xfrm>
          <a:prstGeom prst="rect">
            <a:avLst/>
          </a:prstGeom>
        </p:spPr>
        <p:txBody>
          <a:bodyPr spcFirstLastPara="1" wrap="square" lIns="164768" tIns="82362" rIns="164768" bIns="82362" anchor="t" anchorCtr="0">
            <a:noAutofit/>
          </a:bodyPr>
          <a:lstStyle/>
          <a:p>
            <a:pPr marL="823966" indent="-686638" algn="l" rtl="0">
              <a:lnSpc>
                <a:spcPct val="150000"/>
              </a:lnSpc>
              <a:spcBef>
                <a:spcPts val="1352"/>
              </a:spcBef>
              <a:buSzPts val="2400"/>
              <a:buChar char="•"/>
            </a:pPr>
            <a:r>
              <a:rPr lang="en" sz="4325" dirty="0">
                <a:solidFill>
                  <a:schemeClr val="tx1"/>
                </a:solidFill>
              </a:rPr>
              <a:t>Derivative and minima/maxima of functions</a:t>
            </a:r>
            <a:endParaRPr sz="4325" dirty="0">
              <a:solidFill>
                <a:schemeClr val="tx1"/>
              </a:solidFill>
            </a:endParaRPr>
          </a:p>
          <a:p>
            <a:pPr marL="823966" indent="-686638" algn="l" rtl="0">
              <a:lnSpc>
                <a:spcPct val="115000"/>
              </a:lnSpc>
              <a:spcBef>
                <a:spcPts val="1352"/>
              </a:spcBef>
              <a:buSzPts val="2400"/>
              <a:buChar char="•"/>
            </a:pPr>
            <a:r>
              <a:rPr lang="en" sz="4325" dirty="0">
                <a:solidFill>
                  <a:schemeClr val="tx1"/>
                </a:solidFill>
              </a:rPr>
              <a:t>Gradient: the derivative of a multivariable function</a:t>
            </a:r>
            <a:endParaRPr sz="4325" dirty="0">
              <a:solidFill>
                <a:schemeClr val="tx1"/>
              </a:solidFill>
            </a:endParaRPr>
          </a:p>
          <a:p>
            <a:pPr marL="823966" indent="-686638" algn="l" rtl="0">
              <a:lnSpc>
                <a:spcPct val="115000"/>
              </a:lnSpc>
              <a:spcBef>
                <a:spcPts val="1802"/>
              </a:spcBef>
              <a:buSzPts val="2400"/>
              <a:buChar char="•"/>
            </a:pPr>
            <a:r>
              <a:rPr lang="en" sz="4325" dirty="0">
                <a:solidFill>
                  <a:schemeClr val="tx1"/>
                </a:solidFill>
              </a:rPr>
              <a:t>Gradient descent:</a:t>
            </a:r>
            <a:endParaRPr sz="4325" dirty="0">
              <a:solidFill>
                <a:schemeClr val="tx1"/>
              </a:solidFill>
            </a:endParaRPr>
          </a:p>
          <a:p>
            <a:pPr algn="l" rtl="0">
              <a:lnSpc>
                <a:spcPct val="115000"/>
              </a:lnSpc>
              <a:spcBef>
                <a:spcPts val="1802"/>
              </a:spcBef>
            </a:pPr>
            <a:br>
              <a:rPr lang="en" sz="4325" dirty="0">
                <a:solidFill>
                  <a:schemeClr val="tx1"/>
                </a:solidFill>
              </a:rPr>
            </a:br>
            <a:endParaRPr sz="4325" dirty="0">
              <a:solidFill>
                <a:schemeClr val="tx1"/>
              </a:solidFill>
            </a:endParaRPr>
          </a:p>
          <a:p>
            <a:pPr marL="823966" indent="-686638" algn="l" rtl="0">
              <a:lnSpc>
                <a:spcPct val="115000"/>
              </a:lnSpc>
              <a:spcBef>
                <a:spcPts val="1802"/>
              </a:spcBef>
              <a:buSzPts val="2400"/>
              <a:buChar char="•"/>
            </a:pPr>
            <a:r>
              <a:rPr lang="en" sz="4325" dirty="0">
                <a:solidFill>
                  <a:schemeClr val="tx1"/>
                </a:solidFill>
              </a:rPr>
              <a:t>(Mini-batch) stochastic gradient </a:t>
            </a:r>
            <a:br>
              <a:rPr lang="en" sz="4325" dirty="0">
                <a:solidFill>
                  <a:schemeClr val="tx1"/>
                </a:solidFill>
              </a:rPr>
            </a:br>
            <a:r>
              <a:rPr lang="en" sz="4325" dirty="0">
                <a:solidFill>
                  <a:schemeClr val="tx1"/>
                </a:solidFill>
              </a:rPr>
              <a:t>descent (and its variants)</a:t>
            </a:r>
            <a:endParaRPr sz="4325" dirty="0">
              <a:solidFill>
                <a:schemeClr val="tx1"/>
              </a:solidFill>
            </a:endParaRPr>
          </a:p>
        </p:txBody>
      </p:sp>
      <p:pic>
        <p:nvPicPr>
          <p:cNvPr id="286" name="Google Shape;286;p38"/>
          <p:cNvPicPr preferRelativeResize="0"/>
          <p:nvPr/>
        </p:nvPicPr>
        <p:blipFill>
          <a:blip r:embed="rId4">
            <a:alphaModFix/>
          </a:blip>
          <a:stretch>
            <a:fillRect/>
          </a:stretch>
        </p:blipFill>
        <p:spPr>
          <a:xfrm>
            <a:off x="3794506" y="5483637"/>
            <a:ext cx="5218515" cy="1321795"/>
          </a:xfrm>
          <a:prstGeom prst="rect">
            <a:avLst/>
          </a:prstGeom>
          <a:noFill/>
          <a:ln>
            <a:noFill/>
          </a:ln>
        </p:spPr>
      </p:pic>
      <p:sp>
        <p:nvSpPr>
          <p:cNvPr id="287" name="Google Shape;287;p38"/>
          <p:cNvSpPr txBox="1"/>
          <p:nvPr/>
        </p:nvSpPr>
        <p:spPr>
          <a:xfrm>
            <a:off x="8688260" y="9799834"/>
            <a:ext cx="8705815" cy="499576"/>
          </a:xfrm>
          <a:prstGeom prst="rect">
            <a:avLst/>
          </a:prstGeom>
          <a:noFill/>
          <a:ln>
            <a:noFill/>
          </a:ln>
        </p:spPr>
        <p:txBody>
          <a:bodyPr spcFirstLastPara="1" wrap="square" lIns="164768" tIns="164768" rIns="164768" bIns="164768" anchor="t" anchorCtr="0">
            <a:noAutofit/>
          </a:bodyPr>
          <a:lstStyle/>
          <a:p>
            <a:pPr algn="l" rtl="0"/>
            <a:r>
              <a:rPr lang="en" sz="1442"/>
              <a:t>Image from: </a:t>
            </a:r>
            <a:r>
              <a:rPr lang="en" sz="1442" u="sng">
                <a:solidFill>
                  <a:schemeClr val="hlink"/>
                </a:solidFill>
                <a:hlinkClick r:id="rId5"/>
              </a:rPr>
              <a:t>https://towardsdatascience.com/gradient-descent-algorithm-and-its-variants-10f652806a3</a:t>
            </a:r>
            <a:r>
              <a:rPr lang="en" sz="1442"/>
              <a:t> </a:t>
            </a:r>
            <a:endParaRPr sz="1442"/>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39"/>
          <p:cNvPicPr preferRelativeResize="0"/>
          <p:nvPr/>
        </p:nvPicPr>
        <p:blipFill>
          <a:blip r:embed="rId3">
            <a:alphaModFix/>
          </a:blip>
          <a:stretch>
            <a:fillRect/>
          </a:stretch>
        </p:blipFill>
        <p:spPr>
          <a:xfrm>
            <a:off x="11713089" y="3695212"/>
            <a:ext cx="6198969" cy="6198969"/>
          </a:xfrm>
          <a:prstGeom prst="rect">
            <a:avLst/>
          </a:prstGeom>
          <a:noFill/>
          <a:ln>
            <a:noFill/>
          </a:ln>
        </p:spPr>
      </p:pic>
      <p:sp>
        <p:nvSpPr>
          <p:cNvPr id="294" name="Google Shape;294;p39"/>
          <p:cNvSpPr txBox="1">
            <a:spLocks noGrp="1"/>
          </p:cNvSpPr>
          <p:nvPr>
            <p:ph type="title" idx="4294967295"/>
          </p:nvPr>
        </p:nvSpPr>
        <p:spPr>
          <a:xfrm>
            <a:off x="1472343" y="891148"/>
            <a:ext cx="15356015" cy="1146754"/>
          </a:xfrm>
          <a:prstGeom prst="rect">
            <a:avLst/>
          </a:prstGeom>
        </p:spPr>
        <p:txBody>
          <a:bodyPr spcFirstLastPara="1" wrap="square" lIns="164768" tIns="82362" rIns="164768" bIns="82362" anchor="ctr" anchorCtr="0">
            <a:noAutofit/>
          </a:bodyPr>
          <a:lstStyle/>
          <a:p>
            <a:pPr algn="l" rtl="0"/>
            <a:r>
              <a:rPr lang="en" dirty="0">
                <a:solidFill>
                  <a:schemeClr val="tx1"/>
                </a:solidFill>
              </a:rPr>
              <a:t>Over- and underfitting, generalization, regularization</a:t>
            </a:r>
            <a:endParaRPr dirty="0">
              <a:solidFill>
                <a:schemeClr val="tx1"/>
              </a:solidFill>
            </a:endParaRPr>
          </a:p>
        </p:txBody>
      </p:sp>
      <p:sp>
        <p:nvSpPr>
          <p:cNvPr id="295" name="Google Shape;295;p39"/>
          <p:cNvSpPr txBox="1">
            <a:spLocks noGrp="1"/>
          </p:cNvSpPr>
          <p:nvPr>
            <p:ph type="body" idx="4294967295"/>
          </p:nvPr>
        </p:nvSpPr>
        <p:spPr>
          <a:xfrm>
            <a:off x="1472343" y="2769816"/>
            <a:ext cx="10240767" cy="7044346"/>
          </a:xfrm>
          <a:prstGeom prst="rect">
            <a:avLst/>
          </a:prstGeom>
        </p:spPr>
        <p:txBody>
          <a:bodyPr spcFirstLastPara="1" wrap="square" lIns="164768" tIns="82362" rIns="164768" bIns="82362" anchor="t" anchorCtr="0">
            <a:noAutofit/>
          </a:bodyPr>
          <a:lstStyle/>
          <a:p>
            <a:pPr marL="823966" indent="-686638" algn="l" rtl="0">
              <a:lnSpc>
                <a:spcPct val="115000"/>
              </a:lnSpc>
              <a:spcBef>
                <a:spcPts val="1352"/>
              </a:spcBef>
              <a:buSzPts val="2400"/>
              <a:buChar char="•"/>
            </a:pPr>
            <a:r>
              <a:rPr lang="en" sz="4325" dirty="0">
                <a:solidFill>
                  <a:schemeClr val="tx1"/>
                </a:solidFill>
              </a:rPr>
              <a:t>Models with lots of parameters can easily overfit to training data</a:t>
            </a:r>
            <a:endParaRPr sz="4325" dirty="0">
              <a:solidFill>
                <a:schemeClr val="tx1"/>
              </a:solidFill>
            </a:endParaRPr>
          </a:p>
          <a:p>
            <a:pPr marL="823966" indent="-686638" algn="l" rtl="0">
              <a:spcBef>
                <a:spcPts val="1802"/>
              </a:spcBef>
              <a:buSzPts val="2400"/>
              <a:buChar char="•"/>
            </a:pPr>
            <a:r>
              <a:rPr lang="en" sz="4325" b="1" dirty="0">
                <a:solidFill>
                  <a:schemeClr val="tx1"/>
                </a:solidFill>
              </a:rPr>
              <a:t>Generalization:</a:t>
            </a:r>
            <a:r>
              <a:rPr lang="en" sz="4325" dirty="0">
                <a:solidFill>
                  <a:schemeClr val="tx1"/>
                </a:solidFill>
              </a:rPr>
              <a:t> the quality of ML model is measured on new, unseen samples</a:t>
            </a:r>
            <a:endParaRPr sz="4325" dirty="0">
              <a:solidFill>
                <a:schemeClr val="tx1"/>
              </a:solidFill>
            </a:endParaRPr>
          </a:p>
          <a:p>
            <a:pPr marL="823966" indent="-686638" algn="l" rtl="0">
              <a:spcBef>
                <a:spcPts val="1802"/>
              </a:spcBef>
              <a:buSzPts val="2400"/>
              <a:buChar char="•"/>
            </a:pPr>
            <a:r>
              <a:rPr lang="en" sz="4325" b="1" dirty="0">
                <a:solidFill>
                  <a:schemeClr val="tx1"/>
                </a:solidFill>
              </a:rPr>
              <a:t>Regularization:</a:t>
            </a:r>
            <a:r>
              <a:rPr lang="en" sz="4325" dirty="0">
                <a:solidFill>
                  <a:schemeClr val="tx1"/>
                </a:solidFill>
              </a:rPr>
              <a:t> any method* to prevent overfitting</a:t>
            </a:r>
            <a:endParaRPr sz="4325" dirty="0">
              <a:solidFill>
                <a:schemeClr val="tx1"/>
              </a:solidFill>
            </a:endParaRPr>
          </a:p>
          <a:p>
            <a:pPr marL="1647932" lvl="1" indent="-640862" algn="l" rtl="0">
              <a:buSzPts val="2000"/>
              <a:buChar char="•"/>
            </a:pPr>
            <a:r>
              <a:rPr lang="en" sz="3604" dirty="0">
                <a:solidFill>
                  <a:schemeClr val="tx1"/>
                </a:solidFill>
              </a:rPr>
              <a:t>simplicity, sparsity, dropout, early stopping</a:t>
            </a:r>
            <a:endParaRPr sz="3604" dirty="0">
              <a:solidFill>
                <a:schemeClr val="tx1"/>
              </a:solidFill>
            </a:endParaRPr>
          </a:p>
          <a:p>
            <a:pPr marL="1647932" lvl="1" indent="-686638" algn="l" rtl="0">
              <a:buSzPts val="2400"/>
              <a:buChar char="•"/>
            </a:pPr>
            <a:r>
              <a:rPr lang="en" sz="3604" dirty="0">
                <a:solidFill>
                  <a:schemeClr val="tx1"/>
                </a:solidFill>
              </a:rPr>
              <a:t>*) other than adding more data</a:t>
            </a:r>
            <a:br>
              <a:rPr lang="en" sz="4325" dirty="0">
                <a:solidFill>
                  <a:schemeClr val="tx1"/>
                </a:solidFill>
              </a:rPr>
            </a:br>
            <a:br>
              <a:rPr lang="en" sz="4325" dirty="0">
                <a:solidFill>
                  <a:schemeClr val="tx1"/>
                </a:solidFill>
              </a:rPr>
            </a:br>
            <a:endParaRPr sz="4325" dirty="0">
              <a:solidFill>
                <a:schemeClr val="tx1"/>
              </a:solidFill>
            </a:endParaRPr>
          </a:p>
          <a:p>
            <a:pPr algn="l" rtl="0">
              <a:spcBef>
                <a:spcPts val="1352"/>
              </a:spcBef>
            </a:pPr>
            <a:endParaRPr sz="4325" dirty="0">
              <a:solidFill>
                <a:schemeClr val="tx1"/>
              </a:solidFill>
            </a:endParaRPr>
          </a:p>
        </p:txBody>
      </p:sp>
      <p:sp>
        <p:nvSpPr>
          <p:cNvPr id="296" name="Google Shape;296;p39"/>
          <p:cNvSpPr txBox="1"/>
          <p:nvPr/>
        </p:nvSpPr>
        <p:spPr>
          <a:xfrm>
            <a:off x="11398442" y="9662555"/>
            <a:ext cx="5917597" cy="576351"/>
          </a:xfrm>
          <a:prstGeom prst="rect">
            <a:avLst/>
          </a:prstGeom>
          <a:noFill/>
          <a:ln>
            <a:noFill/>
          </a:ln>
        </p:spPr>
        <p:txBody>
          <a:bodyPr spcFirstLastPara="1" wrap="square" lIns="164768" tIns="164768" rIns="164768" bIns="164768" anchor="t" anchorCtr="0">
            <a:noAutofit/>
          </a:bodyPr>
          <a:lstStyle/>
          <a:p>
            <a:pPr algn="l" rtl="0"/>
            <a:r>
              <a:rPr lang="en" sz="1442"/>
              <a:t>By Chabacano [</a:t>
            </a:r>
            <a:r>
              <a:rPr lang="en" sz="1442" u="sng">
                <a:solidFill>
                  <a:schemeClr val="hlink"/>
                </a:solidFill>
                <a:hlinkClick r:id="rId4"/>
              </a:rPr>
              <a:t>GFDL</a:t>
            </a:r>
            <a:r>
              <a:rPr lang="en" sz="1442"/>
              <a:t> or</a:t>
            </a:r>
            <a:r>
              <a:rPr lang="en" sz="1442" u="sng">
                <a:solidFill>
                  <a:schemeClr val="hlink"/>
                </a:solidFill>
                <a:hlinkClick r:id="rId5"/>
              </a:rPr>
              <a:t> CC BY-SA 4.0</a:t>
            </a:r>
            <a:r>
              <a:rPr lang="en" sz="1442"/>
              <a:t>], from Wikimedia Commons</a:t>
            </a:r>
            <a:endParaRPr sz="1442"/>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0"/>
          <p:cNvSpPr txBox="1">
            <a:spLocks noGrp="1"/>
          </p:cNvSpPr>
          <p:nvPr>
            <p:ph type="title"/>
          </p:nvPr>
        </p:nvSpPr>
        <p:spPr>
          <a:xfrm>
            <a:off x="2034975" y="2608306"/>
            <a:ext cx="14213586" cy="4284243"/>
          </a:xfrm>
          <a:prstGeom prst="rect">
            <a:avLst/>
          </a:prstGeom>
        </p:spPr>
        <p:txBody>
          <a:bodyPr spcFirstLastPara="1" wrap="square" lIns="164768" tIns="82362" rIns="164768" bIns="82362" anchor="b" anchorCtr="0">
            <a:noAutofit/>
          </a:bodyPr>
          <a:lstStyle/>
          <a:p>
            <a:pPr rtl="0"/>
            <a:r>
              <a:rPr lang="en"/>
              <a:t>Deep learning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1"/>
          <p:cNvSpPr txBox="1">
            <a:spLocks noGrp="1"/>
          </p:cNvSpPr>
          <p:nvPr>
            <p:ph type="title" idx="4294967295"/>
          </p:nvPr>
        </p:nvSpPr>
        <p:spPr>
          <a:xfrm>
            <a:off x="1472343" y="891148"/>
            <a:ext cx="15356015" cy="1146754"/>
          </a:xfrm>
          <a:prstGeom prst="rect">
            <a:avLst/>
          </a:prstGeom>
        </p:spPr>
        <p:txBody>
          <a:bodyPr spcFirstLastPara="1" wrap="square" lIns="164768" tIns="82362" rIns="164768" bIns="82362" anchor="ctr" anchorCtr="0">
            <a:noAutofit/>
          </a:bodyPr>
          <a:lstStyle/>
          <a:p>
            <a:pPr algn="l" rtl="0"/>
            <a:r>
              <a:rPr lang="en" dirty="0">
                <a:solidFill>
                  <a:schemeClr val="tx1"/>
                </a:solidFill>
              </a:rPr>
              <a:t>Anatomy of a deep neural network</a:t>
            </a:r>
            <a:endParaRPr dirty="0">
              <a:solidFill>
                <a:schemeClr val="tx1"/>
              </a:solidFill>
            </a:endParaRPr>
          </a:p>
        </p:txBody>
      </p:sp>
      <p:sp>
        <p:nvSpPr>
          <p:cNvPr id="308" name="Google Shape;308;p41"/>
          <p:cNvSpPr txBox="1">
            <a:spLocks noGrp="1"/>
          </p:cNvSpPr>
          <p:nvPr>
            <p:ph type="body" idx="4294967295"/>
          </p:nvPr>
        </p:nvSpPr>
        <p:spPr>
          <a:xfrm>
            <a:off x="1472343" y="2307796"/>
            <a:ext cx="12083359" cy="6034381"/>
          </a:xfrm>
          <a:prstGeom prst="rect">
            <a:avLst/>
          </a:prstGeom>
        </p:spPr>
        <p:txBody>
          <a:bodyPr spcFirstLastPara="1" wrap="square" lIns="164768" tIns="82362" rIns="164768" bIns="82362" anchor="t" anchorCtr="0">
            <a:noAutofit/>
          </a:bodyPr>
          <a:lstStyle/>
          <a:p>
            <a:pPr algn="l" rtl="0">
              <a:spcBef>
                <a:spcPts val="1352"/>
              </a:spcBef>
            </a:pPr>
            <a:endParaRPr sz="4325" dirty="0">
              <a:solidFill>
                <a:schemeClr val="tx1"/>
              </a:solidFill>
            </a:endParaRPr>
          </a:p>
          <a:p>
            <a:pPr marL="823966" indent="-686638" algn="l" rtl="0">
              <a:spcBef>
                <a:spcPts val="1352"/>
              </a:spcBef>
              <a:buSzPts val="2400"/>
              <a:buChar char="•"/>
            </a:pPr>
            <a:r>
              <a:rPr lang="en" sz="4325" dirty="0">
                <a:solidFill>
                  <a:schemeClr val="tx1"/>
                </a:solidFill>
              </a:rPr>
              <a:t>Layers</a:t>
            </a:r>
            <a:endParaRPr sz="4325" dirty="0">
              <a:solidFill>
                <a:schemeClr val="tx1"/>
              </a:solidFill>
            </a:endParaRPr>
          </a:p>
          <a:p>
            <a:pPr marL="823966" indent="-686638" algn="l" rtl="0">
              <a:buSzPts val="2400"/>
              <a:buChar char="•"/>
            </a:pPr>
            <a:r>
              <a:rPr lang="en" sz="4325" dirty="0">
                <a:solidFill>
                  <a:schemeClr val="tx1"/>
                </a:solidFill>
              </a:rPr>
              <a:t>Input data and targets</a:t>
            </a:r>
            <a:endParaRPr sz="4325" dirty="0">
              <a:solidFill>
                <a:schemeClr val="tx1"/>
              </a:solidFill>
            </a:endParaRPr>
          </a:p>
          <a:p>
            <a:pPr marL="823966" indent="-686638" algn="l" rtl="0">
              <a:buSzPts val="2400"/>
              <a:buChar char="•"/>
            </a:pPr>
            <a:r>
              <a:rPr lang="en" sz="4325" dirty="0">
                <a:solidFill>
                  <a:schemeClr val="tx1"/>
                </a:solidFill>
              </a:rPr>
              <a:t>Loss function</a:t>
            </a:r>
            <a:endParaRPr sz="4325" dirty="0">
              <a:solidFill>
                <a:schemeClr val="tx1"/>
              </a:solidFill>
            </a:endParaRPr>
          </a:p>
          <a:p>
            <a:pPr marL="823966" indent="-686638" algn="l" rtl="0">
              <a:buSzPts val="2400"/>
              <a:buChar char="•"/>
            </a:pPr>
            <a:r>
              <a:rPr lang="en" sz="4325" dirty="0">
                <a:solidFill>
                  <a:schemeClr val="tx1"/>
                </a:solidFill>
              </a:rPr>
              <a:t>Optimizer</a:t>
            </a:r>
            <a:endParaRPr sz="4325" dirty="0">
              <a:solidFill>
                <a:schemeClr val="tx1"/>
              </a:solidFill>
            </a:endParaRPr>
          </a:p>
        </p:txBody>
      </p:sp>
      <p:pic>
        <p:nvPicPr>
          <p:cNvPr id="309" name="Google Shape;309;p41"/>
          <p:cNvPicPr preferRelativeResize="0"/>
          <p:nvPr/>
        </p:nvPicPr>
        <p:blipFill>
          <a:blip r:embed="rId3">
            <a:alphaModFix/>
          </a:blip>
          <a:stretch>
            <a:fillRect/>
          </a:stretch>
        </p:blipFill>
        <p:spPr>
          <a:xfrm>
            <a:off x="8721827" y="2620181"/>
            <a:ext cx="8267830" cy="65617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42"/>
          <p:cNvPicPr preferRelativeResize="0"/>
          <p:nvPr/>
        </p:nvPicPr>
        <p:blipFill>
          <a:blip r:embed="rId3">
            <a:alphaModFix/>
          </a:blip>
          <a:stretch>
            <a:fillRect/>
          </a:stretch>
        </p:blipFill>
        <p:spPr>
          <a:xfrm>
            <a:off x="10364126" y="1696317"/>
            <a:ext cx="6746304" cy="2695088"/>
          </a:xfrm>
          <a:prstGeom prst="rect">
            <a:avLst/>
          </a:prstGeom>
          <a:noFill/>
          <a:ln>
            <a:noFill/>
          </a:ln>
        </p:spPr>
      </p:pic>
      <p:pic>
        <p:nvPicPr>
          <p:cNvPr id="315" name="Google Shape;315;p42"/>
          <p:cNvPicPr preferRelativeResize="0"/>
          <p:nvPr/>
        </p:nvPicPr>
        <p:blipFill>
          <a:blip r:embed="rId4">
            <a:alphaModFix/>
          </a:blip>
          <a:stretch>
            <a:fillRect/>
          </a:stretch>
        </p:blipFill>
        <p:spPr>
          <a:xfrm>
            <a:off x="12220076" y="5617538"/>
            <a:ext cx="5170037" cy="4489291"/>
          </a:xfrm>
          <a:prstGeom prst="rect">
            <a:avLst/>
          </a:prstGeom>
          <a:noFill/>
          <a:ln>
            <a:noFill/>
          </a:ln>
        </p:spPr>
      </p:pic>
      <p:sp>
        <p:nvSpPr>
          <p:cNvPr id="316" name="Google Shape;316;p42"/>
          <p:cNvSpPr txBox="1">
            <a:spLocks noGrp="1"/>
          </p:cNvSpPr>
          <p:nvPr>
            <p:ph type="title" idx="4294967295"/>
          </p:nvPr>
        </p:nvSpPr>
        <p:spPr>
          <a:xfrm>
            <a:off x="1472343" y="433384"/>
            <a:ext cx="15356015" cy="1146754"/>
          </a:xfrm>
          <a:prstGeom prst="rect">
            <a:avLst/>
          </a:prstGeom>
        </p:spPr>
        <p:txBody>
          <a:bodyPr spcFirstLastPara="1" wrap="square" lIns="164768" tIns="82362" rIns="164768" bIns="82362" anchor="ctr" anchorCtr="0">
            <a:noAutofit/>
          </a:bodyPr>
          <a:lstStyle/>
          <a:p>
            <a:pPr algn="l" rtl="0"/>
            <a:r>
              <a:rPr lang="en" dirty="0">
                <a:solidFill>
                  <a:schemeClr val="tx1"/>
                </a:solidFill>
              </a:rPr>
              <a:t>Layers</a:t>
            </a:r>
            <a:endParaRPr dirty="0">
              <a:solidFill>
                <a:schemeClr val="tx1"/>
              </a:solidFill>
            </a:endParaRPr>
          </a:p>
        </p:txBody>
      </p:sp>
      <p:sp>
        <p:nvSpPr>
          <p:cNvPr id="317" name="Google Shape;317;p42"/>
          <p:cNvSpPr txBox="1">
            <a:spLocks noGrp="1"/>
          </p:cNvSpPr>
          <p:nvPr>
            <p:ph type="body" idx="4294967295"/>
          </p:nvPr>
        </p:nvSpPr>
        <p:spPr>
          <a:xfrm>
            <a:off x="1472343" y="1697423"/>
            <a:ext cx="11885475" cy="7547166"/>
          </a:xfrm>
          <a:prstGeom prst="rect">
            <a:avLst/>
          </a:prstGeom>
        </p:spPr>
        <p:txBody>
          <a:bodyPr spcFirstLastPara="1" wrap="square" lIns="164768" tIns="82362" rIns="164768" bIns="82362" anchor="t" anchorCtr="0">
            <a:noAutofit/>
          </a:bodyPr>
          <a:lstStyle/>
          <a:p>
            <a:pPr marL="823966" indent="-686638" algn="l" rtl="0">
              <a:spcBef>
                <a:spcPts val="1352"/>
              </a:spcBef>
              <a:buSzPts val="2400"/>
              <a:buChar char="•"/>
            </a:pPr>
            <a:r>
              <a:rPr lang="en" sz="4325" dirty="0">
                <a:solidFill>
                  <a:schemeClr val="tx1"/>
                </a:solidFill>
              </a:rPr>
              <a:t>Data processing modules</a:t>
            </a:r>
            <a:endParaRPr sz="4325" dirty="0">
              <a:solidFill>
                <a:schemeClr val="tx1"/>
              </a:solidFill>
            </a:endParaRPr>
          </a:p>
          <a:p>
            <a:pPr marL="823966" indent="-686638" algn="l" rtl="0">
              <a:buSzPts val="2400"/>
              <a:buChar char="•"/>
            </a:pPr>
            <a:r>
              <a:rPr lang="en" sz="4325" dirty="0">
                <a:solidFill>
                  <a:schemeClr val="tx1"/>
                </a:solidFill>
              </a:rPr>
              <a:t>Many different kinds exist</a:t>
            </a:r>
            <a:endParaRPr sz="4325" dirty="0">
              <a:solidFill>
                <a:schemeClr val="tx1"/>
              </a:solidFill>
            </a:endParaRPr>
          </a:p>
          <a:p>
            <a:pPr marL="1647932" lvl="1" indent="-663750" algn="l" rtl="0">
              <a:buSzPts val="2200"/>
              <a:buChar char="•"/>
            </a:pPr>
            <a:r>
              <a:rPr lang="en" sz="3965" dirty="0">
                <a:solidFill>
                  <a:schemeClr val="tx1"/>
                </a:solidFill>
              </a:rPr>
              <a:t>densely connected</a:t>
            </a:r>
            <a:endParaRPr sz="3965" dirty="0">
              <a:solidFill>
                <a:schemeClr val="tx1"/>
              </a:solidFill>
            </a:endParaRPr>
          </a:p>
          <a:p>
            <a:pPr marL="1647932" lvl="1" indent="-663750" algn="l" rtl="0">
              <a:buSzPts val="2200"/>
              <a:buChar char="•"/>
            </a:pPr>
            <a:r>
              <a:rPr lang="en" sz="3965" dirty="0">
                <a:solidFill>
                  <a:schemeClr val="tx1"/>
                </a:solidFill>
              </a:rPr>
              <a:t>convolutional</a:t>
            </a:r>
            <a:endParaRPr sz="3965" dirty="0">
              <a:solidFill>
                <a:schemeClr val="tx1"/>
              </a:solidFill>
            </a:endParaRPr>
          </a:p>
          <a:p>
            <a:pPr marL="1647932" lvl="1" indent="-663750" algn="l" rtl="0">
              <a:buSzPts val="2200"/>
              <a:buChar char="•"/>
            </a:pPr>
            <a:r>
              <a:rPr lang="en" sz="3965" dirty="0">
                <a:solidFill>
                  <a:schemeClr val="tx1"/>
                </a:solidFill>
              </a:rPr>
              <a:t>recurrent</a:t>
            </a:r>
            <a:endParaRPr sz="3965" dirty="0">
              <a:solidFill>
                <a:schemeClr val="tx1"/>
              </a:solidFill>
            </a:endParaRPr>
          </a:p>
          <a:p>
            <a:pPr marL="1647932" lvl="1" indent="-663750" algn="l" rtl="0">
              <a:buSzPts val="2200"/>
              <a:buChar char="•"/>
            </a:pPr>
            <a:r>
              <a:rPr lang="en" sz="3965" dirty="0">
                <a:solidFill>
                  <a:schemeClr val="tx1"/>
                </a:solidFill>
              </a:rPr>
              <a:t>pooling, flattening, merging, normalization, etc.</a:t>
            </a:r>
            <a:endParaRPr sz="3965" dirty="0">
              <a:solidFill>
                <a:schemeClr val="tx1"/>
              </a:solidFill>
            </a:endParaRPr>
          </a:p>
          <a:p>
            <a:pPr marL="823966" indent="-686638" algn="l" rtl="0">
              <a:buSzPts val="2400"/>
              <a:buChar char="•"/>
            </a:pPr>
            <a:r>
              <a:rPr lang="en" sz="4325" dirty="0">
                <a:solidFill>
                  <a:schemeClr val="tx1"/>
                </a:solidFill>
              </a:rPr>
              <a:t>Input: one or more tensors</a:t>
            </a:r>
            <a:br>
              <a:rPr lang="en" sz="4325" dirty="0">
                <a:solidFill>
                  <a:schemeClr val="tx1"/>
                </a:solidFill>
              </a:rPr>
            </a:br>
            <a:r>
              <a:rPr lang="en" sz="4325" dirty="0">
                <a:solidFill>
                  <a:schemeClr val="tx1"/>
                </a:solidFill>
              </a:rPr>
              <a:t>output: one or more tensors</a:t>
            </a:r>
            <a:endParaRPr sz="4325" dirty="0">
              <a:solidFill>
                <a:schemeClr val="tx1"/>
              </a:solidFill>
            </a:endParaRPr>
          </a:p>
          <a:p>
            <a:pPr marL="823966" indent="-686638" algn="l" rtl="0">
              <a:buSzPts val="2400"/>
              <a:buChar char="•"/>
            </a:pPr>
            <a:r>
              <a:rPr lang="en" sz="4325" dirty="0">
                <a:solidFill>
                  <a:schemeClr val="tx1"/>
                </a:solidFill>
              </a:rPr>
              <a:t>Usually have a state, encoded as </a:t>
            </a:r>
            <a:r>
              <a:rPr lang="en" sz="4325" b="1" dirty="0">
                <a:solidFill>
                  <a:schemeClr val="tx1"/>
                </a:solidFill>
              </a:rPr>
              <a:t>weights</a:t>
            </a:r>
            <a:endParaRPr sz="4325" b="1" dirty="0">
              <a:solidFill>
                <a:schemeClr val="tx1"/>
              </a:solidFill>
            </a:endParaRPr>
          </a:p>
          <a:p>
            <a:pPr marL="1647932" lvl="1" indent="-663750" algn="l" rtl="0">
              <a:buSzPts val="2200"/>
              <a:buChar char="•"/>
            </a:pPr>
            <a:r>
              <a:rPr lang="en" sz="3965" dirty="0">
                <a:solidFill>
                  <a:schemeClr val="tx1"/>
                </a:solidFill>
              </a:rPr>
              <a:t>learned, initially random</a:t>
            </a:r>
            <a:endParaRPr sz="3965" dirty="0">
              <a:solidFill>
                <a:schemeClr val="tx1"/>
              </a:solidFill>
            </a:endParaRPr>
          </a:p>
          <a:p>
            <a:pPr marL="823966" indent="-686638" algn="l" rtl="0">
              <a:buSzPts val="2400"/>
              <a:buChar char="•"/>
            </a:pPr>
            <a:r>
              <a:rPr lang="en" sz="4325" dirty="0">
                <a:solidFill>
                  <a:schemeClr val="tx1"/>
                </a:solidFill>
              </a:rPr>
              <a:t>When combined, form a </a:t>
            </a:r>
            <a:r>
              <a:rPr lang="en" sz="4325" b="1" dirty="0">
                <a:solidFill>
                  <a:schemeClr val="tx1"/>
                </a:solidFill>
              </a:rPr>
              <a:t>network</a:t>
            </a:r>
            <a:r>
              <a:rPr lang="en" sz="4325" dirty="0">
                <a:solidFill>
                  <a:schemeClr val="tx1"/>
                </a:solidFill>
              </a:rPr>
              <a:t> or</a:t>
            </a:r>
            <a:br>
              <a:rPr lang="en" sz="4325" dirty="0">
                <a:solidFill>
                  <a:schemeClr val="tx1"/>
                </a:solidFill>
              </a:rPr>
            </a:br>
            <a:r>
              <a:rPr lang="en" sz="4325" dirty="0">
                <a:solidFill>
                  <a:schemeClr val="tx1"/>
                </a:solidFill>
              </a:rPr>
              <a:t>a </a:t>
            </a:r>
            <a:r>
              <a:rPr lang="en" sz="4325" b="1" dirty="0">
                <a:solidFill>
                  <a:schemeClr val="tx1"/>
                </a:solidFill>
              </a:rPr>
              <a:t>model</a:t>
            </a:r>
            <a:r>
              <a:rPr lang="en" sz="4325" dirty="0">
                <a:solidFill>
                  <a:schemeClr val="tx1"/>
                </a:solidFill>
              </a:rPr>
              <a:t> </a:t>
            </a:r>
            <a:endParaRPr sz="4325"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3"/>
          <p:cNvSpPr txBox="1">
            <a:spLocks noGrp="1"/>
          </p:cNvSpPr>
          <p:nvPr>
            <p:ph type="title" idx="4294967295"/>
          </p:nvPr>
        </p:nvSpPr>
        <p:spPr>
          <a:xfrm>
            <a:off x="1472343" y="891148"/>
            <a:ext cx="15356015" cy="1146754"/>
          </a:xfrm>
          <a:prstGeom prst="rect">
            <a:avLst/>
          </a:prstGeom>
        </p:spPr>
        <p:txBody>
          <a:bodyPr spcFirstLastPara="1" wrap="square" lIns="164768" tIns="82362" rIns="164768" bIns="82362" anchor="ctr" anchorCtr="0">
            <a:noAutofit/>
          </a:bodyPr>
          <a:lstStyle/>
          <a:p>
            <a:pPr algn="l" rtl="0"/>
            <a:r>
              <a:rPr lang="en" dirty="0">
                <a:solidFill>
                  <a:schemeClr val="tx1"/>
                </a:solidFill>
              </a:rPr>
              <a:t>Input data and targets</a:t>
            </a:r>
            <a:endParaRPr dirty="0">
              <a:solidFill>
                <a:schemeClr val="tx1"/>
              </a:solidFill>
            </a:endParaRPr>
          </a:p>
        </p:txBody>
      </p:sp>
      <p:sp>
        <p:nvSpPr>
          <p:cNvPr id="323" name="Google Shape;323;p43"/>
          <p:cNvSpPr txBox="1">
            <a:spLocks noGrp="1"/>
          </p:cNvSpPr>
          <p:nvPr>
            <p:ph type="body" idx="4294967295"/>
          </p:nvPr>
        </p:nvSpPr>
        <p:spPr>
          <a:xfrm>
            <a:off x="1472343" y="2307796"/>
            <a:ext cx="9250266" cy="6034381"/>
          </a:xfrm>
          <a:prstGeom prst="rect">
            <a:avLst/>
          </a:prstGeom>
        </p:spPr>
        <p:txBody>
          <a:bodyPr spcFirstLastPara="1" wrap="square" lIns="164768" tIns="82362" rIns="164768" bIns="82362" anchor="t" anchorCtr="0">
            <a:noAutofit/>
          </a:bodyPr>
          <a:lstStyle/>
          <a:p>
            <a:pPr algn="l" rtl="0">
              <a:spcBef>
                <a:spcPts val="1352"/>
              </a:spcBef>
            </a:pPr>
            <a:endParaRPr sz="4325" dirty="0">
              <a:solidFill>
                <a:schemeClr val="tx1"/>
              </a:solidFill>
            </a:endParaRPr>
          </a:p>
          <a:p>
            <a:pPr marL="823966" indent="-686638" algn="l" rtl="0">
              <a:spcBef>
                <a:spcPts val="1802"/>
              </a:spcBef>
              <a:buSzPts val="2400"/>
              <a:buChar char="•"/>
            </a:pPr>
            <a:r>
              <a:rPr lang="en" sz="4325" dirty="0">
                <a:solidFill>
                  <a:schemeClr val="tx1"/>
                </a:solidFill>
              </a:rPr>
              <a:t>The network maps the input data X to predictions Y′</a:t>
            </a:r>
            <a:endParaRPr sz="4325" dirty="0">
              <a:solidFill>
                <a:schemeClr val="tx1"/>
              </a:solidFill>
            </a:endParaRPr>
          </a:p>
          <a:p>
            <a:pPr marL="823966" indent="-686638" algn="l" rtl="0">
              <a:buSzPts val="2400"/>
              <a:buChar char="•"/>
            </a:pPr>
            <a:r>
              <a:rPr lang="en" sz="4325" dirty="0">
                <a:solidFill>
                  <a:schemeClr val="tx1"/>
                </a:solidFill>
              </a:rPr>
              <a:t>During training, the predictions Y′ are compared to true targets Y using the loss function</a:t>
            </a:r>
            <a:endParaRPr sz="4325" dirty="0">
              <a:solidFill>
                <a:schemeClr val="tx1"/>
              </a:solidFill>
            </a:endParaRPr>
          </a:p>
        </p:txBody>
      </p:sp>
      <p:pic>
        <p:nvPicPr>
          <p:cNvPr id="324" name="Google Shape;324;p43"/>
          <p:cNvPicPr preferRelativeResize="0"/>
          <p:nvPr/>
        </p:nvPicPr>
        <p:blipFill>
          <a:blip r:embed="rId3">
            <a:alphaModFix/>
          </a:blip>
          <a:stretch>
            <a:fillRect/>
          </a:stretch>
        </p:blipFill>
        <p:spPr>
          <a:xfrm>
            <a:off x="11427868" y="6069685"/>
            <a:ext cx="4509803" cy="3466800"/>
          </a:xfrm>
          <a:prstGeom prst="rect">
            <a:avLst/>
          </a:prstGeom>
          <a:noFill/>
          <a:ln>
            <a:noFill/>
          </a:ln>
        </p:spPr>
      </p:pic>
      <p:pic>
        <p:nvPicPr>
          <p:cNvPr id="325" name="Google Shape;325;p43"/>
          <p:cNvPicPr preferRelativeResize="0"/>
          <p:nvPr/>
        </p:nvPicPr>
        <p:blipFill>
          <a:blip r:embed="rId4">
            <a:alphaModFix/>
          </a:blip>
          <a:stretch>
            <a:fillRect/>
          </a:stretch>
        </p:blipFill>
        <p:spPr>
          <a:xfrm>
            <a:off x="10307917" y="7000791"/>
            <a:ext cx="1207514" cy="1790809"/>
          </a:xfrm>
          <a:prstGeom prst="rect">
            <a:avLst/>
          </a:prstGeom>
          <a:noFill/>
          <a:ln>
            <a:noFill/>
          </a:ln>
        </p:spPr>
      </p:pic>
      <p:sp>
        <p:nvSpPr>
          <p:cNvPr id="326" name="Google Shape;326;p43"/>
          <p:cNvSpPr txBox="1"/>
          <p:nvPr/>
        </p:nvSpPr>
        <p:spPr>
          <a:xfrm>
            <a:off x="15739811" y="7242331"/>
            <a:ext cx="1207309" cy="676374"/>
          </a:xfrm>
          <a:prstGeom prst="rect">
            <a:avLst/>
          </a:prstGeom>
          <a:noFill/>
          <a:ln>
            <a:noFill/>
          </a:ln>
        </p:spPr>
        <p:txBody>
          <a:bodyPr spcFirstLastPara="1" wrap="square" lIns="164768" tIns="164768" rIns="164768" bIns="164768" anchor="t" anchorCtr="0">
            <a:noAutofit/>
          </a:bodyPr>
          <a:lstStyle/>
          <a:p>
            <a:pPr algn="l" rtl="0"/>
            <a:r>
              <a:rPr lang="en" sz="3244" b="1"/>
              <a:t>cat</a:t>
            </a:r>
            <a:endParaRPr sz="3244" b="1"/>
          </a:p>
        </p:txBody>
      </p:sp>
      <p:sp>
        <p:nvSpPr>
          <p:cNvPr id="327" name="Google Shape;327;p43"/>
          <p:cNvSpPr txBox="1"/>
          <p:nvPr/>
        </p:nvSpPr>
        <p:spPr>
          <a:xfrm>
            <a:off x="15739820" y="7980629"/>
            <a:ext cx="1022401" cy="676374"/>
          </a:xfrm>
          <a:prstGeom prst="rect">
            <a:avLst/>
          </a:prstGeom>
          <a:noFill/>
          <a:ln>
            <a:noFill/>
          </a:ln>
        </p:spPr>
        <p:txBody>
          <a:bodyPr spcFirstLastPara="1" wrap="square" lIns="164768" tIns="164768" rIns="164768" bIns="164768" anchor="t" anchorCtr="0">
            <a:noAutofit/>
          </a:bodyPr>
          <a:lstStyle/>
          <a:p>
            <a:pPr algn="l" rtl="0"/>
            <a:r>
              <a:rPr lang="en" sz="3244">
                <a:solidFill>
                  <a:srgbClr val="999999"/>
                </a:solidFill>
              </a:rPr>
              <a:t>dog</a:t>
            </a:r>
            <a:endParaRPr sz="3244">
              <a:solidFill>
                <a:srgbClr val="999999"/>
              </a:solidFill>
            </a:endParaRPr>
          </a:p>
        </p:txBody>
      </p:sp>
      <p:pic>
        <p:nvPicPr>
          <p:cNvPr id="328" name="Google Shape;328;p43"/>
          <p:cNvPicPr preferRelativeResize="0"/>
          <p:nvPr/>
        </p:nvPicPr>
        <p:blipFill rotWithShape="1">
          <a:blip r:embed="rId5">
            <a:alphaModFix/>
          </a:blip>
          <a:srcRect l="30545" r="33070" b="34119"/>
          <a:stretch/>
        </p:blipFill>
        <p:spPr>
          <a:xfrm>
            <a:off x="13444505" y="789123"/>
            <a:ext cx="3008269" cy="48033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4"/>
          <p:cNvSpPr txBox="1">
            <a:spLocks noGrp="1"/>
          </p:cNvSpPr>
          <p:nvPr>
            <p:ph type="title"/>
          </p:nvPr>
        </p:nvSpPr>
        <p:spPr>
          <a:xfrm>
            <a:off x="1472343" y="891148"/>
            <a:ext cx="15356015" cy="1146754"/>
          </a:xfrm>
          <a:prstGeom prst="rect">
            <a:avLst/>
          </a:prstGeom>
        </p:spPr>
        <p:txBody>
          <a:bodyPr spcFirstLastPara="1" wrap="square" lIns="164768" tIns="82362" rIns="164768" bIns="82362" anchor="ctr" anchorCtr="0">
            <a:noAutofit/>
          </a:bodyPr>
          <a:lstStyle/>
          <a:p>
            <a:pPr algn="l"/>
            <a:r>
              <a:rPr lang="en" dirty="0">
                <a:solidFill>
                  <a:schemeClr val="tx1"/>
                </a:solidFill>
              </a:rPr>
              <a:t>Loss function</a:t>
            </a:r>
            <a:endParaRPr dirty="0">
              <a:solidFill>
                <a:schemeClr val="tx1"/>
              </a:solidFill>
            </a:endParaRPr>
          </a:p>
        </p:txBody>
      </p:sp>
      <p:sp>
        <p:nvSpPr>
          <p:cNvPr id="334" name="Google Shape;334;p44"/>
          <p:cNvSpPr txBox="1">
            <a:spLocks noGrp="1"/>
          </p:cNvSpPr>
          <p:nvPr>
            <p:ph type="body" idx="1"/>
          </p:nvPr>
        </p:nvSpPr>
        <p:spPr>
          <a:xfrm>
            <a:off x="1472343" y="2155207"/>
            <a:ext cx="14696942" cy="8144062"/>
          </a:xfrm>
          <a:prstGeom prst="rect">
            <a:avLst/>
          </a:prstGeom>
        </p:spPr>
        <p:txBody>
          <a:bodyPr spcFirstLastPara="1" wrap="square" lIns="164768" tIns="82362" rIns="164768" bIns="82362" anchor="t" anchorCtr="0">
            <a:noAutofit/>
          </a:bodyPr>
          <a:lstStyle/>
          <a:p>
            <a:pPr indent="-686638" algn="l">
              <a:buSzPts val="2400"/>
            </a:pPr>
            <a:r>
              <a:rPr lang="en" sz="4325" dirty="0">
                <a:solidFill>
                  <a:schemeClr val="tx1"/>
                </a:solidFill>
              </a:rPr>
              <a:t>The quantity to be minimized (optimized) during training</a:t>
            </a:r>
            <a:endParaRPr sz="4325" dirty="0">
              <a:solidFill>
                <a:schemeClr val="tx1"/>
              </a:solidFill>
            </a:endParaRPr>
          </a:p>
          <a:p>
            <a:pPr lvl="1" indent="-686638" algn="l">
              <a:buSzPts val="2400"/>
            </a:pPr>
            <a:r>
              <a:rPr lang="en" sz="4325" dirty="0">
                <a:solidFill>
                  <a:schemeClr val="tx1"/>
                </a:solidFill>
              </a:rPr>
              <a:t>the only thing </a:t>
            </a:r>
            <a:r>
              <a:rPr lang="en" sz="4325" b="1" dirty="0">
                <a:solidFill>
                  <a:schemeClr val="tx1"/>
                </a:solidFill>
              </a:rPr>
              <a:t>the network</a:t>
            </a:r>
            <a:r>
              <a:rPr lang="en" sz="4325" dirty="0">
                <a:solidFill>
                  <a:schemeClr val="tx1"/>
                </a:solidFill>
              </a:rPr>
              <a:t> cares about</a:t>
            </a:r>
            <a:endParaRPr sz="4325" dirty="0">
              <a:solidFill>
                <a:schemeClr val="tx1"/>
              </a:solidFill>
            </a:endParaRPr>
          </a:p>
          <a:p>
            <a:pPr lvl="1" indent="-686638" algn="l">
              <a:buSzPts val="2400"/>
            </a:pPr>
            <a:r>
              <a:rPr lang="en" sz="4325" dirty="0">
                <a:solidFill>
                  <a:schemeClr val="tx1"/>
                </a:solidFill>
              </a:rPr>
              <a:t>there might also be other metrics </a:t>
            </a:r>
            <a:r>
              <a:rPr lang="en" sz="4325" b="1" dirty="0">
                <a:solidFill>
                  <a:schemeClr val="tx1"/>
                </a:solidFill>
              </a:rPr>
              <a:t>you</a:t>
            </a:r>
            <a:r>
              <a:rPr lang="en" sz="4325" dirty="0">
                <a:solidFill>
                  <a:schemeClr val="tx1"/>
                </a:solidFill>
              </a:rPr>
              <a:t> care about</a:t>
            </a:r>
            <a:endParaRPr sz="4325" dirty="0">
              <a:solidFill>
                <a:schemeClr val="tx1"/>
              </a:solidFill>
            </a:endParaRPr>
          </a:p>
          <a:p>
            <a:pPr indent="-686638" algn="l">
              <a:spcBef>
                <a:spcPts val="1802"/>
              </a:spcBef>
              <a:buSzPts val="2400"/>
            </a:pPr>
            <a:r>
              <a:rPr lang="en" sz="4325" dirty="0">
                <a:solidFill>
                  <a:schemeClr val="tx1"/>
                </a:solidFill>
              </a:rPr>
              <a:t>Common tasks have “standard” loss functions:</a:t>
            </a:r>
            <a:endParaRPr sz="4325" dirty="0">
              <a:solidFill>
                <a:schemeClr val="tx1"/>
              </a:solidFill>
            </a:endParaRPr>
          </a:p>
          <a:p>
            <a:pPr lvl="1" indent="-686638" algn="l">
              <a:spcBef>
                <a:spcPts val="0"/>
              </a:spcBef>
              <a:buSzPts val="2400"/>
            </a:pPr>
            <a:r>
              <a:rPr lang="en" sz="4325" i="1" dirty="0">
                <a:solidFill>
                  <a:schemeClr val="tx1"/>
                </a:solidFill>
              </a:rPr>
              <a:t>mean squared error</a:t>
            </a:r>
            <a:r>
              <a:rPr lang="en" sz="4325" dirty="0">
                <a:solidFill>
                  <a:schemeClr val="tx1"/>
                </a:solidFill>
              </a:rPr>
              <a:t> for regression</a:t>
            </a:r>
            <a:endParaRPr sz="4325" dirty="0">
              <a:solidFill>
                <a:schemeClr val="tx1"/>
              </a:solidFill>
            </a:endParaRPr>
          </a:p>
          <a:p>
            <a:pPr lvl="1" indent="-686638" algn="l">
              <a:spcBef>
                <a:spcPts val="0"/>
              </a:spcBef>
              <a:buSzPts val="2400"/>
            </a:pPr>
            <a:r>
              <a:rPr lang="en" sz="4325" i="1" dirty="0">
                <a:solidFill>
                  <a:schemeClr val="tx1"/>
                </a:solidFill>
              </a:rPr>
              <a:t>binary cross-entropy</a:t>
            </a:r>
            <a:r>
              <a:rPr lang="en" sz="4325" dirty="0">
                <a:solidFill>
                  <a:schemeClr val="tx1"/>
                </a:solidFill>
              </a:rPr>
              <a:t> for two-class classification</a:t>
            </a:r>
            <a:endParaRPr sz="4325" dirty="0">
              <a:solidFill>
                <a:schemeClr val="tx1"/>
              </a:solidFill>
            </a:endParaRPr>
          </a:p>
          <a:p>
            <a:pPr lvl="1" indent="-686638" algn="l">
              <a:spcBef>
                <a:spcPts val="0"/>
              </a:spcBef>
              <a:buSzPts val="2400"/>
            </a:pPr>
            <a:r>
              <a:rPr lang="en" sz="4325" i="1" dirty="0">
                <a:solidFill>
                  <a:schemeClr val="tx1"/>
                </a:solidFill>
              </a:rPr>
              <a:t>categorical cross-entropy</a:t>
            </a:r>
            <a:r>
              <a:rPr lang="en" sz="4325" dirty="0">
                <a:solidFill>
                  <a:schemeClr val="tx1"/>
                </a:solidFill>
              </a:rPr>
              <a:t> for multi-class classification</a:t>
            </a:r>
            <a:endParaRPr sz="4325" dirty="0">
              <a:solidFill>
                <a:schemeClr val="tx1"/>
              </a:solidFill>
            </a:endParaRPr>
          </a:p>
          <a:p>
            <a:pPr lvl="1" indent="-686638" algn="l">
              <a:buSzPts val="2400"/>
            </a:pPr>
            <a:r>
              <a:rPr lang="en" sz="4325" dirty="0">
                <a:solidFill>
                  <a:schemeClr val="tx1"/>
                </a:solidFill>
              </a:rPr>
              <a:t>etc.</a:t>
            </a:r>
            <a:endParaRPr sz="4325" dirty="0">
              <a:solidFill>
                <a:schemeClr val="tx1"/>
              </a:solidFill>
            </a:endParaRPr>
          </a:p>
          <a:p>
            <a:pPr indent="-686638" algn="l">
              <a:spcBef>
                <a:spcPts val="1802"/>
              </a:spcBef>
              <a:buSzPts val="2400"/>
            </a:pPr>
            <a:r>
              <a:rPr lang="en" sz="4325" u="sng" dirty="0">
                <a:solidFill>
                  <a:schemeClr val="tx1"/>
                </a:solidFill>
                <a:hlinkClick r:id="rId3">
                  <a:extLst>
                    <a:ext uri="{A12FA001-AC4F-418D-AE19-62706E023703}">
                      <ahyp:hlinkClr xmlns:ahyp="http://schemas.microsoft.com/office/drawing/2018/hyperlinkcolor" val="tx"/>
                    </a:ext>
                  </a:extLst>
                </a:hlinkClick>
              </a:rPr>
              <a:t>https://lossfunctions.tumblr.com/</a:t>
            </a:r>
            <a:r>
              <a:rPr lang="en" sz="4325" dirty="0">
                <a:solidFill>
                  <a:schemeClr val="tx1"/>
                </a:solidFill>
              </a:rPr>
              <a:t> </a:t>
            </a:r>
            <a:endParaRPr sz="4325"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5"/>
          <p:cNvSpPr txBox="1">
            <a:spLocks noGrp="1"/>
          </p:cNvSpPr>
          <p:nvPr>
            <p:ph type="title"/>
          </p:nvPr>
        </p:nvSpPr>
        <p:spPr>
          <a:xfrm>
            <a:off x="1472343" y="891148"/>
            <a:ext cx="15356015" cy="1146754"/>
          </a:xfrm>
          <a:prstGeom prst="rect">
            <a:avLst/>
          </a:prstGeom>
        </p:spPr>
        <p:txBody>
          <a:bodyPr spcFirstLastPara="1" wrap="square" lIns="164768" tIns="82362" rIns="164768" bIns="82362" anchor="ctr" anchorCtr="0">
            <a:noAutofit/>
          </a:bodyPr>
          <a:lstStyle/>
          <a:p>
            <a:pPr algn="l"/>
            <a:r>
              <a:rPr lang="en" dirty="0">
                <a:solidFill>
                  <a:schemeClr val="tx1"/>
                </a:solidFill>
              </a:rPr>
              <a:t>Optimizer</a:t>
            </a:r>
            <a:endParaRPr dirty="0">
              <a:solidFill>
                <a:schemeClr val="tx1"/>
              </a:solidFill>
            </a:endParaRPr>
          </a:p>
        </p:txBody>
      </p:sp>
      <p:sp>
        <p:nvSpPr>
          <p:cNvPr id="340" name="Google Shape;340;p45"/>
          <p:cNvSpPr txBox="1">
            <a:spLocks noGrp="1"/>
          </p:cNvSpPr>
          <p:nvPr>
            <p:ph type="body" idx="1"/>
          </p:nvPr>
        </p:nvSpPr>
        <p:spPr>
          <a:xfrm>
            <a:off x="1472343" y="2612972"/>
            <a:ext cx="7927255" cy="7610424"/>
          </a:xfrm>
          <a:prstGeom prst="rect">
            <a:avLst/>
          </a:prstGeom>
        </p:spPr>
        <p:txBody>
          <a:bodyPr spcFirstLastPara="1" wrap="square" lIns="164768" tIns="82362" rIns="164768" bIns="82362" anchor="t" anchorCtr="0">
            <a:noAutofit/>
          </a:bodyPr>
          <a:lstStyle/>
          <a:p>
            <a:pPr indent="-686638" algn="l">
              <a:buSzPts val="2400"/>
            </a:pPr>
            <a:r>
              <a:rPr lang="en" sz="4325" dirty="0">
                <a:solidFill>
                  <a:schemeClr val="tx1"/>
                </a:solidFill>
              </a:rPr>
              <a:t>How to update the weights based on the loss function</a:t>
            </a:r>
            <a:endParaRPr sz="4325" dirty="0">
              <a:solidFill>
                <a:schemeClr val="tx1"/>
              </a:solidFill>
            </a:endParaRPr>
          </a:p>
          <a:p>
            <a:pPr indent="-686638" algn="l">
              <a:spcBef>
                <a:spcPts val="1802"/>
              </a:spcBef>
              <a:buSzPts val="2400"/>
            </a:pPr>
            <a:r>
              <a:rPr lang="en" sz="4325" i="1" dirty="0">
                <a:solidFill>
                  <a:schemeClr val="tx1"/>
                </a:solidFill>
              </a:rPr>
              <a:t>Learning rate (+scheduling)</a:t>
            </a:r>
            <a:endParaRPr sz="4325" i="1" dirty="0">
              <a:solidFill>
                <a:schemeClr val="tx1"/>
              </a:solidFill>
            </a:endParaRPr>
          </a:p>
          <a:p>
            <a:pPr indent="-686638" algn="l">
              <a:spcBef>
                <a:spcPts val="1802"/>
              </a:spcBef>
              <a:buSzPts val="2400"/>
            </a:pPr>
            <a:r>
              <a:rPr lang="en" sz="4325" dirty="0">
                <a:solidFill>
                  <a:schemeClr val="tx1"/>
                </a:solidFill>
              </a:rPr>
              <a:t>Stochastic gradient descent, momentum, and their variants</a:t>
            </a:r>
            <a:endParaRPr sz="4325" dirty="0">
              <a:solidFill>
                <a:schemeClr val="tx1"/>
              </a:solidFill>
            </a:endParaRPr>
          </a:p>
          <a:p>
            <a:pPr lvl="1" indent="-663750" algn="l">
              <a:spcBef>
                <a:spcPts val="0"/>
              </a:spcBef>
              <a:buSzPts val="2200"/>
            </a:pPr>
            <a:r>
              <a:rPr lang="en" sz="3965" dirty="0">
                <a:solidFill>
                  <a:schemeClr val="tx1"/>
                </a:solidFill>
              </a:rPr>
              <a:t>RMSProp is usually a good first choice</a:t>
            </a:r>
            <a:endParaRPr sz="3965" dirty="0">
              <a:solidFill>
                <a:schemeClr val="tx1"/>
              </a:solidFill>
            </a:endParaRPr>
          </a:p>
          <a:p>
            <a:pPr lvl="1" indent="-640862" algn="l">
              <a:spcBef>
                <a:spcPts val="0"/>
              </a:spcBef>
              <a:buSzPts val="2000"/>
            </a:pPr>
            <a:r>
              <a:rPr lang="en" sz="3965" dirty="0">
                <a:solidFill>
                  <a:schemeClr val="tx1"/>
                </a:solidFill>
              </a:rPr>
              <a:t>more info: </a:t>
            </a:r>
            <a:r>
              <a:rPr lang="en" sz="2523" u="sng" dirty="0">
                <a:solidFill>
                  <a:schemeClr val="tx1"/>
                </a:solidFill>
                <a:hlinkClick r:id="rId3">
                  <a:extLst>
                    <a:ext uri="{A12FA001-AC4F-418D-AE19-62706E023703}">
                      <ahyp:hlinkClr xmlns:ahyp="http://schemas.microsoft.com/office/drawing/2018/hyperlinkcolor" val="tx"/>
                    </a:ext>
                  </a:extLst>
                </a:hlinkClick>
              </a:rPr>
              <a:t>http://ruder.io/optimizing-gradient-descent/</a:t>
            </a:r>
            <a:r>
              <a:rPr lang="en" sz="2523" dirty="0">
                <a:solidFill>
                  <a:schemeClr val="tx1"/>
                </a:solidFill>
              </a:rPr>
              <a:t> </a:t>
            </a:r>
            <a:endParaRPr sz="2523" dirty="0">
              <a:solidFill>
                <a:schemeClr val="tx1"/>
              </a:solidFill>
            </a:endParaRPr>
          </a:p>
        </p:txBody>
      </p:sp>
      <p:pic>
        <p:nvPicPr>
          <p:cNvPr id="341" name="Google Shape;341;p45"/>
          <p:cNvPicPr preferRelativeResize="0"/>
          <p:nvPr/>
        </p:nvPicPr>
        <p:blipFill>
          <a:blip r:embed="rId4">
            <a:alphaModFix/>
          </a:blip>
          <a:stretch>
            <a:fillRect/>
          </a:stretch>
        </p:blipFill>
        <p:spPr>
          <a:xfrm>
            <a:off x="9934857" y="3014527"/>
            <a:ext cx="6866467" cy="6849301"/>
          </a:xfrm>
          <a:prstGeom prst="rect">
            <a:avLst/>
          </a:prstGeom>
          <a:noFill/>
          <a:ln>
            <a:noFill/>
          </a:ln>
        </p:spPr>
      </p:pic>
      <p:sp>
        <p:nvSpPr>
          <p:cNvPr id="342" name="Google Shape;342;p45"/>
          <p:cNvSpPr txBox="1"/>
          <p:nvPr/>
        </p:nvSpPr>
        <p:spPr>
          <a:xfrm>
            <a:off x="11491752" y="9878340"/>
            <a:ext cx="3903073" cy="558509"/>
          </a:xfrm>
          <a:prstGeom prst="rect">
            <a:avLst/>
          </a:prstGeom>
          <a:noFill/>
          <a:ln>
            <a:noFill/>
          </a:ln>
        </p:spPr>
        <p:txBody>
          <a:bodyPr spcFirstLastPara="1" wrap="square" lIns="164768" tIns="164768" rIns="164768" bIns="164768" anchor="t" anchorCtr="0">
            <a:noAutofit/>
          </a:bodyPr>
          <a:lstStyle/>
          <a:p>
            <a:pPr algn="l" rtl="0"/>
            <a:r>
              <a:rPr lang="en" sz="1442"/>
              <a:t>Animation from: </a:t>
            </a:r>
            <a:r>
              <a:rPr lang="en" sz="1442" u="sng">
                <a:solidFill>
                  <a:schemeClr val="hlink"/>
                </a:solidFill>
                <a:hlinkClick r:id="rId5"/>
              </a:rPr>
              <a:t>https://imgur.com/s25RsOr</a:t>
            </a:r>
            <a:r>
              <a:rPr lang="en" sz="1442"/>
              <a:t> </a:t>
            </a:r>
            <a:endParaRPr sz="1442"/>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a:spLocks noGrp="1"/>
          </p:cNvSpPr>
          <p:nvPr>
            <p:ph type="title" idx="4294967295"/>
          </p:nvPr>
        </p:nvSpPr>
        <p:spPr>
          <a:xfrm>
            <a:off x="1472343" y="891148"/>
            <a:ext cx="15356015" cy="1146754"/>
          </a:xfrm>
          <a:prstGeom prst="rect">
            <a:avLst/>
          </a:prstGeom>
        </p:spPr>
        <p:txBody>
          <a:bodyPr spcFirstLastPara="1" wrap="square" lIns="164768" tIns="82362" rIns="164768" bIns="82362" anchor="ctr" anchorCtr="0">
            <a:noAutofit/>
          </a:bodyPr>
          <a:lstStyle/>
          <a:p>
            <a:pPr algn="l" rtl="0"/>
            <a:r>
              <a:rPr lang="en" dirty="0">
                <a:solidFill>
                  <a:schemeClr val="tx1"/>
                </a:solidFill>
              </a:rPr>
              <a:t>Anatomy of a deep neural network</a:t>
            </a:r>
            <a:endParaRPr dirty="0">
              <a:solidFill>
                <a:schemeClr val="tx1"/>
              </a:solidFill>
            </a:endParaRPr>
          </a:p>
        </p:txBody>
      </p:sp>
      <p:pic>
        <p:nvPicPr>
          <p:cNvPr id="348" name="Google Shape;348;p46"/>
          <p:cNvPicPr preferRelativeResize="0"/>
          <p:nvPr/>
        </p:nvPicPr>
        <p:blipFill>
          <a:blip r:embed="rId3">
            <a:alphaModFix/>
          </a:blip>
          <a:stretch>
            <a:fillRect/>
          </a:stretch>
        </p:blipFill>
        <p:spPr>
          <a:xfrm>
            <a:off x="4442859" y="2347892"/>
            <a:ext cx="9414989" cy="74721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7"/>
          <p:cNvSpPr txBox="1">
            <a:spLocks noGrp="1"/>
          </p:cNvSpPr>
          <p:nvPr>
            <p:ph type="title"/>
          </p:nvPr>
        </p:nvSpPr>
        <p:spPr>
          <a:xfrm>
            <a:off x="2034975" y="2608306"/>
            <a:ext cx="14213586" cy="4284243"/>
          </a:xfrm>
          <a:prstGeom prst="rect">
            <a:avLst/>
          </a:prstGeom>
        </p:spPr>
        <p:txBody>
          <a:bodyPr spcFirstLastPara="1" wrap="square" lIns="164768" tIns="82362" rIns="164768" bIns="82362" anchor="b" anchorCtr="0">
            <a:noAutofit/>
          </a:bodyPr>
          <a:lstStyle/>
          <a:p>
            <a:pPr rtl="0"/>
            <a:r>
              <a:rPr lang="en"/>
              <a:t>Deep learning frameworks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Google Shape;359;p48"/>
          <p:cNvPicPr preferRelativeResize="0"/>
          <p:nvPr/>
        </p:nvPicPr>
        <p:blipFill>
          <a:blip r:embed="rId3">
            <a:alphaModFix/>
          </a:blip>
          <a:stretch>
            <a:fillRect/>
          </a:stretch>
        </p:blipFill>
        <p:spPr>
          <a:xfrm>
            <a:off x="1664865" y="5132504"/>
            <a:ext cx="6201360" cy="3370922"/>
          </a:xfrm>
          <a:prstGeom prst="rect">
            <a:avLst/>
          </a:prstGeom>
          <a:noFill/>
          <a:ln>
            <a:noFill/>
          </a:ln>
        </p:spPr>
      </p:pic>
      <p:pic>
        <p:nvPicPr>
          <p:cNvPr id="360" name="Google Shape;360;p48"/>
          <p:cNvPicPr preferRelativeResize="0"/>
          <p:nvPr/>
        </p:nvPicPr>
        <p:blipFill>
          <a:blip r:embed="rId4">
            <a:alphaModFix/>
          </a:blip>
          <a:stretch>
            <a:fillRect/>
          </a:stretch>
        </p:blipFill>
        <p:spPr>
          <a:xfrm>
            <a:off x="1551641" y="582915"/>
            <a:ext cx="4404226" cy="2996104"/>
          </a:xfrm>
          <a:prstGeom prst="rect">
            <a:avLst/>
          </a:prstGeom>
          <a:noFill/>
          <a:ln>
            <a:noFill/>
          </a:ln>
        </p:spPr>
      </p:pic>
      <p:pic>
        <p:nvPicPr>
          <p:cNvPr id="361" name="Google Shape;361;p48"/>
          <p:cNvPicPr preferRelativeResize="0"/>
          <p:nvPr/>
        </p:nvPicPr>
        <p:blipFill>
          <a:blip r:embed="rId5">
            <a:alphaModFix/>
          </a:blip>
          <a:stretch>
            <a:fillRect/>
          </a:stretch>
        </p:blipFill>
        <p:spPr>
          <a:xfrm>
            <a:off x="7112602" y="582929"/>
            <a:ext cx="4075500" cy="2759202"/>
          </a:xfrm>
          <a:prstGeom prst="rect">
            <a:avLst/>
          </a:prstGeom>
          <a:noFill/>
          <a:ln>
            <a:noFill/>
          </a:ln>
        </p:spPr>
      </p:pic>
      <p:pic>
        <p:nvPicPr>
          <p:cNvPr id="362" name="Google Shape;362;p48"/>
          <p:cNvPicPr preferRelativeResize="0"/>
          <p:nvPr/>
        </p:nvPicPr>
        <p:blipFill>
          <a:blip r:embed="rId6">
            <a:alphaModFix/>
          </a:blip>
          <a:stretch>
            <a:fillRect/>
          </a:stretch>
        </p:blipFill>
        <p:spPr>
          <a:xfrm>
            <a:off x="12619538" y="588510"/>
            <a:ext cx="4404226" cy="2585706"/>
          </a:xfrm>
          <a:prstGeom prst="rect">
            <a:avLst/>
          </a:prstGeom>
          <a:noFill/>
          <a:ln>
            <a:noFill/>
          </a:ln>
        </p:spPr>
      </p:pic>
      <p:pic>
        <p:nvPicPr>
          <p:cNvPr id="363" name="Google Shape;363;p48"/>
          <p:cNvPicPr preferRelativeResize="0"/>
          <p:nvPr/>
        </p:nvPicPr>
        <p:blipFill>
          <a:blip r:embed="rId7">
            <a:alphaModFix/>
          </a:blip>
          <a:stretch>
            <a:fillRect/>
          </a:stretch>
        </p:blipFill>
        <p:spPr>
          <a:xfrm>
            <a:off x="12891574" y="8297477"/>
            <a:ext cx="3028735" cy="2044396"/>
          </a:xfrm>
          <a:prstGeom prst="rect">
            <a:avLst/>
          </a:prstGeom>
          <a:noFill/>
          <a:ln>
            <a:noFill/>
          </a:ln>
        </p:spPr>
      </p:pic>
      <p:pic>
        <p:nvPicPr>
          <p:cNvPr id="364" name="Google Shape;364;p48"/>
          <p:cNvPicPr preferRelativeResize="0"/>
          <p:nvPr/>
        </p:nvPicPr>
        <p:blipFill>
          <a:blip r:embed="rId8">
            <a:alphaModFix/>
          </a:blip>
          <a:stretch>
            <a:fillRect/>
          </a:stretch>
        </p:blipFill>
        <p:spPr>
          <a:xfrm>
            <a:off x="8157732" y="6780489"/>
            <a:ext cx="3370922" cy="3370922"/>
          </a:xfrm>
          <a:prstGeom prst="rect">
            <a:avLst/>
          </a:prstGeom>
          <a:noFill/>
          <a:ln>
            <a:noFill/>
          </a:ln>
        </p:spPr>
      </p:pic>
      <p:pic>
        <p:nvPicPr>
          <p:cNvPr id="365" name="Google Shape;365;p48"/>
          <p:cNvPicPr preferRelativeResize="0"/>
          <p:nvPr/>
        </p:nvPicPr>
        <p:blipFill>
          <a:blip r:embed="rId9">
            <a:alphaModFix/>
          </a:blip>
          <a:stretch>
            <a:fillRect/>
          </a:stretch>
        </p:blipFill>
        <p:spPr>
          <a:xfrm>
            <a:off x="10800915" y="3579026"/>
            <a:ext cx="4643606" cy="901021"/>
          </a:xfrm>
          <a:prstGeom prst="rect">
            <a:avLst/>
          </a:prstGeom>
          <a:noFill/>
          <a:ln>
            <a:noFill/>
          </a:ln>
        </p:spPr>
      </p:pic>
      <p:pic>
        <p:nvPicPr>
          <p:cNvPr id="366" name="Google Shape;366;p48"/>
          <p:cNvPicPr preferRelativeResize="0"/>
          <p:nvPr/>
        </p:nvPicPr>
        <p:blipFill>
          <a:blip r:embed="rId10">
            <a:alphaModFix/>
          </a:blip>
          <a:stretch>
            <a:fillRect/>
          </a:stretch>
        </p:blipFill>
        <p:spPr>
          <a:xfrm>
            <a:off x="1429135" y="8565062"/>
            <a:ext cx="3370922" cy="1586361"/>
          </a:xfrm>
          <a:prstGeom prst="rect">
            <a:avLst/>
          </a:prstGeom>
          <a:noFill/>
          <a:ln>
            <a:noFill/>
          </a:ln>
        </p:spPr>
      </p:pic>
      <p:pic>
        <p:nvPicPr>
          <p:cNvPr id="367" name="Google Shape;367;p48"/>
          <p:cNvPicPr preferRelativeResize="0"/>
          <p:nvPr/>
        </p:nvPicPr>
        <p:blipFill>
          <a:blip r:embed="rId11">
            <a:alphaModFix/>
          </a:blip>
          <a:stretch>
            <a:fillRect/>
          </a:stretch>
        </p:blipFill>
        <p:spPr>
          <a:xfrm>
            <a:off x="1120639" y="3342130"/>
            <a:ext cx="6448758" cy="2044396"/>
          </a:xfrm>
          <a:prstGeom prst="rect">
            <a:avLst/>
          </a:prstGeom>
          <a:noFill/>
          <a:ln>
            <a:noFill/>
          </a:ln>
        </p:spPr>
      </p:pic>
      <p:pic>
        <p:nvPicPr>
          <p:cNvPr id="368" name="Google Shape;368;p48"/>
          <p:cNvPicPr preferRelativeResize="0"/>
          <p:nvPr/>
        </p:nvPicPr>
        <p:blipFill>
          <a:blip r:embed="rId12">
            <a:alphaModFix/>
          </a:blip>
          <a:stretch>
            <a:fillRect/>
          </a:stretch>
        </p:blipFill>
        <p:spPr>
          <a:xfrm>
            <a:off x="13755659" y="4929562"/>
            <a:ext cx="3370922" cy="3067887"/>
          </a:xfrm>
          <a:prstGeom prst="rect">
            <a:avLst/>
          </a:prstGeom>
          <a:noFill/>
          <a:ln>
            <a:noFill/>
          </a:ln>
        </p:spPr>
      </p:pic>
      <p:pic>
        <p:nvPicPr>
          <p:cNvPr id="369" name="Google Shape;369;p48"/>
          <p:cNvPicPr preferRelativeResize="0"/>
          <p:nvPr/>
        </p:nvPicPr>
        <p:blipFill>
          <a:blip r:embed="rId13">
            <a:alphaModFix/>
          </a:blip>
          <a:stretch>
            <a:fillRect/>
          </a:stretch>
        </p:blipFill>
        <p:spPr>
          <a:xfrm>
            <a:off x="7266307" y="3985769"/>
            <a:ext cx="6033072" cy="31673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9"/>
          <p:cNvSpPr txBox="1">
            <a:spLocks noGrp="1"/>
          </p:cNvSpPr>
          <p:nvPr>
            <p:ph type="body" idx="1"/>
          </p:nvPr>
        </p:nvSpPr>
        <p:spPr>
          <a:xfrm>
            <a:off x="1472343" y="2002619"/>
            <a:ext cx="10992294" cy="7627725"/>
          </a:xfrm>
          <a:prstGeom prst="rect">
            <a:avLst/>
          </a:prstGeom>
        </p:spPr>
        <p:txBody>
          <a:bodyPr spcFirstLastPara="1" wrap="square" lIns="164768" tIns="82362" rIns="164768" bIns="82362" anchor="t" anchorCtr="0">
            <a:noAutofit/>
          </a:bodyPr>
          <a:lstStyle/>
          <a:p>
            <a:pPr marL="0" indent="0" algn="l">
              <a:buNone/>
            </a:pPr>
            <a:endParaRPr sz="4325" dirty="0">
              <a:solidFill>
                <a:schemeClr val="tx1"/>
              </a:solidFill>
            </a:endParaRPr>
          </a:p>
          <a:p>
            <a:pPr indent="-686638" algn="l">
              <a:buSzPts val="2400"/>
            </a:pPr>
            <a:r>
              <a:rPr lang="en" sz="4325" dirty="0">
                <a:solidFill>
                  <a:schemeClr val="tx1"/>
                </a:solidFill>
              </a:rPr>
              <a:t>Actually tools for defining </a:t>
            </a:r>
            <a:r>
              <a:rPr lang="en" sz="4325" b="1" dirty="0">
                <a:solidFill>
                  <a:schemeClr val="tx1"/>
                </a:solidFill>
              </a:rPr>
              <a:t>static</a:t>
            </a:r>
            <a:r>
              <a:rPr lang="en" sz="4325" dirty="0">
                <a:solidFill>
                  <a:schemeClr val="tx1"/>
                </a:solidFill>
              </a:rPr>
              <a:t> or </a:t>
            </a:r>
            <a:r>
              <a:rPr lang="en" sz="4325" b="1" dirty="0">
                <a:solidFill>
                  <a:schemeClr val="tx1"/>
                </a:solidFill>
              </a:rPr>
              <a:t>dynamic</a:t>
            </a:r>
            <a:r>
              <a:rPr lang="en" sz="4325" dirty="0">
                <a:solidFill>
                  <a:schemeClr val="tx1"/>
                </a:solidFill>
              </a:rPr>
              <a:t> general-purpose </a:t>
            </a:r>
            <a:r>
              <a:rPr lang="en" sz="4325" b="1" dirty="0">
                <a:solidFill>
                  <a:schemeClr val="tx1"/>
                </a:solidFill>
              </a:rPr>
              <a:t>computational graphs</a:t>
            </a:r>
            <a:r>
              <a:rPr lang="en" sz="4325" dirty="0">
                <a:solidFill>
                  <a:schemeClr val="tx1"/>
                </a:solidFill>
              </a:rPr>
              <a:t> </a:t>
            </a:r>
            <a:endParaRPr sz="4325" dirty="0">
              <a:solidFill>
                <a:schemeClr val="tx1"/>
              </a:solidFill>
            </a:endParaRPr>
          </a:p>
          <a:p>
            <a:pPr indent="-686638" algn="l">
              <a:spcBef>
                <a:spcPts val="1802"/>
              </a:spcBef>
              <a:buSzPts val="2400"/>
            </a:pPr>
            <a:r>
              <a:rPr lang="en" sz="4325" dirty="0">
                <a:solidFill>
                  <a:schemeClr val="tx1"/>
                </a:solidFill>
              </a:rPr>
              <a:t>Automatic differentiation</a:t>
            </a:r>
            <a:endParaRPr sz="4325" dirty="0">
              <a:solidFill>
                <a:schemeClr val="tx1"/>
              </a:solidFill>
            </a:endParaRPr>
          </a:p>
          <a:p>
            <a:pPr indent="-686638" algn="l">
              <a:spcBef>
                <a:spcPts val="1802"/>
              </a:spcBef>
              <a:buSzPts val="2400"/>
            </a:pPr>
            <a:r>
              <a:rPr lang="en" sz="4325" dirty="0">
                <a:solidFill>
                  <a:schemeClr val="tx1"/>
                </a:solidFill>
              </a:rPr>
              <a:t>Seamless CPU / GPU usage</a:t>
            </a:r>
            <a:endParaRPr sz="4325" dirty="0">
              <a:solidFill>
                <a:schemeClr val="tx1"/>
              </a:solidFill>
            </a:endParaRPr>
          </a:p>
          <a:p>
            <a:pPr lvl="1" indent="-663750" algn="l">
              <a:spcBef>
                <a:spcPts val="0"/>
              </a:spcBef>
              <a:buSzPts val="2200"/>
            </a:pPr>
            <a:r>
              <a:rPr lang="en" sz="3965" dirty="0">
                <a:solidFill>
                  <a:schemeClr val="tx1"/>
                </a:solidFill>
              </a:rPr>
              <a:t>multi-GPU, distributed</a:t>
            </a:r>
            <a:endParaRPr sz="3965" dirty="0">
              <a:solidFill>
                <a:schemeClr val="tx1"/>
              </a:solidFill>
            </a:endParaRPr>
          </a:p>
          <a:p>
            <a:pPr indent="-686638" algn="l">
              <a:spcBef>
                <a:spcPts val="1802"/>
              </a:spcBef>
              <a:buSzPts val="2400"/>
            </a:pPr>
            <a:r>
              <a:rPr lang="en" sz="4325" dirty="0">
                <a:solidFill>
                  <a:schemeClr val="tx1"/>
                </a:solidFill>
              </a:rPr>
              <a:t>Python/numpy or R interfaces</a:t>
            </a:r>
            <a:endParaRPr sz="4325" dirty="0">
              <a:solidFill>
                <a:schemeClr val="tx1"/>
              </a:solidFill>
            </a:endParaRPr>
          </a:p>
          <a:p>
            <a:pPr lvl="1" indent="-663750" algn="l">
              <a:spcBef>
                <a:spcPts val="0"/>
              </a:spcBef>
              <a:buSzPts val="2200"/>
            </a:pPr>
            <a:r>
              <a:rPr lang="en" sz="3965" dirty="0">
                <a:solidFill>
                  <a:schemeClr val="tx1"/>
                </a:solidFill>
              </a:rPr>
              <a:t>instead of C, C++, CUDA or HIP</a:t>
            </a:r>
            <a:endParaRPr sz="3965" dirty="0">
              <a:solidFill>
                <a:schemeClr val="tx1"/>
              </a:solidFill>
            </a:endParaRPr>
          </a:p>
          <a:p>
            <a:pPr indent="-686638" algn="l">
              <a:spcBef>
                <a:spcPts val="1802"/>
              </a:spcBef>
              <a:buSzPts val="2400"/>
            </a:pPr>
            <a:r>
              <a:rPr lang="en" sz="4325" dirty="0">
                <a:solidFill>
                  <a:schemeClr val="tx1"/>
                </a:solidFill>
              </a:rPr>
              <a:t>Open source</a:t>
            </a:r>
            <a:endParaRPr sz="4325" dirty="0">
              <a:solidFill>
                <a:schemeClr val="tx1"/>
              </a:solidFill>
            </a:endParaRPr>
          </a:p>
        </p:txBody>
      </p:sp>
      <p:grpSp>
        <p:nvGrpSpPr>
          <p:cNvPr id="375" name="Google Shape;375;p49"/>
          <p:cNvGrpSpPr/>
          <p:nvPr/>
        </p:nvGrpSpPr>
        <p:grpSpPr>
          <a:xfrm>
            <a:off x="12236396" y="2139906"/>
            <a:ext cx="4094671" cy="6627998"/>
            <a:chOff x="6497375" y="1152475"/>
            <a:chExt cx="2135550" cy="3118000"/>
          </a:xfrm>
        </p:grpSpPr>
        <p:sp>
          <p:nvSpPr>
            <p:cNvPr id="376" name="Google Shape;376;p49"/>
            <p:cNvSpPr/>
            <p:nvPr/>
          </p:nvSpPr>
          <p:spPr>
            <a:xfrm>
              <a:off x="7705850" y="2510650"/>
              <a:ext cx="417300" cy="3978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a:t>✕</a:t>
              </a:r>
              <a:endParaRPr/>
            </a:p>
          </p:txBody>
        </p:sp>
        <p:sp>
          <p:nvSpPr>
            <p:cNvPr id="377" name="Google Shape;377;p49"/>
            <p:cNvSpPr/>
            <p:nvPr/>
          </p:nvSpPr>
          <p:spPr>
            <a:xfrm>
              <a:off x="6497375" y="3246950"/>
              <a:ext cx="417300" cy="3978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i="1"/>
                <a:t>x</a:t>
              </a:r>
              <a:endParaRPr i="1"/>
            </a:p>
          </p:txBody>
        </p:sp>
        <p:sp>
          <p:nvSpPr>
            <p:cNvPr id="378" name="Google Shape;378;p49"/>
            <p:cNvSpPr/>
            <p:nvPr/>
          </p:nvSpPr>
          <p:spPr>
            <a:xfrm>
              <a:off x="7356488" y="3246950"/>
              <a:ext cx="417300" cy="3978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i="1"/>
                <a:t>y</a:t>
              </a:r>
              <a:endParaRPr i="1"/>
            </a:p>
          </p:txBody>
        </p:sp>
        <p:sp>
          <p:nvSpPr>
            <p:cNvPr id="379" name="Google Shape;379;p49"/>
            <p:cNvSpPr/>
            <p:nvPr/>
          </p:nvSpPr>
          <p:spPr>
            <a:xfrm>
              <a:off x="8215625" y="3246950"/>
              <a:ext cx="417300" cy="3978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a:t>5</a:t>
              </a:r>
              <a:endParaRPr/>
            </a:p>
          </p:txBody>
        </p:sp>
        <p:sp>
          <p:nvSpPr>
            <p:cNvPr id="380" name="Google Shape;380;p49"/>
            <p:cNvSpPr/>
            <p:nvPr/>
          </p:nvSpPr>
          <p:spPr>
            <a:xfrm>
              <a:off x="6914675" y="2510650"/>
              <a:ext cx="417300" cy="3978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a:t>✕</a:t>
              </a:r>
              <a:endParaRPr/>
            </a:p>
          </p:txBody>
        </p:sp>
        <p:sp>
          <p:nvSpPr>
            <p:cNvPr id="381" name="Google Shape;381;p49"/>
            <p:cNvSpPr/>
            <p:nvPr/>
          </p:nvSpPr>
          <p:spPr>
            <a:xfrm>
              <a:off x="7356500" y="1774350"/>
              <a:ext cx="417300" cy="3978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a:t>+</a:t>
              </a:r>
              <a:endParaRPr/>
            </a:p>
          </p:txBody>
        </p:sp>
        <p:sp>
          <p:nvSpPr>
            <p:cNvPr id="382" name="Google Shape;382;p49"/>
            <p:cNvSpPr/>
            <p:nvPr/>
          </p:nvSpPr>
          <p:spPr>
            <a:xfrm>
              <a:off x="7773800" y="1152475"/>
              <a:ext cx="417300" cy="3978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164768" tIns="164768" rIns="164768" bIns="164768" anchor="ctr" anchorCtr="0">
              <a:noAutofit/>
            </a:bodyPr>
            <a:lstStyle/>
            <a:p>
              <a:pPr algn="ctr" rtl="0"/>
              <a:r>
                <a:rPr lang="en"/>
                <a:t>+</a:t>
              </a:r>
              <a:endParaRPr/>
            </a:p>
          </p:txBody>
        </p:sp>
        <p:cxnSp>
          <p:nvCxnSpPr>
            <p:cNvPr id="383" name="Google Shape;383;p49"/>
            <p:cNvCxnSpPr>
              <a:stCxn id="377" idx="0"/>
              <a:endCxn id="380" idx="3"/>
            </p:cNvCxnSpPr>
            <p:nvPr/>
          </p:nvCxnSpPr>
          <p:spPr>
            <a:xfrm rot="10800000" flipH="1">
              <a:off x="6706025" y="2850050"/>
              <a:ext cx="269700" cy="396900"/>
            </a:xfrm>
            <a:prstGeom prst="straightConnector1">
              <a:avLst/>
            </a:prstGeom>
            <a:noFill/>
            <a:ln w="28575" cap="flat" cmpd="sng">
              <a:solidFill>
                <a:schemeClr val="dk2"/>
              </a:solidFill>
              <a:prstDash val="solid"/>
              <a:round/>
              <a:headEnd type="none" w="med" len="med"/>
              <a:tailEnd type="none" w="med" len="med"/>
            </a:ln>
          </p:spPr>
        </p:cxnSp>
        <p:cxnSp>
          <p:nvCxnSpPr>
            <p:cNvPr id="384" name="Google Shape;384;p49"/>
            <p:cNvCxnSpPr>
              <a:stCxn id="378" idx="0"/>
              <a:endCxn id="380" idx="5"/>
            </p:cNvCxnSpPr>
            <p:nvPr/>
          </p:nvCxnSpPr>
          <p:spPr>
            <a:xfrm rot="10800000">
              <a:off x="7270838" y="2850050"/>
              <a:ext cx="294300" cy="396900"/>
            </a:xfrm>
            <a:prstGeom prst="straightConnector1">
              <a:avLst/>
            </a:prstGeom>
            <a:noFill/>
            <a:ln w="28575" cap="flat" cmpd="sng">
              <a:solidFill>
                <a:schemeClr val="dk2"/>
              </a:solidFill>
              <a:prstDash val="solid"/>
              <a:round/>
              <a:headEnd type="none" w="med" len="med"/>
              <a:tailEnd type="none" w="med" len="med"/>
            </a:ln>
          </p:spPr>
        </p:cxnSp>
        <p:cxnSp>
          <p:nvCxnSpPr>
            <p:cNvPr id="385" name="Google Shape;385;p49"/>
            <p:cNvCxnSpPr>
              <a:stCxn id="378" idx="0"/>
              <a:endCxn id="376" idx="3"/>
            </p:cNvCxnSpPr>
            <p:nvPr/>
          </p:nvCxnSpPr>
          <p:spPr>
            <a:xfrm rot="10800000" flipH="1">
              <a:off x="7565138" y="2850050"/>
              <a:ext cx="201900" cy="396900"/>
            </a:xfrm>
            <a:prstGeom prst="straightConnector1">
              <a:avLst/>
            </a:prstGeom>
            <a:noFill/>
            <a:ln w="28575" cap="flat" cmpd="sng">
              <a:solidFill>
                <a:schemeClr val="dk2"/>
              </a:solidFill>
              <a:prstDash val="solid"/>
              <a:round/>
              <a:headEnd type="none" w="med" len="med"/>
              <a:tailEnd type="none" w="med" len="med"/>
            </a:ln>
          </p:spPr>
        </p:cxnSp>
        <p:cxnSp>
          <p:nvCxnSpPr>
            <p:cNvPr id="386" name="Google Shape;386;p49"/>
            <p:cNvCxnSpPr>
              <a:stCxn id="379" idx="0"/>
              <a:endCxn id="376" idx="5"/>
            </p:cNvCxnSpPr>
            <p:nvPr/>
          </p:nvCxnSpPr>
          <p:spPr>
            <a:xfrm rot="10800000">
              <a:off x="8062175" y="2850050"/>
              <a:ext cx="362100" cy="396900"/>
            </a:xfrm>
            <a:prstGeom prst="straightConnector1">
              <a:avLst/>
            </a:prstGeom>
            <a:noFill/>
            <a:ln w="28575" cap="flat" cmpd="sng">
              <a:solidFill>
                <a:schemeClr val="dk2"/>
              </a:solidFill>
              <a:prstDash val="solid"/>
              <a:round/>
              <a:headEnd type="none" w="med" len="med"/>
              <a:tailEnd type="none" w="med" len="med"/>
            </a:ln>
          </p:spPr>
        </p:cxnSp>
        <p:cxnSp>
          <p:nvCxnSpPr>
            <p:cNvPr id="387" name="Google Shape;387;p49"/>
            <p:cNvCxnSpPr>
              <a:stCxn id="379" idx="0"/>
              <a:endCxn id="382" idx="5"/>
            </p:cNvCxnSpPr>
            <p:nvPr/>
          </p:nvCxnSpPr>
          <p:spPr>
            <a:xfrm rot="10800000">
              <a:off x="8129975" y="1491950"/>
              <a:ext cx="294300" cy="1755000"/>
            </a:xfrm>
            <a:prstGeom prst="straightConnector1">
              <a:avLst/>
            </a:prstGeom>
            <a:noFill/>
            <a:ln w="28575" cap="flat" cmpd="sng">
              <a:solidFill>
                <a:schemeClr val="dk2"/>
              </a:solidFill>
              <a:prstDash val="solid"/>
              <a:round/>
              <a:headEnd type="none" w="med" len="med"/>
              <a:tailEnd type="none" w="med" len="med"/>
            </a:ln>
          </p:spPr>
        </p:cxnSp>
        <p:cxnSp>
          <p:nvCxnSpPr>
            <p:cNvPr id="388" name="Google Shape;388;p49"/>
            <p:cNvCxnSpPr>
              <a:stCxn id="380" idx="0"/>
              <a:endCxn id="381" idx="3"/>
            </p:cNvCxnSpPr>
            <p:nvPr/>
          </p:nvCxnSpPr>
          <p:spPr>
            <a:xfrm rot="10800000" flipH="1">
              <a:off x="7123325" y="2113750"/>
              <a:ext cx="294300" cy="396900"/>
            </a:xfrm>
            <a:prstGeom prst="straightConnector1">
              <a:avLst/>
            </a:prstGeom>
            <a:noFill/>
            <a:ln w="28575" cap="flat" cmpd="sng">
              <a:solidFill>
                <a:schemeClr val="dk2"/>
              </a:solidFill>
              <a:prstDash val="solid"/>
              <a:round/>
              <a:headEnd type="none" w="med" len="med"/>
              <a:tailEnd type="none" w="med" len="med"/>
            </a:ln>
          </p:spPr>
        </p:cxnSp>
        <p:cxnSp>
          <p:nvCxnSpPr>
            <p:cNvPr id="389" name="Google Shape;389;p49"/>
            <p:cNvCxnSpPr>
              <a:stCxn id="376" idx="0"/>
              <a:endCxn id="381" idx="5"/>
            </p:cNvCxnSpPr>
            <p:nvPr/>
          </p:nvCxnSpPr>
          <p:spPr>
            <a:xfrm rot="10800000">
              <a:off x="7712600" y="2113750"/>
              <a:ext cx="201900" cy="396900"/>
            </a:xfrm>
            <a:prstGeom prst="straightConnector1">
              <a:avLst/>
            </a:prstGeom>
            <a:noFill/>
            <a:ln w="28575" cap="flat" cmpd="sng">
              <a:solidFill>
                <a:schemeClr val="dk2"/>
              </a:solidFill>
              <a:prstDash val="solid"/>
              <a:round/>
              <a:headEnd type="none" w="med" len="med"/>
              <a:tailEnd type="none" w="med" len="med"/>
            </a:ln>
          </p:spPr>
        </p:cxnSp>
        <p:cxnSp>
          <p:nvCxnSpPr>
            <p:cNvPr id="390" name="Google Shape;390;p49"/>
            <p:cNvCxnSpPr>
              <a:stCxn id="381" idx="0"/>
              <a:endCxn id="382" idx="3"/>
            </p:cNvCxnSpPr>
            <p:nvPr/>
          </p:nvCxnSpPr>
          <p:spPr>
            <a:xfrm rot="10800000" flipH="1">
              <a:off x="7565150" y="1492050"/>
              <a:ext cx="269700" cy="282300"/>
            </a:xfrm>
            <a:prstGeom prst="straightConnector1">
              <a:avLst/>
            </a:prstGeom>
            <a:noFill/>
            <a:ln w="28575" cap="flat" cmpd="sng">
              <a:solidFill>
                <a:schemeClr val="dk2"/>
              </a:solidFill>
              <a:prstDash val="solid"/>
              <a:round/>
              <a:headEnd type="none" w="med" len="med"/>
              <a:tailEnd type="none" w="med" len="med"/>
            </a:ln>
          </p:spPr>
        </p:cxnSp>
        <p:pic>
          <p:nvPicPr>
            <p:cNvPr id="391" name="Google Shape;391;p49"/>
            <p:cNvPicPr preferRelativeResize="0"/>
            <p:nvPr/>
          </p:nvPicPr>
          <p:blipFill>
            <a:blip r:embed="rId3">
              <a:alphaModFix/>
            </a:blip>
            <a:stretch>
              <a:fillRect/>
            </a:stretch>
          </p:blipFill>
          <p:spPr>
            <a:xfrm>
              <a:off x="6757325" y="3983250"/>
              <a:ext cx="1615641" cy="287225"/>
            </a:xfrm>
            <a:prstGeom prst="rect">
              <a:avLst/>
            </a:prstGeom>
            <a:noFill/>
            <a:ln>
              <a:noFill/>
            </a:ln>
          </p:spPr>
        </p:pic>
      </p:grpSp>
      <p:sp>
        <p:nvSpPr>
          <p:cNvPr id="392" name="Google Shape;392;p49"/>
          <p:cNvSpPr txBox="1">
            <a:spLocks noGrp="1"/>
          </p:cNvSpPr>
          <p:nvPr>
            <p:ph type="title"/>
          </p:nvPr>
        </p:nvSpPr>
        <p:spPr>
          <a:xfrm>
            <a:off x="1472343" y="891148"/>
            <a:ext cx="15356015" cy="1146754"/>
          </a:xfrm>
          <a:prstGeom prst="rect">
            <a:avLst/>
          </a:prstGeom>
        </p:spPr>
        <p:txBody>
          <a:bodyPr spcFirstLastPara="1" wrap="square" lIns="164768" tIns="82362" rIns="164768" bIns="82362" anchor="ctr" anchorCtr="0">
            <a:noAutofit/>
          </a:bodyPr>
          <a:lstStyle/>
          <a:p>
            <a:pPr algn="l"/>
            <a:r>
              <a:rPr lang="en" dirty="0">
                <a:solidFill>
                  <a:schemeClr val="tx1"/>
                </a:solidFill>
              </a:rPr>
              <a:t>Deep learning frameworks</a:t>
            </a:r>
            <a:endParaRPr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0"/>
          <p:cNvSpPr txBox="1">
            <a:spLocks noGrp="1"/>
          </p:cNvSpPr>
          <p:nvPr>
            <p:ph type="title"/>
          </p:nvPr>
        </p:nvSpPr>
        <p:spPr>
          <a:xfrm>
            <a:off x="1060355" y="891148"/>
            <a:ext cx="6832945" cy="1869085"/>
          </a:xfrm>
          <a:prstGeom prst="rect">
            <a:avLst/>
          </a:prstGeom>
        </p:spPr>
        <p:txBody>
          <a:bodyPr spcFirstLastPara="1" wrap="square" lIns="164768" tIns="82362" rIns="164768" bIns="82362" anchor="ctr" anchorCtr="0">
            <a:noAutofit/>
          </a:bodyPr>
          <a:lstStyle/>
          <a:p>
            <a:pPr algn="l"/>
            <a:r>
              <a:rPr lang="en" dirty="0">
                <a:solidFill>
                  <a:schemeClr val="tx1"/>
                </a:solidFill>
              </a:rPr>
              <a:t>Deep learning frameworks</a:t>
            </a:r>
            <a:endParaRPr dirty="0">
              <a:solidFill>
                <a:schemeClr val="tx1"/>
              </a:solidFill>
            </a:endParaRPr>
          </a:p>
        </p:txBody>
      </p:sp>
      <p:sp>
        <p:nvSpPr>
          <p:cNvPr id="398" name="Google Shape;398;p50"/>
          <p:cNvSpPr txBox="1">
            <a:spLocks noGrp="1"/>
          </p:cNvSpPr>
          <p:nvPr>
            <p:ph type="body" idx="1"/>
          </p:nvPr>
        </p:nvSpPr>
        <p:spPr>
          <a:xfrm>
            <a:off x="431921" y="3445917"/>
            <a:ext cx="15890734" cy="6273896"/>
          </a:xfrm>
          <a:prstGeom prst="rect">
            <a:avLst/>
          </a:prstGeom>
        </p:spPr>
        <p:txBody>
          <a:bodyPr spcFirstLastPara="1" wrap="square" lIns="164768" tIns="82362" rIns="164768" bIns="82362" anchor="t" anchorCtr="0">
            <a:noAutofit/>
          </a:bodyPr>
          <a:lstStyle/>
          <a:p>
            <a:pPr indent="-686638" algn="l">
              <a:buSzPts val="2400"/>
            </a:pPr>
            <a:r>
              <a:rPr lang="en" sz="4325" dirty="0">
                <a:solidFill>
                  <a:schemeClr val="tx1"/>
                </a:solidFill>
              </a:rPr>
              <a:t>Keras is a high-level</a:t>
            </a:r>
            <a:br>
              <a:rPr lang="en" sz="4325" dirty="0">
                <a:solidFill>
                  <a:schemeClr val="tx1"/>
                </a:solidFill>
              </a:rPr>
            </a:br>
            <a:r>
              <a:rPr lang="en" sz="4325" dirty="0">
                <a:solidFill>
                  <a:schemeClr val="tx1"/>
                </a:solidFill>
              </a:rPr>
              <a:t>neural networks API</a:t>
            </a:r>
            <a:endParaRPr sz="4325" dirty="0">
              <a:solidFill>
                <a:schemeClr val="tx1"/>
              </a:solidFill>
            </a:endParaRPr>
          </a:p>
          <a:p>
            <a:pPr marL="1487702" lvl="1" indent="-518749" algn="l">
              <a:spcBef>
                <a:spcPts val="0"/>
              </a:spcBef>
              <a:buSzPts val="2200"/>
            </a:pPr>
            <a:r>
              <a:rPr lang="en" sz="3965" dirty="0">
                <a:solidFill>
                  <a:schemeClr val="tx1"/>
                </a:solidFill>
              </a:rPr>
              <a:t>we will use TensorFlow</a:t>
            </a:r>
            <a:br>
              <a:rPr lang="en" sz="3965" dirty="0">
                <a:solidFill>
                  <a:schemeClr val="tx1"/>
                </a:solidFill>
              </a:rPr>
            </a:br>
            <a:r>
              <a:rPr lang="en" sz="3965" dirty="0">
                <a:solidFill>
                  <a:schemeClr val="tx1"/>
                </a:solidFill>
              </a:rPr>
              <a:t> as the compute backend</a:t>
            </a:r>
            <a:endParaRPr sz="3965" dirty="0">
              <a:solidFill>
                <a:schemeClr val="tx1"/>
              </a:solidFill>
            </a:endParaRPr>
          </a:p>
          <a:p>
            <a:pPr marL="1487702" lvl="1" indent="-518749" algn="l">
              <a:spcBef>
                <a:spcPts val="0"/>
              </a:spcBef>
              <a:buSzPts val="2200"/>
            </a:pPr>
            <a:r>
              <a:rPr lang="en" sz="3965" dirty="0">
                <a:solidFill>
                  <a:schemeClr val="tx1"/>
                </a:solidFill>
              </a:rPr>
              <a:t>included in TensorFlow 2 as  </a:t>
            </a:r>
            <a:r>
              <a:rPr lang="en" sz="3604" dirty="0">
                <a:solidFill>
                  <a:schemeClr val="tx1"/>
                </a:solidFill>
                <a:latin typeface="Consolas"/>
                <a:ea typeface="Consolas"/>
                <a:cs typeface="Consolas"/>
                <a:sym typeface="Consolas"/>
              </a:rPr>
              <a:t>tf.keras</a:t>
            </a:r>
            <a:endParaRPr sz="3604" dirty="0">
              <a:solidFill>
                <a:schemeClr val="tx1"/>
              </a:solidFill>
              <a:latin typeface="Consolas"/>
              <a:ea typeface="Consolas"/>
              <a:cs typeface="Consolas"/>
              <a:sym typeface="Consolas"/>
            </a:endParaRPr>
          </a:p>
          <a:p>
            <a:pPr marL="1487702" lvl="1" indent="-518749" algn="l">
              <a:spcBef>
                <a:spcPts val="0"/>
              </a:spcBef>
              <a:buSzPts val="2200"/>
            </a:pPr>
            <a:r>
              <a:rPr lang="en" sz="3965" u="sng" dirty="0">
                <a:solidFill>
                  <a:schemeClr val="tx1"/>
                </a:solidFill>
                <a:hlinkClick r:id="rId3">
                  <a:extLst>
                    <a:ext uri="{A12FA001-AC4F-418D-AE19-62706E023703}">
                      <ahyp:hlinkClr xmlns:ahyp="http://schemas.microsoft.com/office/drawing/2018/hyperlinkcolor" val="tx"/>
                    </a:ext>
                  </a:extLst>
                </a:hlinkClick>
              </a:rPr>
              <a:t>https://keras.io/</a:t>
            </a:r>
            <a:r>
              <a:rPr lang="en" sz="3965" dirty="0">
                <a:solidFill>
                  <a:schemeClr val="tx1"/>
                </a:solidFill>
              </a:rPr>
              <a:t> , </a:t>
            </a:r>
            <a:r>
              <a:rPr lang="en" sz="3965" u="sng" dirty="0">
                <a:solidFill>
                  <a:schemeClr val="tx1"/>
                </a:solidFill>
                <a:hlinkClick r:id="rId4">
                  <a:extLst>
                    <a:ext uri="{A12FA001-AC4F-418D-AE19-62706E023703}">
                      <ahyp:hlinkClr xmlns:ahyp="http://schemas.microsoft.com/office/drawing/2018/hyperlinkcolor" val="tx"/>
                    </a:ext>
                  </a:extLst>
                </a:hlinkClick>
              </a:rPr>
              <a:t>https://www.tensorflow.org/guide/keras</a:t>
            </a:r>
            <a:r>
              <a:rPr lang="en" sz="3965" dirty="0">
                <a:solidFill>
                  <a:schemeClr val="tx1"/>
                </a:solidFill>
              </a:rPr>
              <a:t> </a:t>
            </a:r>
            <a:endParaRPr sz="3965" dirty="0">
              <a:solidFill>
                <a:schemeClr val="tx1"/>
              </a:solidFill>
            </a:endParaRPr>
          </a:p>
          <a:p>
            <a:pPr marL="686631" indent="-630669" algn="l">
              <a:spcBef>
                <a:spcPts val="1802"/>
              </a:spcBef>
              <a:buSzPts val="2400"/>
            </a:pPr>
            <a:r>
              <a:rPr lang="en" sz="4325" dirty="0">
                <a:solidFill>
                  <a:schemeClr val="tx1"/>
                </a:solidFill>
              </a:rPr>
              <a:t>PyTorch is:</a:t>
            </a:r>
            <a:endParaRPr sz="4325" dirty="0">
              <a:solidFill>
                <a:schemeClr val="tx1"/>
              </a:solidFill>
            </a:endParaRPr>
          </a:p>
          <a:p>
            <a:pPr marL="1487702" lvl="1" indent="-518749" algn="l">
              <a:spcBef>
                <a:spcPts val="0"/>
              </a:spcBef>
              <a:buSzPts val="2200"/>
            </a:pPr>
            <a:r>
              <a:rPr lang="en" sz="3965" dirty="0">
                <a:solidFill>
                  <a:schemeClr val="tx1"/>
                </a:solidFill>
              </a:rPr>
              <a:t>a GPU-based tensor library</a:t>
            </a:r>
            <a:endParaRPr sz="3965" dirty="0">
              <a:solidFill>
                <a:schemeClr val="tx1"/>
              </a:solidFill>
            </a:endParaRPr>
          </a:p>
          <a:p>
            <a:pPr marL="1487702" lvl="1" indent="-518749" algn="l">
              <a:spcBef>
                <a:spcPts val="0"/>
              </a:spcBef>
              <a:buSzPts val="2200"/>
            </a:pPr>
            <a:r>
              <a:rPr lang="en" sz="3965" dirty="0">
                <a:solidFill>
                  <a:schemeClr val="tx1"/>
                </a:solidFill>
              </a:rPr>
              <a:t>an efficient library for dynamic neural networks</a:t>
            </a:r>
            <a:endParaRPr sz="3965" dirty="0">
              <a:solidFill>
                <a:schemeClr val="tx1"/>
              </a:solidFill>
            </a:endParaRPr>
          </a:p>
          <a:p>
            <a:pPr marL="1487702" lvl="1" indent="-518749" algn="l">
              <a:spcBef>
                <a:spcPts val="0"/>
              </a:spcBef>
              <a:buSzPts val="2200"/>
            </a:pPr>
            <a:r>
              <a:rPr lang="en" sz="3965" u="sng" dirty="0">
                <a:solidFill>
                  <a:schemeClr val="tx1"/>
                </a:solidFill>
                <a:hlinkClick r:id="rId5">
                  <a:extLst>
                    <a:ext uri="{A12FA001-AC4F-418D-AE19-62706E023703}">
                      <ahyp:hlinkClr xmlns:ahyp="http://schemas.microsoft.com/office/drawing/2018/hyperlinkcolor" val="tx"/>
                    </a:ext>
                  </a:extLst>
                </a:hlinkClick>
              </a:rPr>
              <a:t>https://pytorch.org/</a:t>
            </a:r>
            <a:r>
              <a:rPr lang="en" sz="3965" dirty="0">
                <a:solidFill>
                  <a:schemeClr val="tx1"/>
                </a:solidFill>
              </a:rPr>
              <a:t> </a:t>
            </a:r>
            <a:endParaRPr sz="3965" dirty="0">
              <a:solidFill>
                <a:schemeClr val="tx1"/>
              </a:solidFill>
            </a:endParaRPr>
          </a:p>
        </p:txBody>
      </p:sp>
      <p:sp>
        <p:nvSpPr>
          <p:cNvPr id="399" name="Google Shape;399;p50"/>
          <p:cNvSpPr txBox="1"/>
          <p:nvPr/>
        </p:nvSpPr>
        <p:spPr>
          <a:xfrm>
            <a:off x="9285156" y="1067016"/>
            <a:ext cx="1276514" cy="796402"/>
          </a:xfrm>
          <a:prstGeom prst="rect">
            <a:avLst/>
          </a:prstGeom>
          <a:solidFill>
            <a:srgbClr val="980000"/>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solidFill>
                  <a:schemeClr val="lt1"/>
                </a:solidFill>
              </a:rPr>
              <a:t>Keras</a:t>
            </a:r>
            <a:endParaRPr>
              <a:solidFill>
                <a:schemeClr val="lt1"/>
              </a:solidFill>
            </a:endParaRPr>
          </a:p>
        </p:txBody>
      </p:sp>
      <p:sp>
        <p:nvSpPr>
          <p:cNvPr id="400" name="Google Shape;400;p50"/>
          <p:cNvSpPr txBox="1"/>
          <p:nvPr/>
        </p:nvSpPr>
        <p:spPr>
          <a:xfrm>
            <a:off x="8888848" y="2520909"/>
            <a:ext cx="2069131" cy="796402"/>
          </a:xfrm>
          <a:prstGeom prst="rect">
            <a:avLst/>
          </a:prstGeom>
          <a:solidFill>
            <a:srgbClr val="980000"/>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solidFill>
                  <a:schemeClr val="lt1"/>
                </a:solidFill>
              </a:rPr>
              <a:t>TensorFlow</a:t>
            </a:r>
            <a:endParaRPr>
              <a:solidFill>
                <a:schemeClr val="lt1"/>
              </a:solidFill>
            </a:endParaRPr>
          </a:p>
        </p:txBody>
      </p:sp>
      <p:sp>
        <p:nvSpPr>
          <p:cNvPr id="401" name="Google Shape;401;p50"/>
          <p:cNvSpPr txBox="1"/>
          <p:nvPr/>
        </p:nvSpPr>
        <p:spPr>
          <a:xfrm>
            <a:off x="7348128" y="2520909"/>
            <a:ext cx="1444661"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Theano</a:t>
            </a:r>
            <a:endParaRPr/>
          </a:p>
        </p:txBody>
      </p:sp>
      <p:cxnSp>
        <p:nvCxnSpPr>
          <p:cNvPr id="402" name="Google Shape;402;p50"/>
          <p:cNvCxnSpPr>
            <a:stCxn id="399" idx="2"/>
            <a:endCxn id="401" idx="0"/>
          </p:cNvCxnSpPr>
          <p:nvPr/>
        </p:nvCxnSpPr>
        <p:spPr>
          <a:xfrm flipH="1">
            <a:off x="8070548" y="1863418"/>
            <a:ext cx="1852865" cy="657451"/>
          </a:xfrm>
          <a:prstGeom prst="straightConnector1">
            <a:avLst/>
          </a:prstGeom>
          <a:noFill/>
          <a:ln w="28575" cap="flat" cmpd="sng">
            <a:solidFill>
              <a:schemeClr val="dk2"/>
            </a:solidFill>
            <a:prstDash val="solid"/>
            <a:round/>
            <a:headEnd type="none" w="med" len="med"/>
            <a:tailEnd type="none" w="med" len="med"/>
          </a:ln>
        </p:spPr>
      </p:cxnSp>
      <p:sp>
        <p:nvSpPr>
          <p:cNvPr id="403" name="Google Shape;403;p50"/>
          <p:cNvSpPr txBox="1"/>
          <p:nvPr/>
        </p:nvSpPr>
        <p:spPr>
          <a:xfrm>
            <a:off x="11054038" y="2520909"/>
            <a:ext cx="1444661"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CNTK</a:t>
            </a:r>
            <a:endParaRPr/>
          </a:p>
        </p:txBody>
      </p:sp>
      <p:sp>
        <p:nvSpPr>
          <p:cNvPr id="404" name="Google Shape;404;p50"/>
          <p:cNvSpPr txBox="1"/>
          <p:nvPr/>
        </p:nvSpPr>
        <p:spPr>
          <a:xfrm>
            <a:off x="12594757" y="2520909"/>
            <a:ext cx="1584153" cy="796402"/>
          </a:xfrm>
          <a:prstGeom prst="rect">
            <a:avLst/>
          </a:prstGeom>
          <a:solidFill>
            <a:srgbClr val="980000"/>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solidFill>
                  <a:schemeClr val="lt1"/>
                </a:solidFill>
              </a:rPr>
              <a:t>PyTorch</a:t>
            </a:r>
            <a:endParaRPr>
              <a:solidFill>
                <a:schemeClr val="lt1"/>
              </a:solidFill>
            </a:endParaRPr>
          </a:p>
        </p:txBody>
      </p:sp>
      <p:sp>
        <p:nvSpPr>
          <p:cNvPr id="405" name="Google Shape;405;p50"/>
          <p:cNvSpPr txBox="1"/>
          <p:nvPr/>
        </p:nvSpPr>
        <p:spPr>
          <a:xfrm>
            <a:off x="14274969" y="2520909"/>
            <a:ext cx="1444661"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MXNet</a:t>
            </a:r>
            <a:endParaRPr/>
          </a:p>
        </p:txBody>
      </p:sp>
      <p:sp>
        <p:nvSpPr>
          <p:cNvPr id="406" name="Google Shape;406;p50"/>
          <p:cNvSpPr txBox="1"/>
          <p:nvPr/>
        </p:nvSpPr>
        <p:spPr>
          <a:xfrm>
            <a:off x="15815689" y="2520909"/>
            <a:ext cx="1444661"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Caffe</a:t>
            </a:r>
            <a:endParaRPr/>
          </a:p>
        </p:txBody>
      </p:sp>
      <p:cxnSp>
        <p:nvCxnSpPr>
          <p:cNvPr id="407" name="Google Shape;407;p50"/>
          <p:cNvCxnSpPr>
            <a:stCxn id="399" idx="2"/>
            <a:endCxn id="400" idx="0"/>
          </p:cNvCxnSpPr>
          <p:nvPr/>
        </p:nvCxnSpPr>
        <p:spPr>
          <a:xfrm>
            <a:off x="9923413" y="1863418"/>
            <a:ext cx="0" cy="657451"/>
          </a:xfrm>
          <a:prstGeom prst="straightConnector1">
            <a:avLst/>
          </a:prstGeom>
          <a:noFill/>
          <a:ln w="28575" cap="flat" cmpd="sng">
            <a:solidFill>
              <a:schemeClr val="dk2"/>
            </a:solidFill>
            <a:prstDash val="solid"/>
            <a:round/>
            <a:headEnd type="none" w="med" len="med"/>
            <a:tailEnd type="none" w="med" len="med"/>
          </a:ln>
        </p:spPr>
      </p:cxnSp>
      <p:cxnSp>
        <p:nvCxnSpPr>
          <p:cNvPr id="408" name="Google Shape;408;p50"/>
          <p:cNvCxnSpPr>
            <a:stCxn id="399" idx="2"/>
            <a:endCxn id="403" idx="0"/>
          </p:cNvCxnSpPr>
          <p:nvPr/>
        </p:nvCxnSpPr>
        <p:spPr>
          <a:xfrm>
            <a:off x="9923413" y="1863418"/>
            <a:ext cx="1852865" cy="657451"/>
          </a:xfrm>
          <a:prstGeom prst="straightConnector1">
            <a:avLst/>
          </a:prstGeom>
          <a:noFill/>
          <a:ln w="28575" cap="flat" cmpd="sng">
            <a:solidFill>
              <a:schemeClr val="dk2"/>
            </a:solidFill>
            <a:prstDash val="solid"/>
            <a:round/>
            <a:headEnd type="none" w="med" len="med"/>
            <a:tailEnd type="none" w="med" len="med"/>
          </a:ln>
        </p:spPr>
      </p:cxnSp>
      <p:sp>
        <p:nvSpPr>
          <p:cNvPr id="409" name="Google Shape;409;p50"/>
          <p:cNvSpPr txBox="1"/>
          <p:nvPr/>
        </p:nvSpPr>
        <p:spPr>
          <a:xfrm>
            <a:off x="8452530" y="3974801"/>
            <a:ext cx="2505449" cy="796402"/>
          </a:xfrm>
          <a:prstGeom prst="rect">
            <a:avLst/>
          </a:prstGeom>
          <a:solidFill>
            <a:srgbClr val="FFE599"/>
          </a:solidFill>
          <a:ln w="19050" cap="flat" cmpd="sng">
            <a:solidFill>
              <a:srgbClr val="000000"/>
            </a:solidFill>
            <a:prstDash val="solid"/>
            <a:round/>
            <a:headEnd type="none" w="sm" len="sm"/>
            <a:tailEnd type="none" w="sm" len="sm"/>
          </a:ln>
        </p:spPr>
        <p:txBody>
          <a:bodyPr spcFirstLastPara="1" wrap="square" lIns="164768" tIns="164768" rIns="164768" bIns="164768" anchor="ctr" anchorCtr="0">
            <a:noAutofit/>
          </a:bodyPr>
          <a:lstStyle/>
          <a:p>
            <a:pPr algn="ctr" rtl="0"/>
            <a:r>
              <a:rPr lang="en" sz="2163"/>
              <a:t>CUDA, cuDNN</a:t>
            </a:r>
            <a:br>
              <a:rPr lang="en" sz="2163"/>
            </a:br>
            <a:r>
              <a:rPr lang="en" sz="2163"/>
              <a:t>HIP, MIOpen</a:t>
            </a:r>
            <a:endParaRPr sz="2163"/>
          </a:p>
        </p:txBody>
      </p:sp>
      <p:sp>
        <p:nvSpPr>
          <p:cNvPr id="410" name="Google Shape;410;p50"/>
          <p:cNvSpPr txBox="1"/>
          <p:nvPr/>
        </p:nvSpPr>
        <p:spPr>
          <a:xfrm>
            <a:off x="11902298" y="3974801"/>
            <a:ext cx="2760644" cy="796402"/>
          </a:xfrm>
          <a:prstGeom prst="rect">
            <a:avLst/>
          </a:prstGeom>
          <a:solidFill>
            <a:srgbClr val="FFE599"/>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MKL, MKL-DNN</a:t>
            </a:r>
            <a:endParaRPr/>
          </a:p>
        </p:txBody>
      </p:sp>
      <p:sp>
        <p:nvSpPr>
          <p:cNvPr id="411" name="Google Shape;411;p50"/>
          <p:cNvSpPr txBox="1"/>
          <p:nvPr/>
        </p:nvSpPr>
        <p:spPr>
          <a:xfrm>
            <a:off x="8452530" y="5428693"/>
            <a:ext cx="2505449" cy="796402"/>
          </a:xfrm>
          <a:prstGeom prst="rect">
            <a:avLst/>
          </a:prstGeom>
          <a:solidFill>
            <a:srgbClr val="00C7B2"/>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GPUs</a:t>
            </a:r>
            <a:endParaRPr/>
          </a:p>
        </p:txBody>
      </p:sp>
      <p:sp>
        <p:nvSpPr>
          <p:cNvPr id="412" name="Google Shape;412;p50"/>
          <p:cNvSpPr txBox="1"/>
          <p:nvPr/>
        </p:nvSpPr>
        <p:spPr>
          <a:xfrm>
            <a:off x="12029896" y="5428693"/>
            <a:ext cx="2505449" cy="796402"/>
          </a:xfrm>
          <a:prstGeom prst="rect">
            <a:avLst/>
          </a:prstGeom>
          <a:solidFill>
            <a:srgbClr val="00C7B2"/>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CPUs</a:t>
            </a:r>
            <a:endParaRPr/>
          </a:p>
        </p:txBody>
      </p:sp>
      <p:cxnSp>
        <p:nvCxnSpPr>
          <p:cNvPr id="413" name="Google Shape;413;p50"/>
          <p:cNvCxnSpPr>
            <a:stCxn id="409" idx="2"/>
            <a:endCxn id="411" idx="0"/>
          </p:cNvCxnSpPr>
          <p:nvPr/>
        </p:nvCxnSpPr>
        <p:spPr>
          <a:xfrm>
            <a:off x="9705254" y="4771203"/>
            <a:ext cx="0" cy="657451"/>
          </a:xfrm>
          <a:prstGeom prst="straightConnector1">
            <a:avLst/>
          </a:prstGeom>
          <a:noFill/>
          <a:ln w="28575" cap="flat" cmpd="sng">
            <a:solidFill>
              <a:schemeClr val="dk2"/>
            </a:solidFill>
            <a:prstDash val="solid"/>
            <a:round/>
            <a:headEnd type="none" w="med" len="med"/>
            <a:tailEnd type="none" w="med" len="med"/>
          </a:ln>
        </p:spPr>
      </p:cxnSp>
      <p:cxnSp>
        <p:nvCxnSpPr>
          <p:cNvPr id="414" name="Google Shape;414;p50"/>
          <p:cNvCxnSpPr>
            <a:stCxn id="410" idx="2"/>
            <a:endCxn id="412" idx="0"/>
          </p:cNvCxnSpPr>
          <p:nvPr/>
        </p:nvCxnSpPr>
        <p:spPr>
          <a:xfrm>
            <a:off x="13282620" y="4771203"/>
            <a:ext cx="0" cy="657451"/>
          </a:xfrm>
          <a:prstGeom prst="straightConnector1">
            <a:avLst/>
          </a:prstGeom>
          <a:noFill/>
          <a:ln w="28575" cap="flat" cmpd="sng">
            <a:solidFill>
              <a:schemeClr val="dk2"/>
            </a:solidFill>
            <a:prstDash val="solid"/>
            <a:round/>
            <a:headEnd type="none" w="med" len="med"/>
            <a:tailEnd type="none" w="med" len="med"/>
          </a:ln>
        </p:spPr>
      </p:cxnSp>
      <p:cxnSp>
        <p:nvCxnSpPr>
          <p:cNvPr id="415" name="Google Shape;415;p50"/>
          <p:cNvCxnSpPr>
            <a:stCxn id="401" idx="2"/>
            <a:endCxn id="409" idx="0"/>
          </p:cNvCxnSpPr>
          <p:nvPr/>
        </p:nvCxnSpPr>
        <p:spPr>
          <a:xfrm>
            <a:off x="8070458" y="3317311"/>
            <a:ext cx="1634976" cy="657451"/>
          </a:xfrm>
          <a:prstGeom prst="straightConnector1">
            <a:avLst/>
          </a:prstGeom>
          <a:noFill/>
          <a:ln w="28575" cap="flat" cmpd="sng">
            <a:solidFill>
              <a:schemeClr val="dk2"/>
            </a:solidFill>
            <a:prstDash val="solid"/>
            <a:round/>
            <a:headEnd type="none" w="med" len="med"/>
            <a:tailEnd type="none" w="med" len="med"/>
          </a:ln>
        </p:spPr>
      </p:cxnSp>
      <p:cxnSp>
        <p:nvCxnSpPr>
          <p:cNvPr id="416" name="Google Shape;416;p50"/>
          <p:cNvCxnSpPr>
            <a:stCxn id="400" idx="2"/>
            <a:endCxn id="409" idx="0"/>
          </p:cNvCxnSpPr>
          <p:nvPr/>
        </p:nvCxnSpPr>
        <p:spPr>
          <a:xfrm flipH="1">
            <a:off x="9704984" y="3317311"/>
            <a:ext cx="218429" cy="657451"/>
          </a:xfrm>
          <a:prstGeom prst="straightConnector1">
            <a:avLst/>
          </a:prstGeom>
          <a:noFill/>
          <a:ln w="28575" cap="flat" cmpd="sng">
            <a:solidFill>
              <a:schemeClr val="dk2"/>
            </a:solidFill>
            <a:prstDash val="solid"/>
            <a:round/>
            <a:headEnd type="none" w="med" len="med"/>
            <a:tailEnd type="none" w="med" len="med"/>
          </a:ln>
        </p:spPr>
      </p:cxnSp>
      <p:cxnSp>
        <p:nvCxnSpPr>
          <p:cNvPr id="417" name="Google Shape;417;p50"/>
          <p:cNvCxnSpPr>
            <a:stCxn id="403" idx="2"/>
            <a:endCxn id="409" idx="0"/>
          </p:cNvCxnSpPr>
          <p:nvPr/>
        </p:nvCxnSpPr>
        <p:spPr>
          <a:xfrm flipH="1">
            <a:off x="9705074" y="3317311"/>
            <a:ext cx="2071294" cy="657451"/>
          </a:xfrm>
          <a:prstGeom prst="straightConnector1">
            <a:avLst/>
          </a:prstGeom>
          <a:noFill/>
          <a:ln w="28575" cap="flat" cmpd="sng">
            <a:solidFill>
              <a:schemeClr val="dk2"/>
            </a:solidFill>
            <a:prstDash val="solid"/>
            <a:round/>
            <a:headEnd type="none" w="med" len="med"/>
            <a:tailEnd type="none" w="med" len="med"/>
          </a:ln>
        </p:spPr>
      </p:cxnSp>
      <p:cxnSp>
        <p:nvCxnSpPr>
          <p:cNvPr id="418" name="Google Shape;418;p50"/>
          <p:cNvCxnSpPr>
            <a:stCxn id="404" idx="2"/>
            <a:endCxn id="409" idx="0"/>
          </p:cNvCxnSpPr>
          <p:nvPr/>
        </p:nvCxnSpPr>
        <p:spPr>
          <a:xfrm flipH="1">
            <a:off x="9705435" y="3317311"/>
            <a:ext cx="3681399" cy="657451"/>
          </a:xfrm>
          <a:prstGeom prst="straightConnector1">
            <a:avLst/>
          </a:prstGeom>
          <a:noFill/>
          <a:ln w="28575" cap="flat" cmpd="sng">
            <a:solidFill>
              <a:schemeClr val="dk2"/>
            </a:solidFill>
            <a:prstDash val="solid"/>
            <a:round/>
            <a:headEnd type="none" w="med" len="med"/>
            <a:tailEnd type="none" w="med" len="med"/>
          </a:ln>
        </p:spPr>
      </p:cxnSp>
      <p:cxnSp>
        <p:nvCxnSpPr>
          <p:cNvPr id="419" name="Google Shape;419;p50"/>
          <p:cNvCxnSpPr>
            <a:stCxn id="405" idx="2"/>
            <a:endCxn id="409" idx="0"/>
          </p:cNvCxnSpPr>
          <p:nvPr/>
        </p:nvCxnSpPr>
        <p:spPr>
          <a:xfrm flipH="1">
            <a:off x="9705254" y="3317311"/>
            <a:ext cx="5292045" cy="657451"/>
          </a:xfrm>
          <a:prstGeom prst="straightConnector1">
            <a:avLst/>
          </a:prstGeom>
          <a:noFill/>
          <a:ln w="28575" cap="flat" cmpd="sng">
            <a:solidFill>
              <a:schemeClr val="dk2"/>
            </a:solidFill>
            <a:prstDash val="solid"/>
            <a:round/>
            <a:headEnd type="none" w="med" len="med"/>
            <a:tailEnd type="none" w="med" len="med"/>
          </a:ln>
        </p:spPr>
      </p:cxnSp>
      <p:cxnSp>
        <p:nvCxnSpPr>
          <p:cNvPr id="420" name="Google Shape;420;p50"/>
          <p:cNvCxnSpPr>
            <a:stCxn id="406" idx="2"/>
            <a:endCxn id="409" idx="0"/>
          </p:cNvCxnSpPr>
          <p:nvPr/>
        </p:nvCxnSpPr>
        <p:spPr>
          <a:xfrm flipH="1">
            <a:off x="9705074" y="3317311"/>
            <a:ext cx="6832945" cy="657451"/>
          </a:xfrm>
          <a:prstGeom prst="straightConnector1">
            <a:avLst/>
          </a:prstGeom>
          <a:noFill/>
          <a:ln w="28575" cap="flat" cmpd="sng">
            <a:solidFill>
              <a:schemeClr val="dk2"/>
            </a:solidFill>
            <a:prstDash val="solid"/>
            <a:round/>
            <a:headEnd type="none" w="med" len="med"/>
            <a:tailEnd type="none" w="med" len="med"/>
          </a:ln>
        </p:spPr>
      </p:cxnSp>
      <p:cxnSp>
        <p:nvCxnSpPr>
          <p:cNvPr id="421" name="Google Shape;421;p50"/>
          <p:cNvCxnSpPr>
            <a:stCxn id="406" idx="2"/>
            <a:endCxn id="410" idx="0"/>
          </p:cNvCxnSpPr>
          <p:nvPr/>
        </p:nvCxnSpPr>
        <p:spPr>
          <a:xfrm flipH="1">
            <a:off x="13282665" y="3317311"/>
            <a:ext cx="3255354" cy="657451"/>
          </a:xfrm>
          <a:prstGeom prst="straightConnector1">
            <a:avLst/>
          </a:prstGeom>
          <a:noFill/>
          <a:ln w="28575" cap="flat" cmpd="sng">
            <a:solidFill>
              <a:schemeClr val="dk2"/>
            </a:solidFill>
            <a:prstDash val="solid"/>
            <a:round/>
            <a:headEnd type="none" w="med" len="med"/>
            <a:tailEnd type="none" w="med" len="med"/>
          </a:ln>
        </p:spPr>
      </p:cxnSp>
      <p:cxnSp>
        <p:nvCxnSpPr>
          <p:cNvPr id="422" name="Google Shape;422;p50"/>
          <p:cNvCxnSpPr>
            <a:stCxn id="405" idx="2"/>
            <a:endCxn id="410" idx="0"/>
          </p:cNvCxnSpPr>
          <p:nvPr/>
        </p:nvCxnSpPr>
        <p:spPr>
          <a:xfrm flipH="1">
            <a:off x="13282846" y="3317311"/>
            <a:ext cx="1714454" cy="657451"/>
          </a:xfrm>
          <a:prstGeom prst="straightConnector1">
            <a:avLst/>
          </a:prstGeom>
          <a:noFill/>
          <a:ln w="28575" cap="flat" cmpd="sng">
            <a:solidFill>
              <a:schemeClr val="dk2"/>
            </a:solidFill>
            <a:prstDash val="solid"/>
            <a:round/>
            <a:headEnd type="none" w="med" len="med"/>
            <a:tailEnd type="none" w="med" len="med"/>
          </a:ln>
        </p:spPr>
      </p:cxnSp>
      <p:cxnSp>
        <p:nvCxnSpPr>
          <p:cNvPr id="423" name="Google Shape;423;p50"/>
          <p:cNvCxnSpPr>
            <a:stCxn id="404" idx="2"/>
            <a:endCxn id="410" idx="0"/>
          </p:cNvCxnSpPr>
          <p:nvPr/>
        </p:nvCxnSpPr>
        <p:spPr>
          <a:xfrm flipH="1">
            <a:off x="13282485" y="3317311"/>
            <a:ext cx="104349" cy="657451"/>
          </a:xfrm>
          <a:prstGeom prst="straightConnector1">
            <a:avLst/>
          </a:prstGeom>
          <a:noFill/>
          <a:ln w="28575" cap="flat" cmpd="sng">
            <a:solidFill>
              <a:schemeClr val="dk2"/>
            </a:solidFill>
            <a:prstDash val="solid"/>
            <a:round/>
            <a:headEnd type="none" w="med" len="med"/>
            <a:tailEnd type="none" w="med" len="med"/>
          </a:ln>
        </p:spPr>
      </p:cxnSp>
      <p:cxnSp>
        <p:nvCxnSpPr>
          <p:cNvPr id="424" name="Google Shape;424;p50"/>
          <p:cNvCxnSpPr>
            <a:stCxn id="403" idx="2"/>
            <a:endCxn id="410" idx="0"/>
          </p:cNvCxnSpPr>
          <p:nvPr/>
        </p:nvCxnSpPr>
        <p:spPr>
          <a:xfrm>
            <a:off x="11776368" y="3317311"/>
            <a:ext cx="1506297" cy="657451"/>
          </a:xfrm>
          <a:prstGeom prst="straightConnector1">
            <a:avLst/>
          </a:prstGeom>
          <a:noFill/>
          <a:ln w="28575" cap="flat" cmpd="sng">
            <a:solidFill>
              <a:schemeClr val="dk2"/>
            </a:solidFill>
            <a:prstDash val="solid"/>
            <a:round/>
            <a:headEnd type="none" w="med" len="med"/>
            <a:tailEnd type="none" w="med" len="med"/>
          </a:ln>
        </p:spPr>
      </p:cxnSp>
      <p:cxnSp>
        <p:nvCxnSpPr>
          <p:cNvPr id="425" name="Google Shape;425;p50"/>
          <p:cNvCxnSpPr>
            <a:stCxn id="400" idx="2"/>
            <a:endCxn id="410" idx="0"/>
          </p:cNvCxnSpPr>
          <p:nvPr/>
        </p:nvCxnSpPr>
        <p:spPr>
          <a:xfrm>
            <a:off x="9923413" y="3317311"/>
            <a:ext cx="3359162" cy="657451"/>
          </a:xfrm>
          <a:prstGeom prst="straightConnector1">
            <a:avLst/>
          </a:prstGeom>
          <a:noFill/>
          <a:ln w="28575" cap="flat" cmpd="sng">
            <a:solidFill>
              <a:schemeClr val="dk2"/>
            </a:solidFill>
            <a:prstDash val="solid"/>
            <a:round/>
            <a:headEnd type="none" w="med" len="med"/>
            <a:tailEnd type="none" w="med" len="med"/>
          </a:ln>
        </p:spPr>
      </p:cxnSp>
      <p:cxnSp>
        <p:nvCxnSpPr>
          <p:cNvPr id="426" name="Google Shape;426;p50"/>
          <p:cNvCxnSpPr>
            <a:stCxn id="401" idx="2"/>
            <a:endCxn id="410" idx="0"/>
          </p:cNvCxnSpPr>
          <p:nvPr/>
        </p:nvCxnSpPr>
        <p:spPr>
          <a:xfrm>
            <a:off x="8070458" y="3317311"/>
            <a:ext cx="5212027" cy="657451"/>
          </a:xfrm>
          <a:prstGeom prst="straightConnector1">
            <a:avLst/>
          </a:prstGeom>
          <a:noFill/>
          <a:ln w="28575" cap="flat" cmpd="sng">
            <a:solidFill>
              <a:schemeClr val="dk2"/>
            </a:solidFill>
            <a:prstDash val="solid"/>
            <a:round/>
            <a:headEnd type="none" w="med" len="med"/>
            <a:tailEnd type="none" w="med" len="med"/>
          </a:ln>
        </p:spPr>
      </p:cxnSp>
      <p:sp>
        <p:nvSpPr>
          <p:cNvPr id="427" name="Google Shape;427;p50"/>
          <p:cNvSpPr txBox="1"/>
          <p:nvPr/>
        </p:nvSpPr>
        <p:spPr>
          <a:xfrm>
            <a:off x="10932162" y="1067016"/>
            <a:ext cx="2213489"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TF Estimator</a:t>
            </a:r>
            <a:endParaRPr/>
          </a:p>
        </p:txBody>
      </p:sp>
      <p:sp>
        <p:nvSpPr>
          <p:cNvPr id="428" name="Google Shape;428;p50"/>
          <p:cNvSpPr txBox="1"/>
          <p:nvPr/>
        </p:nvSpPr>
        <p:spPr>
          <a:xfrm>
            <a:off x="13516143" y="1067016"/>
            <a:ext cx="1584153" cy="796402"/>
          </a:xfrm>
          <a:prstGeom prst="rect">
            <a:avLst/>
          </a:prstGeom>
          <a:solidFill>
            <a:srgbClr val="980000"/>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solidFill>
                  <a:schemeClr val="lt1"/>
                </a:solidFill>
              </a:rPr>
              <a:t>torch.nn</a:t>
            </a:r>
            <a:endParaRPr>
              <a:solidFill>
                <a:schemeClr val="lt1"/>
              </a:solidFill>
            </a:endParaRPr>
          </a:p>
        </p:txBody>
      </p:sp>
      <p:sp>
        <p:nvSpPr>
          <p:cNvPr id="429" name="Google Shape;429;p50"/>
          <p:cNvSpPr txBox="1"/>
          <p:nvPr/>
        </p:nvSpPr>
        <p:spPr>
          <a:xfrm>
            <a:off x="15470788" y="1067016"/>
            <a:ext cx="1276514"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Gluon</a:t>
            </a:r>
            <a:endParaRPr/>
          </a:p>
        </p:txBody>
      </p:sp>
      <p:cxnSp>
        <p:nvCxnSpPr>
          <p:cNvPr id="430" name="Google Shape;430;p50"/>
          <p:cNvCxnSpPr>
            <a:stCxn id="427" idx="2"/>
            <a:endCxn id="400" idx="0"/>
          </p:cNvCxnSpPr>
          <p:nvPr/>
        </p:nvCxnSpPr>
        <p:spPr>
          <a:xfrm flipH="1">
            <a:off x="9923278" y="1863418"/>
            <a:ext cx="2115629" cy="657451"/>
          </a:xfrm>
          <a:prstGeom prst="straightConnector1">
            <a:avLst/>
          </a:prstGeom>
          <a:noFill/>
          <a:ln w="28575" cap="flat" cmpd="sng">
            <a:solidFill>
              <a:schemeClr val="dk2"/>
            </a:solidFill>
            <a:prstDash val="solid"/>
            <a:round/>
            <a:headEnd type="none" w="med" len="med"/>
            <a:tailEnd type="none" w="med" len="med"/>
          </a:ln>
        </p:spPr>
      </p:cxnSp>
      <p:sp>
        <p:nvSpPr>
          <p:cNvPr id="431" name="Google Shape;431;p50"/>
          <p:cNvSpPr txBox="1"/>
          <p:nvPr/>
        </p:nvSpPr>
        <p:spPr>
          <a:xfrm>
            <a:off x="7348128" y="1066916"/>
            <a:ext cx="1566311" cy="796402"/>
          </a:xfrm>
          <a:prstGeom prst="rect">
            <a:avLst/>
          </a:prstGeom>
          <a:solidFill>
            <a:srgbClr val="F3F3F3"/>
          </a:solidFill>
          <a:ln w="19050" cap="flat" cmpd="sng">
            <a:solidFill>
              <a:srgbClr val="000000"/>
            </a:solidFill>
            <a:prstDash val="solid"/>
            <a:round/>
            <a:headEnd type="none" w="sm" len="sm"/>
            <a:tailEnd type="none" w="sm" len="sm"/>
          </a:ln>
        </p:spPr>
        <p:txBody>
          <a:bodyPr spcFirstLastPara="1" wrap="square" lIns="164768" tIns="164768" rIns="164768" bIns="164768" anchor="t" anchorCtr="0">
            <a:noAutofit/>
          </a:bodyPr>
          <a:lstStyle/>
          <a:p>
            <a:pPr algn="ctr" rtl="0"/>
            <a:r>
              <a:rPr lang="en"/>
              <a:t>Lasagne</a:t>
            </a:r>
            <a:endParaRPr/>
          </a:p>
        </p:txBody>
      </p:sp>
      <p:cxnSp>
        <p:nvCxnSpPr>
          <p:cNvPr id="432" name="Google Shape;432;p50"/>
          <p:cNvCxnSpPr>
            <a:stCxn id="428" idx="2"/>
            <a:endCxn id="404" idx="0"/>
          </p:cNvCxnSpPr>
          <p:nvPr/>
        </p:nvCxnSpPr>
        <p:spPr>
          <a:xfrm flipH="1">
            <a:off x="13386924" y="1863418"/>
            <a:ext cx="921296" cy="657451"/>
          </a:xfrm>
          <a:prstGeom prst="straightConnector1">
            <a:avLst/>
          </a:prstGeom>
          <a:noFill/>
          <a:ln w="28575" cap="flat" cmpd="sng">
            <a:solidFill>
              <a:schemeClr val="dk2"/>
            </a:solidFill>
            <a:prstDash val="solid"/>
            <a:round/>
            <a:headEnd type="none" w="med" len="med"/>
            <a:tailEnd type="none" w="med" len="med"/>
          </a:ln>
        </p:spPr>
      </p:cxnSp>
      <p:cxnSp>
        <p:nvCxnSpPr>
          <p:cNvPr id="433" name="Google Shape;433;p50"/>
          <p:cNvCxnSpPr>
            <a:stCxn id="429" idx="2"/>
            <a:endCxn id="405" idx="0"/>
          </p:cNvCxnSpPr>
          <p:nvPr/>
        </p:nvCxnSpPr>
        <p:spPr>
          <a:xfrm flipH="1">
            <a:off x="14997435" y="1863418"/>
            <a:ext cx="1111611" cy="657451"/>
          </a:xfrm>
          <a:prstGeom prst="straightConnector1">
            <a:avLst/>
          </a:prstGeom>
          <a:noFill/>
          <a:ln w="28575" cap="flat" cmpd="sng">
            <a:solidFill>
              <a:schemeClr val="dk2"/>
            </a:solidFill>
            <a:prstDash val="solid"/>
            <a:round/>
            <a:headEnd type="none" w="med" len="med"/>
            <a:tailEnd type="none" w="med" len="med"/>
          </a:ln>
        </p:spPr>
      </p:cxnSp>
      <p:cxnSp>
        <p:nvCxnSpPr>
          <p:cNvPr id="434" name="Google Shape;434;p50"/>
          <p:cNvCxnSpPr>
            <a:stCxn id="431" idx="2"/>
            <a:endCxn id="401" idx="0"/>
          </p:cNvCxnSpPr>
          <p:nvPr/>
        </p:nvCxnSpPr>
        <p:spPr>
          <a:xfrm flipH="1">
            <a:off x="8070188" y="1863317"/>
            <a:ext cx="61095" cy="657451"/>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sp>
        <p:nvSpPr>
          <p:cNvPr id="5" name="object 5"/>
          <p:cNvSpPr txBox="1"/>
          <p:nvPr/>
        </p:nvSpPr>
        <p:spPr>
          <a:xfrm>
            <a:off x="1610167" y="2537568"/>
            <a:ext cx="7749540" cy="384849"/>
          </a:xfrm>
          <a:prstGeom prst="rect">
            <a:avLst/>
          </a:prstGeom>
        </p:spPr>
        <p:txBody>
          <a:bodyPr vert="horz" wrap="square" lIns="0" tIns="19050" rIns="0" bIns="0" rtlCol="0">
            <a:spAutoFit/>
          </a:bodyPr>
          <a:lstStyle/>
          <a:p>
            <a:pPr marL="12700" marR="5080">
              <a:lnSpc>
                <a:spcPct val="99000"/>
              </a:lnSpc>
              <a:spcBef>
                <a:spcPts val="150"/>
              </a:spcBef>
              <a:tabLst>
                <a:tab pos="1990089" algn="l"/>
              </a:tabLst>
            </a:pPr>
            <a:endParaRPr sz="2400" dirty="0">
              <a:latin typeface="Trebuchet MS"/>
              <a:cs typeface="Trebuchet MS"/>
            </a:endParaRPr>
          </a:p>
        </p:txBody>
      </p:sp>
      <p:sp>
        <p:nvSpPr>
          <p:cNvPr id="7" name="object 7"/>
          <p:cNvSpPr/>
          <p:nvPr/>
        </p:nvSpPr>
        <p:spPr>
          <a:xfrm>
            <a:off x="1613496" y="9204807"/>
            <a:ext cx="7757159" cy="20320"/>
          </a:xfrm>
          <a:custGeom>
            <a:avLst/>
            <a:gdLst/>
            <a:ahLst/>
            <a:cxnLst/>
            <a:rect l="l" t="t" r="r" b="b"/>
            <a:pathLst>
              <a:path w="7757159" h="20320">
                <a:moveTo>
                  <a:pt x="7756563" y="1447"/>
                </a:moveTo>
                <a:lnTo>
                  <a:pt x="0" y="0"/>
                </a:lnTo>
                <a:lnTo>
                  <a:pt x="0" y="18719"/>
                </a:lnTo>
                <a:lnTo>
                  <a:pt x="7756563" y="20167"/>
                </a:lnTo>
                <a:lnTo>
                  <a:pt x="7756563" y="1447"/>
                </a:lnTo>
                <a:close/>
              </a:path>
            </a:pathLst>
          </a:custGeom>
          <a:solidFill>
            <a:srgbClr val="FFFFFF"/>
          </a:solidFill>
        </p:spPr>
        <p:txBody>
          <a:bodyPr wrap="square" lIns="0" tIns="0" rIns="0" bIns="0" rtlCol="0"/>
          <a:lstStyle/>
          <a:p>
            <a:endParaRPr/>
          </a:p>
        </p:txBody>
      </p:sp>
      <p:pic>
        <p:nvPicPr>
          <p:cNvPr id="11" name="Picture 10">
            <a:extLst>
              <a:ext uri="{FF2B5EF4-FFF2-40B4-BE49-F238E27FC236}">
                <a16:creationId xmlns:a16="http://schemas.microsoft.com/office/drawing/2014/main" id="{F9D58E96-2147-6158-74B7-B48F58949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9731" y="0"/>
            <a:ext cx="14361238" cy="10299700"/>
          </a:xfrm>
          <a:prstGeom prst="rect">
            <a:avLst/>
          </a:prstGeom>
        </p:spPr>
      </p:pic>
      <p:sp>
        <p:nvSpPr>
          <p:cNvPr id="13" name="TextBox 12">
            <a:extLst>
              <a:ext uri="{FF2B5EF4-FFF2-40B4-BE49-F238E27FC236}">
                <a16:creationId xmlns:a16="http://schemas.microsoft.com/office/drawing/2014/main" id="{AF8A75C0-9D4E-2DF9-E201-1C3FB9C557B9}"/>
              </a:ext>
            </a:extLst>
          </p:cNvPr>
          <p:cNvSpPr txBox="1"/>
          <p:nvPr/>
        </p:nvSpPr>
        <p:spPr>
          <a:xfrm>
            <a:off x="9137374" y="9917667"/>
            <a:ext cx="9150626" cy="369332"/>
          </a:xfrm>
          <a:prstGeom prst="rect">
            <a:avLst/>
          </a:prstGeom>
          <a:noFill/>
        </p:spPr>
        <p:txBody>
          <a:bodyPr wrap="square">
            <a:spAutoFit/>
          </a:bodyPr>
          <a:lstStyle/>
          <a:p>
            <a:r>
              <a:rPr lang="en-IN" dirty="0"/>
              <a:t>Source: https://en.wikipedia.org/wiki/Mathematical_formulation_of_the_Standard_Model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DBBE9F-5BA8-07C5-47B7-9792146EB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300700" cy="10299700"/>
          </a:xfrm>
          <a:prstGeom prst="rect">
            <a:avLst/>
          </a:prstGeom>
        </p:spPr>
      </p:pic>
    </p:spTree>
    <p:extLst>
      <p:ext uri="{BB962C8B-B14F-4D97-AF65-F5344CB8AC3E}">
        <p14:creationId xmlns:p14="http://schemas.microsoft.com/office/powerpoint/2010/main" val="3832863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3D5BDA-8A2F-FAC3-C594-A693C259E7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300700" cy="10335223"/>
          </a:xfrm>
          <a:prstGeom prst="rect">
            <a:avLst/>
          </a:prstGeom>
        </p:spPr>
      </p:pic>
    </p:spTree>
    <p:extLst>
      <p:ext uri="{BB962C8B-B14F-4D97-AF65-F5344CB8AC3E}">
        <p14:creationId xmlns:p14="http://schemas.microsoft.com/office/powerpoint/2010/main" val="3648451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5D959C-7518-7D66-9968-3E663B16C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300700" cy="10299700"/>
          </a:xfrm>
          <a:prstGeom prst="rect">
            <a:avLst/>
          </a:prstGeom>
        </p:spPr>
      </p:pic>
    </p:spTree>
    <p:extLst>
      <p:ext uri="{BB962C8B-B14F-4D97-AF65-F5344CB8AC3E}">
        <p14:creationId xmlns:p14="http://schemas.microsoft.com/office/powerpoint/2010/main" val="1398720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302B3B-3422-135D-39AE-94B9274101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300700" cy="10299700"/>
          </a:xfrm>
          <a:prstGeom prst="rect">
            <a:avLst/>
          </a:prstGeom>
        </p:spPr>
      </p:pic>
    </p:spTree>
    <p:extLst>
      <p:ext uri="{BB962C8B-B14F-4D97-AF65-F5344CB8AC3E}">
        <p14:creationId xmlns:p14="http://schemas.microsoft.com/office/powerpoint/2010/main" val="4104327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29B254-3EA5-0F38-0043-236CDE893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065750" cy="10299700"/>
          </a:xfrm>
          <a:prstGeom prst="rect">
            <a:avLst/>
          </a:prstGeom>
        </p:spPr>
      </p:pic>
    </p:spTree>
    <p:extLst>
      <p:ext uri="{BB962C8B-B14F-4D97-AF65-F5344CB8AC3E}">
        <p14:creationId xmlns:p14="http://schemas.microsoft.com/office/powerpoint/2010/main" val="3480514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A2005F-A0A9-8BE0-CB95-5D4CF1637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885"/>
            <a:ext cx="18300700" cy="10271815"/>
          </a:xfrm>
          <a:prstGeom prst="rect">
            <a:avLst/>
          </a:prstGeom>
        </p:spPr>
      </p:pic>
    </p:spTree>
    <p:extLst>
      <p:ext uri="{BB962C8B-B14F-4D97-AF65-F5344CB8AC3E}">
        <p14:creationId xmlns:p14="http://schemas.microsoft.com/office/powerpoint/2010/main" val="3461853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624FE1-D210-6B5D-A591-568AF1D9F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8" y="0"/>
            <a:ext cx="18314228" cy="10299700"/>
          </a:xfrm>
          <a:prstGeom prst="rect">
            <a:avLst/>
          </a:prstGeom>
        </p:spPr>
      </p:pic>
    </p:spTree>
    <p:extLst>
      <p:ext uri="{BB962C8B-B14F-4D97-AF65-F5344CB8AC3E}">
        <p14:creationId xmlns:p14="http://schemas.microsoft.com/office/powerpoint/2010/main" val="3567913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81B1CA-C704-5E74-DAE1-1F1F75D463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50" y="0"/>
            <a:ext cx="18218150" cy="10299700"/>
          </a:xfrm>
          <a:prstGeom prst="rect">
            <a:avLst/>
          </a:prstGeom>
        </p:spPr>
      </p:pic>
    </p:spTree>
    <p:extLst>
      <p:ext uri="{BB962C8B-B14F-4D97-AF65-F5344CB8AC3E}">
        <p14:creationId xmlns:p14="http://schemas.microsoft.com/office/powerpoint/2010/main" val="1333963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4B7EE2-D72C-E55E-1530-D1F50FEF8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 y="37823"/>
            <a:ext cx="18300976" cy="10261877"/>
          </a:xfrm>
          <a:prstGeom prst="rect">
            <a:avLst/>
          </a:prstGeom>
        </p:spPr>
      </p:pic>
    </p:spTree>
    <p:extLst>
      <p:ext uri="{BB962C8B-B14F-4D97-AF65-F5344CB8AC3E}">
        <p14:creationId xmlns:p14="http://schemas.microsoft.com/office/powerpoint/2010/main" val="1530643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sp>
        <p:nvSpPr>
          <p:cNvPr id="3" name="object 3"/>
          <p:cNvSpPr/>
          <p:nvPr/>
        </p:nvSpPr>
        <p:spPr>
          <a:xfrm>
            <a:off x="17329658" y="624954"/>
            <a:ext cx="454025" cy="454025"/>
          </a:xfrm>
          <a:custGeom>
            <a:avLst/>
            <a:gdLst/>
            <a:ahLst/>
            <a:cxnLst/>
            <a:rect l="l" t="t" r="r" b="b"/>
            <a:pathLst>
              <a:path w="454025" h="454025">
                <a:moveTo>
                  <a:pt x="226822" y="453517"/>
                </a:moveTo>
                <a:lnTo>
                  <a:pt x="0" y="453517"/>
                </a:lnTo>
                <a:lnTo>
                  <a:pt x="0" y="0"/>
                </a:lnTo>
                <a:lnTo>
                  <a:pt x="453517" y="0"/>
                </a:lnTo>
                <a:lnTo>
                  <a:pt x="453517" y="453517"/>
                </a:lnTo>
                <a:lnTo>
                  <a:pt x="226822" y="453517"/>
                </a:lnTo>
                <a:close/>
              </a:path>
            </a:pathLst>
          </a:custGeom>
          <a:ln w="18716">
            <a:solidFill>
              <a:srgbClr val="FFFFFF"/>
            </a:solidFill>
          </a:ln>
        </p:spPr>
        <p:txBody>
          <a:bodyPr wrap="square" lIns="0" tIns="0" rIns="0" bIns="0" rtlCol="0"/>
          <a:lstStyle/>
          <a:p>
            <a:endParaRPr/>
          </a:p>
        </p:txBody>
      </p:sp>
      <p:sp>
        <p:nvSpPr>
          <p:cNvPr id="4" name="object 4"/>
          <p:cNvSpPr/>
          <p:nvPr/>
        </p:nvSpPr>
        <p:spPr>
          <a:xfrm>
            <a:off x="452159" y="9469435"/>
            <a:ext cx="454025" cy="454025"/>
          </a:xfrm>
          <a:custGeom>
            <a:avLst/>
            <a:gdLst/>
            <a:ahLst/>
            <a:cxnLst/>
            <a:rect l="l" t="t" r="r" b="b"/>
            <a:pathLst>
              <a:path w="454025" h="454025">
                <a:moveTo>
                  <a:pt x="226794" y="453513"/>
                </a:moveTo>
                <a:lnTo>
                  <a:pt x="0" y="453513"/>
                </a:lnTo>
                <a:lnTo>
                  <a:pt x="0" y="0"/>
                </a:lnTo>
                <a:lnTo>
                  <a:pt x="453588" y="0"/>
                </a:lnTo>
                <a:lnTo>
                  <a:pt x="453588" y="453513"/>
                </a:lnTo>
                <a:lnTo>
                  <a:pt x="226794" y="453513"/>
                </a:lnTo>
                <a:close/>
              </a:path>
            </a:pathLst>
          </a:custGeom>
          <a:ln w="18718">
            <a:solidFill>
              <a:srgbClr val="FFFFFF"/>
            </a:solidFill>
          </a:ln>
        </p:spPr>
        <p:txBody>
          <a:bodyPr wrap="square" lIns="0" tIns="0" rIns="0" bIns="0" rtlCol="0"/>
          <a:lstStyle/>
          <a:p>
            <a:endParaRPr/>
          </a:p>
        </p:txBody>
      </p:sp>
      <p:sp>
        <p:nvSpPr>
          <p:cNvPr id="5" name="object 5"/>
          <p:cNvSpPr/>
          <p:nvPr/>
        </p:nvSpPr>
        <p:spPr>
          <a:xfrm>
            <a:off x="1199500" y="9469435"/>
            <a:ext cx="454025" cy="454025"/>
          </a:xfrm>
          <a:custGeom>
            <a:avLst/>
            <a:gdLst/>
            <a:ahLst/>
            <a:cxnLst/>
            <a:rect l="l" t="t" r="r" b="b"/>
            <a:pathLst>
              <a:path w="454025" h="454025">
                <a:moveTo>
                  <a:pt x="226798" y="453513"/>
                </a:moveTo>
                <a:lnTo>
                  <a:pt x="0" y="453513"/>
                </a:lnTo>
                <a:lnTo>
                  <a:pt x="0" y="0"/>
                </a:lnTo>
                <a:lnTo>
                  <a:pt x="453587" y="0"/>
                </a:lnTo>
                <a:lnTo>
                  <a:pt x="453587" y="453513"/>
                </a:lnTo>
                <a:lnTo>
                  <a:pt x="226798" y="453513"/>
                </a:lnTo>
                <a:close/>
              </a:path>
            </a:pathLst>
          </a:custGeom>
          <a:ln w="18718">
            <a:solidFill>
              <a:srgbClr val="FFFFFF"/>
            </a:solidFill>
          </a:ln>
        </p:spPr>
        <p:txBody>
          <a:bodyPr wrap="square" lIns="0" tIns="0" rIns="0" bIns="0" rtlCol="0"/>
          <a:lstStyle/>
          <a:p>
            <a:endParaRPr/>
          </a:p>
        </p:txBody>
      </p:sp>
      <p:sp>
        <p:nvSpPr>
          <p:cNvPr id="6" name="object 6"/>
          <p:cNvSpPr txBox="1">
            <a:spLocks noGrp="1"/>
          </p:cNvSpPr>
          <p:nvPr>
            <p:ph type="title"/>
          </p:nvPr>
        </p:nvSpPr>
        <p:spPr>
          <a:xfrm>
            <a:off x="8759532" y="2435168"/>
            <a:ext cx="7528991" cy="773930"/>
          </a:xfrm>
          <a:prstGeom prst="rect">
            <a:avLst/>
          </a:prstGeom>
        </p:spPr>
        <p:txBody>
          <a:bodyPr vert="horz" wrap="square" lIns="0" tIns="12065" rIns="0" bIns="0" rtlCol="0">
            <a:spAutoFit/>
          </a:bodyPr>
          <a:lstStyle/>
          <a:p>
            <a:pPr marL="384175">
              <a:lnSpc>
                <a:spcPct val="100000"/>
              </a:lnSpc>
              <a:spcBef>
                <a:spcPts val="95"/>
              </a:spcBef>
            </a:pPr>
            <a:r>
              <a:rPr lang="en-IN" sz="4950" spc="-135" dirty="0"/>
              <a:t>Project Description</a:t>
            </a:r>
            <a:endParaRPr sz="4950" dirty="0"/>
          </a:p>
        </p:txBody>
      </p:sp>
      <p:pic>
        <p:nvPicPr>
          <p:cNvPr id="7" name="object 7"/>
          <p:cNvPicPr/>
          <p:nvPr/>
        </p:nvPicPr>
        <p:blipFill>
          <a:blip r:embed="rId3" cstate="print"/>
          <a:stretch>
            <a:fillRect/>
          </a:stretch>
        </p:blipFill>
        <p:spPr>
          <a:xfrm>
            <a:off x="11535512" y="4293311"/>
            <a:ext cx="1452651" cy="299745"/>
          </a:xfrm>
          <a:prstGeom prst="rect">
            <a:avLst/>
          </a:prstGeom>
        </p:spPr>
      </p:pic>
      <p:sp>
        <p:nvSpPr>
          <p:cNvPr id="8" name="object 8"/>
          <p:cNvSpPr txBox="1"/>
          <p:nvPr/>
        </p:nvSpPr>
        <p:spPr>
          <a:xfrm>
            <a:off x="9131439" y="4211021"/>
            <a:ext cx="7141845" cy="4079963"/>
          </a:xfrm>
          <a:prstGeom prst="rect">
            <a:avLst/>
          </a:prstGeom>
        </p:spPr>
        <p:txBody>
          <a:bodyPr vert="horz" wrap="square" lIns="0" tIns="17145" rIns="0" bIns="0" rtlCol="0">
            <a:spAutoFit/>
          </a:bodyPr>
          <a:lstStyle/>
          <a:p>
            <a:pPr algn="l"/>
            <a:r>
              <a:rPr lang="en-US" sz="2400" b="0" i="0" dirty="0">
                <a:solidFill>
                  <a:srgbClr val="E6EDF3"/>
                </a:solidFill>
                <a:effectLst/>
                <a:highlight>
                  <a:srgbClr val="0D1117"/>
                </a:highlight>
                <a:latin typeface="-apple-system"/>
              </a:rPr>
              <a:t>Aim of the project is to develop a predictive classifier model, based on deep convolutional neural network trained on publicly available big data, that can discriminate efficiently jets produced by top quark decays (signal) from the background jets (noise).</a:t>
            </a:r>
          </a:p>
          <a:p>
            <a:pPr algn="l"/>
            <a:r>
              <a:rPr lang="en-US" sz="2400" b="0" i="0" dirty="0">
                <a:solidFill>
                  <a:srgbClr val="E6EDF3"/>
                </a:solidFill>
                <a:effectLst/>
                <a:highlight>
                  <a:srgbClr val="0D1117"/>
                </a:highlight>
                <a:latin typeface="-apple-system"/>
              </a:rPr>
              <a:t>Work with the </a:t>
            </a:r>
            <a:r>
              <a:rPr lang="en-US" sz="2400" b="0" i="0" u="sng" dirty="0">
                <a:solidFill>
                  <a:srgbClr val="E6EDF3"/>
                </a:solidFill>
                <a:effectLst/>
                <a:highlight>
                  <a:srgbClr val="0D1117"/>
                </a:highlight>
                <a:latin typeface="-apple-system"/>
                <a:hlinkClick r:id="rId4"/>
              </a:rPr>
              <a:t>Deep Learning Toolbox™</a:t>
            </a:r>
            <a:r>
              <a:rPr lang="en-US" sz="2400" b="0" i="0" dirty="0">
                <a:solidFill>
                  <a:srgbClr val="E6EDF3"/>
                </a:solidFill>
                <a:effectLst/>
                <a:highlight>
                  <a:srgbClr val="0D1117"/>
                </a:highlight>
                <a:latin typeface="-apple-system"/>
              </a:rPr>
              <a:t> products to develop and train, validate, and test a deep learning classification network using MATLAB® and publicly available data on </a:t>
            </a:r>
            <a:r>
              <a:rPr lang="en-US" sz="2400" b="0" i="0" u="sng" dirty="0">
                <a:solidFill>
                  <a:srgbClr val="E6EDF3"/>
                </a:solidFill>
                <a:effectLst/>
                <a:highlight>
                  <a:srgbClr val="0D1117"/>
                </a:highlight>
                <a:latin typeface="-apple-system"/>
                <a:hlinkClick r:id="rId5"/>
              </a:rPr>
              <a:t>CERN’s </a:t>
            </a:r>
            <a:r>
              <a:rPr lang="en-US" sz="2400" b="0" i="0" u="sng" dirty="0" err="1">
                <a:solidFill>
                  <a:srgbClr val="E6EDF3"/>
                </a:solidFill>
                <a:effectLst/>
                <a:highlight>
                  <a:srgbClr val="0D1117"/>
                </a:highlight>
                <a:latin typeface="-apple-system"/>
                <a:hlinkClick r:id="rId5"/>
              </a:rPr>
              <a:t>Zenodo</a:t>
            </a:r>
            <a:r>
              <a:rPr lang="en-US" sz="2400" b="0" i="0" u="sng" dirty="0">
                <a:solidFill>
                  <a:srgbClr val="E6EDF3"/>
                </a:solidFill>
                <a:effectLst/>
                <a:highlight>
                  <a:srgbClr val="0D1117"/>
                </a:highlight>
                <a:latin typeface="-apple-system"/>
                <a:hlinkClick r:id="rId5"/>
              </a:rPr>
              <a:t> database</a:t>
            </a:r>
            <a:endParaRPr lang="en-US" sz="2400" b="0" i="0" dirty="0">
              <a:solidFill>
                <a:srgbClr val="E6EDF3"/>
              </a:solidFill>
              <a:effectLst/>
              <a:highlight>
                <a:srgbClr val="0D1117"/>
              </a:highlight>
              <a:latin typeface="-apple-system"/>
            </a:endParaRPr>
          </a:p>
          <a:p>
            <a:br>
              <a:rPr lang="en-US" sz="2400" dirty="0"/>
            </a:br>
            <a:endParaRPr sz="2400" dirty="0">
              <a:latin typeface="Trebuchet MS"/>
              <a:cs typeface="Trebuchet MS"/>
            </a:endParaRPr>
          </a:p>
        </p:txBody>
      </p:sp>
      <p:pic>
        <p:nvPicPr>
          <p:cNvPr id="9" name="object 9"/>
          <p:cNvPicPr/>
          <p:nvPr/>
        </p:nvPicPr>
        <p:blipFill>
          <a:blip r:embed="rId6" cstate="print"/>
          <a:stretch>
            <a:fillRect/>
          </a:stretch>
        </p:blipFill>
        <p:spPr>
          <a:xfrm>
            <a:off x="1036236" y="1055507"/>
            <a:ext cx="5558282" cy="8162925"/>
          </a:xfrm>
          <a:prstGeom prst="rect">
            <a:avLst/>
          </a:prstGeom>
        </p:spPr>
      </p:pic>
      <p:sp>
        <p:nvSpPr>
          <p:cNvPr id="10" name="object 10"/>
          <p:cNvSpPr/>
          <p:nvPr/>
        </p:nvSpPr>
        <p:spPr>
          <a:xfrm>
            <a:off x="9134780" y="9201581"/>
            <a:ext cx="7757159" cy="20320"/>
          </a:xfrm>
          <a:custGeom>
            <a:avLst/>
            <a:gdLst/>
            <a:ahLst/>
            <a:cxnLst/>
            <a:rect l="l" t="t" r="r" b="b"/>
            <a:pathLst>
              <a:path w="7757159" h="20320">
                <a:moveTo>
                  <a:pt x="7756588" y="1447"/>
                </a:moveTo>
                <a:lnTo>
                  <a:pt x="0" y="0"/>
                </a:lnTo>
                <a:lnTo>
                  <a:pt x="0" y="18732"/>
                </a:lnTo>
                <a:lnTo>
                  <a:pt x="7756588" y="20167"/>
                </a:lnTo>
                <a:lnTo>
                  <a:pt x="7756588" y="1447"/>
                </a:lnTo>
                <a:close/>
              </a:path>
            </a:pathLst>
          </a:custGeom>
          <a:solidFill>
            <a:srgbClr val="FFFFFF"/>
          </a:solidFill>
        </p:spPr>
        <p:txBody>
          <a:bodyPr wrap="square" lIns="0" tIns="0" rIns="0" bIns="0" rtlCol="0"/>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sp>
        <p:nvSpPr>
          <p:cNvPr id="3" name="object 3"/>
          <p:cNvSpPr/>
          <p:nvPr/>
        </p:nvSpPr>
        <p:spPr>
          <a:xfrm>
            <a:off x="17329658" y="624954"/>
            <a:ext cx="454025" cy="454025"/>
          </a:xfrm>
          <a:custGeom>
            <a:avLst/>
            <a:gdLst/>
            <a:ahLst/>
            <a:cxnLst/>
            <a:rect l="l" t="t" r="r" b="b"/>
            <a:pathLst>
              <a:path w="454025" h="454025">
                <a:moveTo>
                  <a:pt x="226822" y="453517"/>
                </a:moveTo>
                <a:lnTo>
                  <a:pt x="0" y="453517"/>
                </a:lnTo>
                <a:lnTo>
                  <a:pt x="0" y="0"/>
                </a:lnTo>
                <a:lnTo>
                  <a:pt x="453517" y="0"/>
                </a:lnTo>
                <a:lnTo>
                  <a:pt x="453517" y="453517"/>
                </a:lnTo>
                <a:lnTo>
                  <a:pt x="226822" y="453517"/>
                </a:lnTo>
                <a:close/>
              </a:path>
            </a:pathLst>
          </a:custGeom>
          <a:ln w="18716">
            <a:solidFill>
              <a:srgbClr val="FFFFFF"/>
            </a:solidFill>
          </a:ln>
        </p:spPr>
        <p:txBody>
          <a:bodyPr wrap="square" lIns="0" tIns="0" rIns="0" bIns="0" rtlCol="0"/>
          <a:lstStyle/>
          <a:p>
            <a:endParaRPr/>
          </a:p>
        </p:txBody>
      </p:sp>
      <p:sp>
        <p:nvSpPr>
          <p:cNvPr id="4" name="object 4"/>
          <p:cNvSpPr/>
          <p:nvPr/>
        </p:nvSpPr>
        <p:spPr>
          <a:xfrm>
            <a:off x="452159" y="9469435"/>
            <a:ext cx="454025" cy="454025"/>
          </a:xfrm>
          <a:custGeom>
            <a:avLst/>
            <a:gdLst/>
            <a:ahLst/>
            <a:cxnLst/>
            <a:rect l="l" t="t" r="r" b="b"/>
            <a:pathLst>
              <a:path w="454025" h="454025">
                <a:moveTo>
                  <a:pt x="226794" y="453513"/>
                </a:moveTo>
                <a:lnTo>
                  <a:pt x="0" y="453513"/>
                </a:lnTo>
                <a:lnTo>
                  <a:pt x="0" y="0"/>
                </a:lnTo>
                <a:lnTo>
                  <a:pt x="453588" y="0"/>
                </a:lnTo>
                <a:lnTo>
                  <a:pt x="453588" y="453513"/>
                </a:lnTo>
                <a:lnTo>
                  <a:pt x="226794" y="453513"/>
                </a:lnTo>
                <a:close/>
              </a:path>
            </a:pathLst>
          </a:custGeom>
          <a:ln w="18718">
            <a:solidFill>
              <a:srgbClr val="FFFFFF"/>
            </a:solidFill>
          </a:ln>
        </p:spPr>
        <p:txBody>
          <a:bodyPr wrap="square" lIns="0" tIns="0" rIns="0" bIns="0" rtlCol="0"/>
          <a:lstStyle/>
          <a:p>
            <a:endParaRPr/>
          </a:p>
        </p:txBody>
      </p:sp>
      <p:sp>
        <p:nvSpPr>
          <p:cNvPr id="5" name="object 5"/>
          <p:cNvSpPr/>
          <p:nvPr/>
        </p:nvSpPr>
        <p:spPr>
          <a:xfrm>
            <a:off x="1199500" y="9469435"/>
            <a:ext cx="454025" cy="454025"/>
          </a:xfrm>
          <a:custGeom>
            <a:avLst/>
            <a:gdLst/>
            <a:ahLst/>
            <a:cxnLst/>
            <a:rect l="l" t="t" r="r" b="b"/>
            <a:pathLst>
              <a:path w="454025" h="454025">
                <a:moveTo>
                  <a:pt x="226798" y="453513"/>
                </a:moveTo>
                <a:lnTo>
                  <a:pt x="0" y="453513"/>
                </a:lnTo>
                <a:lnTo>
                  <a:pt x="0" y="0"/>
                </a:lnTo>
                <a:lnTo>
                  <a:pt x="453587" y="0"/>
                </a:lnTo>
                <a:lnTo>
                  <a:pt x="453587" y="453513"/>
                </a:lnTo>
                <a:lnTo>
                  <a:pt x="226798" y="453513"/>
                </a:lnTo>
                <a:close/>
              </a:path>
            </a:pathLst>
          </a:custGeom>
          <a:ln w="18718">
            <a:solidFill>
              <a:srgbClr val="FFFFFF"/>
            </a:solidFill>
          </a:ln>
        </p:spPr>
        <p:txBody>
          <a:bodyPr wrap="square" lIns="0" tIns="0" rIns="0" bIns="0" rtlCol="0"/>
          <a:lstStyle/>
          <a:p>
            <a:endParaRPr/>
          </a:p>
        </p:txBody>
      </p:sp>
      <p:sp>
        <p:nvSpPr>
          <p:cNvPr id="6" name="object 6"/>
          <p:cNvSpPr txBox="1">
            <a:spLocks noGrp="1"/>
          </p:cNvSpPr>
          <p:nvPr>
            <p:ph type="title"/>
          </p:nvPr>
        </p:nvSpPr>
        <p:spPr>
          <a:xfrm>
            <a:off x="8159750" y="50208"/>
            <a:ext cx="7528991" cy="773930"/>
          </a:xfrm>
          <a:prstGeom prst="rect">
            <a:avLst/>
          </a:prstGeom>
        </p:spPr>
        <p:txBody>
          <a:bodyPr vert="horz" wrap="square" lIns="0" tIns="12065" rIns="0" bIns="0" rtlCol="0">
            <a:spAutoFit/>
          </a:bodyPr>
          <a:lstStyle/>
          <a:p>
            <a:pPr marL="384175">
              <a:lnSpc>
                <a:spcPct val="100000"/>
              </a:lnSpc>
              <a:spcBef>
                <a:spcPts val="95"/>
              </a:spcBef>
            </a:pPr>
            <a:r>
              <a:rPr lang="en-IN" sz="4950" spc="-135" dirty="0"/>
              <a:t>Steps:</a:t>
            </a:r>
            <a:endParaRPr sz="4950" dirty="0"/>
          </a:p>
        </p:txBody>
      </p:sp>
      <p:sp>
        <p:nvSpPr>
          <p:cNvPr id="10" name="object 10"/>
          <p:cNvSpPr/>
          <p:nvPr/>
        </p:nvSpPr>
        <p:spPr>
          <a:xfrm>
            <a:off x="9134780" y="9201581"/>
            <a:ext cx="7757159" cy="20320"/>
          </a:xfrm>
          <a:custGeom>
            <a:avLst/>
            <a:gdLst/>
            <a:ahLst/>
            <a:cxnLst/>
            <a:rect l="l" t="t" r="r" b="b"/>
            <a:pathLst>
              <a:path w="7757159" h="20320">
                <a:moveTo>
                  <a:pt x="7756588" y="1447"/>
                </a:moveTo>
                <a:lnTo>
                  <a:pt x="0" y="0"/>
                </a:lnTo>
                <a:lnTo>
                  <a:pt x="0" y="18732"/>
                </a:lnTo>
                <a:lnTo>
                  <a:pt x="7756588" y="20167"/>
                </a:lnTo>
                <a:lnTo>
                  <a:pt x="7756588" y="1447"/>
                </a:lnTo>
                <a:close/>
              </a:path>
            </a:pathLst>
          </a:custGeom>
          <a:solidFill>
            <a:srgbClr val="FFFFFF"/>
          </a:solidFill>
        </p:spPr>
        <p:txBody>
          <a:bodyPr wrap="square" lIns="0" tIns="0" rIns="0" bIns="0" rtlCol="0"/>
          <a:lstStyle/>
          <a:p>
            <a:endParaRPr/>
          </a:p>
        </p:txBody>
      </p:sp>
      <p:sp>
        <p:nvSpPr>
          <p:cNvPr id="11" name="Rectangle 1">
            <a:extLst>
              <a:ext uri="{FF2B5EF4-FFF2-40B4-BE49-F238E27FC236}">
                <a16:creationId xmlns:a16="http://schemas.microsoft.com/office/drawing/2014/main" id="{FEC550CF-2923-7D14-817C-7EF0EC178D18}"/>
              </a:ext>
            </a:extLst>
          </p:cNvPr>
          <p:cNvSpPr>
            <a:spLocks noChangeArrowheads="1"/>
          </p:cNvSpPr>
          <p:nvPr/>
        </p:nvSpPr>
        <p:spPr bwMode="auto">
          <a:xfrm flipH="1">
            <a:off x="8474213" y="787715"/>
            <a:ext cx="8704476" cy="9448692"/>
          </a:xfrm>
          <a:prstGeom prst="rect">
            <a:avLst/>
          </a:prstGeom>
          <a:solidFill>
            <a:srgbClr val="0D11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2352"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lvl="0"/>
            <a:endParaRPr lang="en-US" altLang="en-US" sz="2800" dirty="0"/>
          </a:p>
          <a:p>
            <a:pPr lvl="0">
              <a:buFontTx/>
              <a:buAutoNum type="arabicPeriod"/>
            </a:pPr>
            <a:r>
              <a:rPr kumimoji="0" lang="en-US" altLang="en-US" sz="1800" b="0" i="0" u="none" strike="noStrike" cap="none" normalizeH="0" baseline="0" dirty="0">
                <a:ln>
                  <a:noFill/>
                </a:ln>
                <a:solidFill>
                  <a:srgbClr val="E6EDF3"/>
                </a:solidFill>
                <a:effectLst/>
                <a:latin typeface="-apple-system"/>
              </a:rPr>
              <a:t>Become familiar with the MATLAB based deep learning examples listed in the Background Material section below.</a:t>
            </a:r>
          </a:p>
          <a:p>
            <a:pPr lvl="0"/>
            <a:endParaRPr kumimoji="0" lang="en-US" altLang="en-US" sz="1800" b="0" i="0" u="none" strike="noStrike" cap="none" normalizeH="0" baseline="0" dirty="0">
              <a:ln>
                <a:noFill/>
              </a:ln>
              <a:solidFill>
                <a:srgbClr val="E6EDF3"/>
              </a:solidFill>
              <a:effectLst/>
              <a:latin typeface="-apple-system"/>
            </a:endParaRPr>
          </a:p>
          <a:p>
            <a:pPr lvl="0">
              <a:buFontTx/>
              <a:buAutoNum type="arabicPeriod" startAt="2"/>
            </a:pPr>
            <a:r>
              <a:rPr kumimoji="0" lang="en-US" altLang="en-US" sz="1800" b="0" i="0" u="none" strike="noStrike" cap="none" normalizeH="0" baseline="0" dirty="0">
                <a:ln>
                  <a:noFill/>
                </a:ln>
                <a:solidFill>
                  <a:srgbClr val="E6EDF3"/>
                </a:solidFill>
                <a:effectLst/>
                <a:latin typeface="-apple-system"/>
              </a:rPr>
              <a:t>Download Live Script on: </a:t>
            </a:r>
            <a:r>
              <a:rPr kumimoji="0" lang="en-US" altLang="en-US" sz="1800" b="0" i="0" u="sng" strike="noStrike" cap="none" normalizeH="0" baseline="0" dirty="0">
                <a:ln>
                  <a:noFill/>
                </a:ln>
                <a:solidFill>
                  <a:srgbClr val="E6EDF3"/>
                </a:solidFill>
                <a:effectLst/>
                <a:latin typeface="-apple-system"/>
                <a:hlinkClick r:id="rId3"/>
              </a:rPr>
              <a:t>Deep Learning for Real-Time Top Quark Jet Tagging</a:t>
            </a:r>
            <a:endParaRPr kumimoji="0" lang="en-US" altLang="en-US" sz="1800" b="0" i="0" u="sng" strike="noStrike" cap="none" normalizeH="0" baseline="0" dirty="0">
              <a:ln>
                <a:noFill/>
              </a:ln>
              <a:solidFill>
                <a:srgbClr val="E6EDF3"/>
              </a:solidFill>
              <a:effectLst/>
              <a:latin typeface="-apple-system"/>
            </a:endParaRPr>
          </a:p>
          <a:p>
            <a:pPr lvl="0"/>
            <a:endParaRPr kumimoji="0" lang="en-US" altLang="en-US" sz="1800" b="0" i="0" u="none" strike="noStrike" cap="none" normalizeH="0" baseline="0" dirty="0">
              <a:ln>
                <a:noFill/>
              </a:ln>
              <a:solidFill>
                <a:srgbClr val="E6EDF3"/>
              </a:solidFill>
              <a:effectLst/>
              <a:latin typeface="-apple-system"/>
            </a:endParaRPr>
          </a:p>
          <a:p>
            <a:pPr lvl="0">
              <a:buFontTx/>
              <a:buAutoNum type="arabicPeriod" startAt="3"/>
            </a:pPr>
            <a:r>
              <a:rPr kumimoji="0" lang="en-US" altLang="en-US" sz="1800" b="0" i="0" u="none" strike="noStrike" cap="none" normalizeH="0" baseline="0" dirty="0">
                <a:ln>
                  <a:noFill/>
                </a:ln>
                <a:solidFill>
                  <a:srgbClr val="E6EDF3"/>
                </a:solidFill>
                <a:effectLst/>
                <a:latin typeface="-apple-system"/>
              </a:rPr>
              <a:t>Download particle jets open datasets from: </a:t>
            </a:r>
            <a:r>
              <a:rPr kumimoji="0" lang="en-US" altLang="en-US" sz="1800" b="0" i="0" u="none" strike="noStrike" cap="none" normalizeH="0" baseline="0" dirty="0" err="1">
                <a:ln>
                  <a:noFill/>
                </a:ln>
                <a:solidFill>
                  <a:srgbClr val="E6EDF3"/>
                </a:solidFill>
                <a:effectLst/>
                <a:latin typeface="-apple-system"/>
              </a:rPr>
              <a:t>Kasieczka</a:t>
            </a:r>
            <a:r>
              <a:rPr kumimoji="0" lang="en-US" altLang="en-US" sz="1800" b="0" i="0" u="none" strike="noStrike" cap="none" normalizeH="0" baseline="0" dirty="0">
                <a:ln>
                  <a:noFill/>
                </a:ln>
                <a:solidFill>
                  <a:srgbClr val="E6EDF3"/>
                </a:solidFill>
                <a:effectLst/>
                <a:latin typeface="-apple-system"/>
              </a:rPr>
              <a:t>, Gregor, </a:t>
            </a:r>
            <a:r>
              <a:rPr kumimoji="0" lang="en-US" altLang="en-US" sz="1800" b="0" i="0" u="none" strike="noStrike" cap="none" normalizeH="0" baseline="0" dirty="0" err="1">
                <a:ln>
                  <a:noFill/>
                </a:ln>
                <a:solidFill>
                  <a:srgbClr val="E6EDF3"/>
                </a:solidFill>
                <a:effectLst/>
                <a:latin typeface="-apple-system"/>
              </a:rPr>
              <a:t>Plehn</a:t>
            </a:r>
            <a:r>
              <a:rPr kumimoji="0" lang="en-US" altLang="en-US" sz="1800" b="0" i="0" u="none" strike="noStrike" cap="none" normalizeH="0" baseline="0" dirty="0">
                <a:ln>
                  <a:noFill/>
                </a:ln>
                <a:solidFill>
                  <a:srgbClr val="E6EDF3"/>
                </a:solidFill>
                <a:effectLst/>
                <a:latin typeface="-apple-system"/>
              </a:rPr>
              <a:t>, Tilman, Thompson, Jennifer, &amp; Russel, Michael. (2019). Top Quark Tagging Reference Dataset (v0 (2018_03_27)) [Data set]. </a:t>
            </a:r>
            <a:r>
              <a:rPr kumimoji="0" lang="en-US" altLang="en-US" sz="1800" b="0" i="0" u="none" strike="noStrike" cap="none" normalizeH="0" baseline="0" dirty="0" err="1">
                <a:ln>
                  <a:noFill/>
                </a:ln>
                <a:solidFill>
                  <a:srgbClr val="E6EDF3"/>
                </a:solidFill>
                <a:effectLst/>
                <a:latin typeface="-apple-system"/>
              </a:rPr>
              <a:t>Zenodo</a:t>
            </a:r>
            <a:r>
              <a:rPr kumimoji="0" lang="en-US" altLang="en-US" sz="1800" b="0" i="0" u="none" strike="noStrike" cap="none" normalizeH="0" baseline="0" dirty="0">
                <a:ln>
                  <a:noFill/>
                </a:ln>
                <a:solidFill>
                  <a:srgbClr val="E6EDF3"/>
                </a:solidFill>
                <a:effectLst/>
                <a:latin typeface="-apple-system"/>
              </a:rPr>
              <a:t>. </a:t>
            </a:r>
            <a:r>
              <a:rPr kumimoji="0" lang="en-US" altLang="en-US" sz="1800" b="0" i="0" u="sng" strike="noStrike" cap="none" normalizeH="0" baseline="0" dirty="0">
                <a:ln>
                  <a:noFill/>
                </a:ln>
                <a:solidFill>
                  <a:srgbClr val="E6EDF3"/>
                </a:solidFill>
                <a:effectLst/>
                <a:latin typeface="-apple-system"/>
                <a:hlinkClick r:id="rId4"/>
              </a:rPr>
              <a:t>https://doi.org/10.5281/zenodo.2603256</a:t>
            </a:r>
            <a:endParaRPr kumimoji="0" lang="en-US" altLang="en-US" sz="1800" b="0" i="0" u="sng" strike="noStrike" cap="none" normalizeH="0" baseline="0" dirty="0">
              <a:ln>
                <a:noFill/>
              </a:ln>
              <a:solidFill>
                <a:srgbClr val="E6EDF3"/>
              </a:solidFill>
              <a:effectLst/>
              <a:latin typeface="-apple-system"/>
            </a:endParaRPr>
          </a:p>
          <a:p>
            <a:pPr lvl="0"/>
            <a:endParaRPr kumimoji="0" lang="en-US" altLang="en-US" sz="1800" b="0" i="0" u="none" strike="noStrike" cap="none" normalizeH="0" baseline="0" dirty="0">
              <a:ln>
                <a:noFill/>
              </a:ln>
              <a:solidFill>
                <a:srgbClr val="E6EDF3"/>
              </a:solidFill>
              <a:effectLst/>
              <a:latin typeface="-apple-system"/>
            </a:endParaRPr>
          </a:p>
          <a:p>
            <a:pPr lvl="0">
              <a:buFontTx/>
              <a:buAutoNum type="arabicPeriod" startAt="4"/>
            </a:pPr>
            <a:r>
              <a:rPr kumimoji="0" lang="en-US" altLang="en-US" sz="1800" b="0" i="0" u="none" strike="noStrike" cap="none" normalizeH="0" baseline="0" dirty="0">
                <a:ln>
                  <a:noFill/>
                </a:ln>
                <a:solidFill>
                  <a:srgbClr val="E6EDF3"/>
                </a:solidFill>
                <a:effectLst/>
                <a:latin typeface="-apple-system"/>
              </a:rPr>
              <a:t>Import datasets as pandas </a:t>
            </a:r>
            <a:r>
              <a:rPr kumimoji="0" lang="en-US" altLang="en-US" sz="1800" b="0" i="0" u="none" strike="noStrike" cap="none" normalizeH="0" baseline="0" dirty="0" err="1">
                <a:ln>
                  <a:noFill/>
                </a:ln>
                <a:solidFill>
                  <a:srgbClr val="E6EDF3"/>
                </a:solidFill>
                <a:effectLst/>
                <a:latin typeface="-apple-system"/>
              </a:rPr>
              <a:t>dataframes</a:t>
            </a:r>
            <a:r>
              <a:rPr kumimoji="0" lang="en-US" altLang="en-US" sz="1800" b="0" i="0" u="none" strike="noStrike" cap="none" normalizeH="0" baseline="0" dirty="0">
                <a:ln>
                  <a:noFill/>
                </a:ln>
                <a:solidFill>
                  <a:srgbClr val="E6EDF3"/>
                </a:solidFill>
                <a:effectLst/>
                <a:latin typeface="-apple-system"/>
              </a:rPr>
              <a:t> and save as parquet files. Run Python directly from MATLAB with the following commands:</a:t>
            </a:r>
          </a:p>
          <a:p>
            <a:pPr lvl="0"/>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pyrun</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("import pandas as pd")</a:t>
            </a:r>
          </a:p>
          <a:p>
            <a:pPr lvl="0"/>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pyrun</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a:t>
            </a:r>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df</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a:t>
            </a:r>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pd.read_hdf</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('train.h5','table')") </a:t>
            </a:r>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pyrun</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a:t>
            </a:r>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df.to_parquet</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a:t>
            </a:r>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jets.parquet.gzip</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 compression='</a:t>
            </a:r>
            <a:r>
              <a:rPr kumimoji="0" lang="en-US" altLang="en-US" b="0" i="0" u="none" strike="noStrike" cap="none" normalizeH="0" baseline="0" dirty="0" err="1">
                <a:ln>
                  <a:noFill/>
                </a:ln>
                <a:solidFill>
                  <a:srgbClr val="E6EDF3"/>
                </a:solidFill>
                <a:effectLst/>
                <a:latin typeface="var(--fontStack-monospace, ui-monospace, SFMono-Regular, SF Mono, Menlo, Consolas, Liberation Mono, monospace)"/>
              </a:rPr>
              <a:t>gzip</a:t>
            </a:r>
            <a:r>
              <a:rPr kumimoji="0" lang="en-US" altLang="en-US" b="0" i="0" u="none" strike="noStrike" cap="none" normalizeH="0" baseline="0" dirty="0">
                <a:ln>
                  <a:noFill/>
                </a:ln>
                <a:solidFill>
                  <a:srgbClr val="E6EDF3"/>
                </a:solidFill>
                <a:effectLst/>
                <a:latin typeface="var(--fontStack-monospace, ui-monospace, SFMono-Regular, SF Mono, Menlo, Consolas, Liberation Mono, monospace)"/>
              </a:rPr>
              <a:t>')")</a:t>
            </a:r>
            <a:r>
              <a:rPr kumimoji="0" lang="en-US" altLang="en-US" sz="1100" b="0" i="0" u="none" strike="noStrike" cap="none" normalizeH="0" baseline="0" dirty="0">
                <a:ln>
                  <a:noFill/>
                </a:ln>
                <a:solidFill>
                  <a:srgbClr val="E6EDF3"/>
                </a:solidFill>
                <a:effectLst/>
                <a:latin typeface="var(--fontStack-monospace, ui-monospace, SFMono-Regular, SF Mono, Menlo, Consolas, Liberation Mono, monospace)"/>
              </a:rPr>
              <a:t> </a:t>
            </a:r>
          </a:p>
          <a:p>
            <a:pPr lvl="0"/>
            <a:endParaRPr kumimoji="0" lang="en-US" altLang="en-US" sz="1800" b="0" i="0" u="none" strike="noStrike" cap="none" normalizeH="0" baseline="0" dirty="0">
              <a:ln>
                <a:noFill/>
              </a:ln>
              <a:solidFill>
                <a:srgbClr val="E6EDF3"/>
              </a:solidFill>
              <a:effectLst/>
              <a:latin typeface="-apple-system"/>
            </a:endParaRPr>
          </a:p>
          <a:p>
            <a:pPr lvl="0">
              <a:buFontTx/>
              <a:buAutoNum type="arabicPeriod" startAt="5"/>
            </a:pPr>
            <a:r>
              <a:rPr kumimoji="0" lang="en-US" altLang="en-US" sz="1800" b="0" i="0" u="none" strike="noStrike" cap="none" normalizeH="0" baseline="0" dirty="0">
                <a:ln>
                  <a:noFill/>
                </a:ln>
                <a:solidFill>
                  <a:srgbClr val="E6EDF3"/>
                </a:solidFill>
                <a:effectLst/>
                <a:latin typeface="-apple-system"/>
              </a:rPr>
              <a:t>Use </a:t>
            </a:r>
            <a:r>
              <a:rPr kumimoji="0" lang="en-US" altLang="en-US" sz="1800" b="0" i="0" u="sng" strike="noStrike" cap="none" normalizeH="0" baseline="0" dirty="0">
                <a:ln>
                  <a:noFill/>
                </a:ln>
                <a:solidFill>
                  <a:srgbClr val="E6EDF3"/>
                </a:solidFill>
                <a:effectLst/>
                <a:latin typeface="-apple-system"/>
                <a:hlinkClick r:id="rId5"/>
              </a:rPr>
              <a:t>parquet datastore</a:t>
            </a:r>
            <a:r>
              <a:rPr kumimoji="0" lang="en-US" altLang="en-US" sz="1800" b="0" i="0" u="none" strike="noStrike" cap="none" normalizeH="0" baseline="0" dirty="0">
                <a:ln>
                  <a:noFill/>
                </a:ln>
                <a:solidFill>
                  <a:srgbClr val="E6EDF3"/>
                </a:solidFill>
                <a:effectLst/>
                <a:latin typeface="-apple-system"/>
              </a:rPr>
              <a:t> and </a:t>
            </a:r>
            <a:r>
              <a:rPr kumimoji="0" lang="en-US" altLang="en-US" sz="1800" b="0" i="0" u="sng" strike="noStrike" cap="none" normalizeH="0" baseline="0" dirty="0">
                <a:ln>
                  <a:noFill/>
                </a:ln>
                <a:solidFill>
                  <a:srgbClr val="E6EDF3"/>
                </a:solidFill>
                <a:effectLst/>
                <a:latin typeface="-apple-system"/>
                <a:hlinkClick r:id="rId6"/>
              </a:rPr>
              <a:t>Tall Array</a:t>
            </a:r>
            <a:r>
              <a:rPr kumimoji="0" lang="en-US" altLang="en-US" sz="1800" b="0" i="0" u="none" strike="noStrike" cap="none" normalizeH="0" baseline="0" dirty="0">
                <a:ln>
                  <a:noFill/>
                </a:ln>
                <a:solidFill>
                  <a:srgbClr val="E6EDF3"/>
                </a:solidFill>
                <a:effectLst/>
                <a:latin typeface="-apple-system"/>
              </a:rPr>
              <a:t>, to manage and preprocess the particle jets data and arrange it into 2D grayscale images.</a:t>
            </a:r>
          </a:p>
          <a:p>
            <a:pPr lvl="0"/>
            <a:endParaRPr kumimoji="0" lang="en-US" altLang="en-US" sz="1800" b="0" i="0" u="none" strike="noStrike" cap="none" normalizeH="0" baseline="0" dirty="0">
              <a:ln>
                <a:noFill/>
              </a:ln>
              <a:solidFill>
                <a:srgbClr val="E6EDF3"/>
              </a:solidFill>
              <a:effectLst/>
              <a:latin typeface="-apple-system"/>
            </a:endParaRPr>
          </a:p>
          <a:p>
            <a:pPr lvl="0">
              <a:buFontTx/>
              <a:buAutoNum type="arabicPeriod" startAt="6"/>
            </a:pPr>
            <a:r>
              <a:rPr kumimoji="0" lang="en-US" altLang="en-US" sz="1800" b="0" i="0" u="none" strike="noStrike" cap="none" normalizeH="0" baseline="0" dirty="0">
                <a:ln>
                  <a:noFill/>
                </a:ln>
                <a:solidFill>
                  <a:srgbClr val="E6EDF3"/>
                </a:solidFill>
                <a:effectLst/>
                <a:latin typeface="-apple-system"/>
              </a:rPr>
              <a:t>Build a deep convolutional neural network, analogous to the one in: </a:t>
            </a:r>
            <a:r>
              <a:rPr kumimoji="0" lang="en-US" altLang="en-US" sz="1800" b="0" i="0" u="sng" strike="noStrike" cap="none" normalizeH="0" baseline="0" dirty="0">
                <a:ln>
                  <a:noFill/>
                </a:ln>
                <a:solidFill>
                  <a:srgbClr val="E6EDF3"/>
                </a:solidFill>
                <a:effectLst/>
                <a:latin typeface="-apple-system"/>
                <a:hlinkClick r:id="rId3"/>
              </a:rPr>
              <a:t>Deep Learning for real-Time Top Quark Jet Tagging</a:t>
            </a:r>
            <a:r>
              <a:rPr kumimoji="0" lang="en-US" altLang="en-US" sz="1800" b="0" i="0" u="none" strike="noStrike" cap="none" normalizeH="0" baseline="0" dirty="0">
                <a:ln>
                  <a:noFill/>
                </a:ln>
                <a:solidFill>
                  <a:srgbClr val="E6EDF3"/>
                </a:solidFill>
                <a:effectLst/>
                <a:latin typeface="-apple-system"/>
              </a:rPr>
              <a:t> using </a:t>
            </a:r>
            <a:r>
              <a:rPr kumimoji="0" lang="en-US" altLang="en-US" sz="1800" b="0" i="0" u="sng" strike="noStrike" cap="none" normalizeH="0" baseline="0" dirty="0">
                <a:ln>
                  <a:noFill/>
                </a:ln>
                <a:solidFill>
                  <a:srgbClr val="E6EDF3"/>
                </a:solidFill>
                <a:effectLst/>
                <a:latin typeface="-apple-system"/>
                <a:hlinkClick r:id="rId7"/>
              </a:rPr>
              <a:t>Deep Network designer app</a:t>
            </a:r>
            <a:r>
              <a:rPr kumimoji="0" lang="en-US" altLang="en-US" sz="1800" b="0" i="0" u="none" strike="noStrike" cap="none" normalizeH="0" baseline="0" dirty="0">
                <a:ln>
                  <a:noFill/>
                </a:ln>
                <a:solidFill>
                  <a:srgbClr val="E6EDF3"/>
                </a:solidFill>
                <a:effectLst/>
                <a:latin typeface="-apple-system"/>
              </a:rPr>
              <a:t> and train network using training datasets.</a:t>
            </a:r>
          </a:p>
          <a:p>
            <a:pPr lvl="0"/>
            <a:endParaRPr kumimoji="0" lang="en-US" altLang="en-US" sz="1800" b="0" i="0" u="none" strike="noStrike" cap="none" normalizeH="0" baseline="0" dirty="0">
              <a:ln>
                <a:noFill/>
              </a:ln>
              <a:solidFill>
                <a:srgbClr val="E6EDF3"/>
              </a:solidFill>
              <a:effectLst/>
              <a:latin typeface="-apple-system"/>
            </a:endParaRPr>
          </a:p>
          <a:p>
            <a:pPr lvl="0">
              <a:buFontTx/>
              <a:buAutoNum type="arabicPeriod" startAt="7"/>
            </a:pPr>
            <a:r>
              <a:rPr kumimoji="0" lang="en-US" altLang="en-US" sz="1800" b="0" i="0" u="none" strike="noStrike" cap="none" normalizeH="0" baseline="0" dirty="0">
                <a:ln>
                  <a:noFill/>
                </a:ln>
                <a:solidFill>
                  <a:srgbClr val="E6EDF3"/>
                </a:solidFill>
                <a:effectLst/>
                <a:latin typeface="-apple-system"/>
              </a:rPr>
              <a:t>Check accuracy of the network on test datasets. Use </a:t>
            </a:r>
            <a:r>
              <a:rPr kumimoji="0" lang="en-US" altLang="en-US" sz="1800" b="0" i="0" u="sng" strike="noStrike" cap="none" normalizeH="0" baseline="0" dirty="0" err="1">
                <a:ln>
                  <a:noFill/>
                </a:ln>
                <a:solidFill>
                  <a:srgbClr val="E6EDF3"/>
                </a:solidFill>
                <a:effectLst/>
                <a:latin typeface="-apple-system"/>
                <a:hlinkClick r:id="rId8"/>
              </a:rPr>
              <a:t>imageDatastores</a:t>
            </a:r>
            <a:r>
              <a:rPr kumimoji="0" lang="en-US" altLang="en-US" sz="1800" b="0" i="0" u="none" strike="noStrike" cap="none" normalizeH="0" baseline="0" dirty="0">
                <a:ln>
                  <a:noFill/>
                </a:ln>
                <a:solidFill>
                  <a:srgbClr val="E6EDF3"/>
                </a:solidFill>
                <a:effectLst/>
                <a:latin typeface="-apple-system"/>
              </a:rPr>
              <a:t>, where label sources come from folder names.</a:t>
            </a:r>
          </a:p>
          <a:p>
            <a:pPr lvl="0">
              <a:buFontTx/>
              <a:buAutoNum type="arabicPeriod" startAt="7"/>
            </a:pPr>
            <a:endParaRPr lang="en-US" dirty="0">
              <a:solidFill>
                <a:srgbClr val="E6EDF3"/>
              </a:solidFill>
              <a:highlight>
                <a:srgbClr val="0D1117"/>
              </a:highlight>
              <a:latin typeface="-apple-system"/>
            </a:endParaRPr>
          </a:p>
          <a:p>
            <a:pPr lvl="0"/>
            <a:r>
              <a:rPr lang="en-US" b="0" i="0" u="sng" dirty="0">
                <a:solidFill>
                  <a:srgbClr val="E6EDF3"/>
                </a:solidFill>
                <a:effectLst/>
                <a:highlight>
                  <a:srgbClr val="0D1117"/>
                </a:highlight>
                <a:latin typeface="-apple-system"/>
              </a:rPr>
              <a:t>Project variations:</a:t>
            </a:r>
          </a:p>
          <a:p>
            <a:pPr algn="l">
              <a:buFont typeface="+mj-lt"/>
              <a:buAutoNum type="arabicPeriod"/>
            </a:pPr>
            <a:r>
              <a:rPr lang="en-US" b="0" i="0" dirty="0">
                <a:solidFill>
                  <a:srgbClr val="E6EDF3"/>
                </a:solidFill>
                <a:effectLst/>
                <a:highlight>
                  <a:srgbClr val="0D1117"/>
                </a:highlight>
                <a:latin typeface="-apple-system"/>
              </a:rPr>
              <a:t>Instead of a simple 3-layer CNN, Adopt more complex deep learning networks such as resnet18. Call blank architecture of resnet18 and train its weights. GPU can be handy when training more complicated deep networks, especially when dealing with big data.</a:t>
            </a:r>
          </a:p>
          <a:p>
            <a:pPr algn="l">
              <a:buFont typeface="+mj-lt"/>
              <a:buAutoNum type="arabicPeriod"/>
            </a:pPr>
            <a:endParaRPr lang="en-US" b="0" i="0" dirty="0">
              <a:solidFill>
                <a:srgbClr val="E6EDF3"/>
              </a:solidFill>
              <a:effectLst/>
              <a:highlight>
                <a:srgbClr val="0D1117"/>
              </a:highlight>
              <a:latin typeface="-apple-system"/>
            </a:endParaRPr>
          </a:p>
          <a:p>
            <a:pPr algn="l">
              <a:buFont typeface="+mj-lt"/>
              <a:buAutoNum type="arabicPeriod"/>
            </a:pPr>
            <a:r>
              <a:rPr lang="en-US" b="0" i="0" dirty="0">
                <a:solidFill>
                  <a:srgbClr val="E6EDF3"/>
                </a:solidFill>
                <a:effectLst/>
                <a:highlight>
                  <a:srgbClr val="0D1117"/>
                </a:highlight>
                <a:latin typeface="-apple-system"/>
              </a:rPr>
              <a:t>Instead of gray-scale images use additional variables of the jets and encode them into the color of the image. In practice researchers use up to 7 or 8 colors.</a:t>
            </a:r>
          </a:p>
        </p:txBody>
      </p:sp>
      <p:pic>
        <p:nvPicPr>
          <p:cNvPr id="13" name="Picture 12">
            <a:extLst>
              <a:ext uri="{FF2B5EF4-FFF2-40B4-BE49-F238E27FC236}">
                <a16:creationId xmlns:a16="http://schemas.microsoft.com/office/drawing/2014/main" id="{3BE64527-EF13-FC6E-F3F5-77027BEF9C6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2159" y="926214"/>
            <a:ext cx="6912743" cy="8179682"/>
          </a:xfrm>
          <a:prstGeom prst="rect">
            <a:avLst/>
          </a:prstGeom>
        </p:spPr>
      </p:pic>
    </p:spTree>
    <p:extLst>
      <p:ext uri="{BB962C8B-B14F-4D97-AF65-F5344CB8AC3E}">
        <p14:creationId xmlns:p14="http://schemas.microsoft.com/office/powerpoint/2010/main" val="826301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grpSp>
        <p:nvGrpSpPr>
          <p:cNvPr id="3" name="object 3"/>
          <p:cNvGrpSpPr/>
          <p:nvPr/>
        </p:nvGrpSpPr>
        <p:grpSpPr>
          <a:xfrm>
            <a:off x="466559" y="506152"/>
            <a:ext cx="17355185" cy="9275445"/>
            <a:chOff x="466559" y="506152"/>
            <a:chExt cx="17355185" cy="9275445"/>
          </a:xfrm>
        </p:grpSpPr>
        <p:sp>
          <p:nvSpPr>
            <p:cNvPr id="4" name="object 4"/>
            <p:cNvSpPr/>
            <p:nvPr/>
          </p:nvSpPr>
          <p:spPr>
            <a:xfrm>
              <a:off x="466559" y="506152"/>
              <a:ext cx="17355185" cy="9275445"/>
            </a:xfrm>
            <a:custGeom>
              <a:avLst/>
              <a:gdLst/>
              <a:ahLst/>
              <a:cxnLst/>
              <a:rect l="l" t="t" r="r" b="b"/>
              <a:pathLst>
                <a:path w="17355185" h="9275445">
                  <a:moveTo>
                    <a:pt x="8677427" y="9275008"/>
                  </a:moveTo>
                  <a:lnTo>
                    <a:pt x="0" y="9275008"/>
                  </a:lnTo>
                  <a:lnTo>
                    <a:pt x="0" y="0"/>
                  </a:lnTo>
                  <a:lnTo>
                    <a:pt x="17354842" y="0"/>
                  </a:lnTo>
                  <a:lnTo>
                    <a:pt x="17354842" y="9275008"/>
                  </a:lnTo>
                  <a:lnTo>
                    <a:pt x="8677427" y="9275008"/>
                  </a:lnTo>
                  <a:close/>
                </a:path>
              </a:pathLst>
            </a:custGeom>
            <a:ln w="18719">
              <a:solidFill>
                <a:srgbClr val="FFFFFF"/>
              </a:solidFill>
            </a:ln>
          </p:spPr>
          <p:txBody>
            <a:bodyPr wrap="square" lIns="0" tIns="0" rIns="0" bIns="0" rtlCol="0"/>
            <a:lstStyle/>
            <a:p>
              <a:endParaRPr/>
            </a:p>
          </p:txBody>
        </p:sp>
        <p:sp>
          <p:nvSpPr>
            <p:cNvPr id="5" name="object 5"/>
            <p:cNvSpPr/>
            <p:nvPr/>
          </p:nvSpPr>
          <p:spPr>
            <a:xfrm>
              <a:off x="15376257" y="8753758"/>
              <a:ext cx="1948180" cy="454025"/>
            </a:xfrm>
            <a:custGeom>
              <a:avLst/>
              <a:gdLst/>
              <a:ahLst/>
              <a:cxnLst/>
              <a:rect l="l" t="t" r="r" b="b"/>
              <a:pathLst>
                <a:path w="1948180" h="454025">
                  <a:moveTo>
                    <a:pt x="226842" y="453516"/>
                  </a:moveTo>
                  <a:lnTo>
                    <a:pt x="0" y="453516"/>
                  </a:lnTo>
                  <a:lnTo>
                    <a:pt x="0" y="0"/>
                  </a:lnTo>
                  <a:lnTo>
                    <a:pt x="453557" y="0"/>
                  </a:lnTo>
                  <a:lnTo>
                    <a:pt x="453557" y="453516"/>
                  </a:lnTo>
                  <a:lnTo>
                    <a:pt x="226842" y="453516"/>
                  </a:lnTo>
                  <a:close/>
                </a:path>
                <a:path w="1948180" h="454025">
                  <a:moveTo>
                    <a:pt x="973415" y="453516"/>
                  </a:moveTo>
                  <a:lnTo>
                    <a:pt x="746700" y="453516"/>
                  </a:lnTo>
                  <a:lnTo>
                    <a:pt x="746700" y="0"/>
                  </a:lnTo>
                  <a:lnTo>
                    <a:pt x="1200258" y="0"/>
                  </a:lnTo>
                  <a:lnTo>
                    <a:pt x="1200258" y="453516"/>
                  </a:lnTo>
                  <a:lnTo>
                    <a:pt x="973415" y="453516"/>
                  </a:lnTo>
                  <a:close/>
                </a:path>
                <a:path w="1948180" h="454025">
                  <a:moveTo>
                    <a:pt x="1720877" y="453516"/>
                  </a:moveTo>
                  <a:lnTo>
                    <a:pt x="1494035" y="453516"/>
                  </a:lnTo>
                  <a:lnTo>
                    <a:pt x="1494035" y="0"/>
                  </a:lnTo>
                  <a:lnTo>
                    <a:pt x="1947593" y="0"/>
                  </a:lnTo>
                  <a:lnTo>
                    <a:pt x="1947593" y="453516"/>
                  </a:lnTo>
                  <a:lnTo>
                    <a:pt x="1720877" y="453516"/>
                  </a:lnTo>
                  <a:close/>
                </a:path>
              </a:pathLst>
            </a:custGeom>
            <a:ln w="18718">
              <a:solidFill>
                <a:srgbClr val="FFFFFF"/>
              </a:solidFill>
            </a:ln>
          </p:spPr>
          <p:txBody>
            <a:bodyPr wrap="square" lIns="0" tIns="0" rIns="0" bIns="0" rtlCol="0"/>
            <a:lstStyle/>
            <a:p>
              <a:endParaRPr/>
            </a:p>
          </p:txBody>
        </p:sp>
      </p:grpSp>
      <p:sp>
        <p:nvSpPr>
          <p:cNvPr id="7" name="object 7"/>
          <p:cNvSpPr txBox="1">
            <a:spLocks noGrp="1"/>
          </p:cNvSpPr>
          <p:nvPr>
            <p:ph type="title"/>
          </p:nvPr>
        </p:nvSpPr>
        <p:spPr>
          <a:xfrm>
            <a:off x="8759532" y="2442953"/>
            <a:ext cx="7077709" cy="722630"/>
          </a:xfrm>
          <a:prstGeom prst="rect">
            <a:avLst/>
          </a:prstGeom>
        </p:spPr>
        <p:txBody>
          <a:bodyPr vert="horz" wrap="square" lIns="0" tIns="15240" rIns="0" bIns="0" rtlCol="0">
            <a:spAutoFit/>
          </a:bodyPr>
          <a:lstStyle/>
          <a:p>
            <a:pPr marL="12700">
              <a:lnSpc>
                <a:spcPct val="100000"/>
              </a:lnSpc>
              <a:spcBef>
                <a:spcPts val="120"/>
              </a:spcBef>
            </a:pPr>
            <a:r>
              <a:rPr lang="en-IN" sz="4550" spc="-110" dirty="0"/>
              <a:t>Background Resources</a:t>
            </a:r>
            <a:endParaRPr sz="4550" dirty="0"/>
          </a:p>
        </p:txBody>
      </p:sp>
      <p:pic>
        <p:nvPicPr>
          <p:cNvPr id="8" name="object 8"/>
          <p:cNvPicPr/>
          <p:nvPr/>
        </p:nvPicPr>
        <p:blipFill>
          <a:blip r:embed="rId3" cstate="print"/>
          <a:stretch>
            <a:fillRect/>
          </a:stretch>
        </p:blipFill>
        <p:spPr>
          <a:xfrm>
            <a:off x="9397162" y="4291482"/>
            <a:ext cx="1452676" cy="299758"/>
          </a:xfrm>
          <a:prstGeom prst="rect">
            <a:avLst/>
          </a:prstGeom>
        </p:spPr>
      </p:pic>
      <p:sp>
        <p:nvSpPr>
          <p:cNvPr id="9" name="object 9"/>
          <p:cNvSpPr txBox="1"/>
          <p:nvPr/>
        </p:nvSpPr>
        <p:spPr>
          <a:xfrm>
            <a:off x="8759532" y="4209193"/>
            <a:ext cx="7015480" cy="4446089"/>
          </a:xfrm>
          <a:prstGeom prst="rect">
            <a:avLst/>
          </a:prstGeom>
        </p:spPr>
        <p:txBody>
          <a:bodyPr vert="horz" wrap="square" lIns="0" tIns="13970" rIns="0" bIns="0" rtlCol="0">
            <a:spAutoFit/>
          </a:bodyPr>
          <a:lstStyle/>
          <a:p>
            <a:pPr algn="l"/>
            <a:r>
              <a:rPr lang="en-US" sz="2400" b="0" i="0" dirty="0">
                <a:solidFill>
                  <a:srgbClr val="E6EDF3"/>
                </a:solidFill>
                <a:effectLst/>
                <a:highlight>
                  <a:srgbClr val="0D1117"/>
                </a:highlight>
                <a:latin typeface="-apple-system"/>
              </a:rPr>
              <a:t>For Deep Learning:</a:t>
            </a:r>
          </a:p>
          <a:p>
            <a:pPr algn="l">
              <a:buFont typeface="Arial" panose="020B0604020202020204" pitchFamily="34" charset="0"/>
              <a:buChar char="•"/>
            </a:pPr>
            <a:r>
              <a:rPr lang="en-US" sz="2400" b="0" i="0" u="sng" dirty="0">
                <a:solidFill>
                  <a:srgbClr val="E6EDF3"/>
                </a:solidFill>
                <a:effectLst/>
                <a:highlight>
                  <a:srgbClr val="0D1117"/>
                </a:highlight>
                <a:latin typeface="-apple-system"/>
                <a:hlinkClick r:id="rId4"/>
              </a:rPr>
              <a:t>Get started with Deep Learning Toolbox</a:t>
            </a:r>
            <a:r>
              <a:rPr lang="en-US" sz="2400" b="0" i="0" dirty="0">
                <a:solidFill>
                  <a:srgbClr val="E6EDF3"/>
                </a:solidFill>
                <a:effectLst/>
                <a:highlight>
                  <a:srgbClr val="0D1117"/>
                </a:highlight>
                <a:latin typeface="-apple-system"/>
              </a:rPr>
              <a:t> for simple examples of designing and training deep learning networks.</a:t>
            </a:r>
          </a:p>
          <a:p>
            <a:pPr algn="l">
              <a:buFont typeface="Arial" panose="020B0604020202020204" pitchFamily="34" charset="0"/>
              <a:buChar char="•"/>
            </a:pPr>
            <a:r>
              <a:rPr lang="en-US" sz="2400" b="0" i="0" u="sng" dirty="0">
                <a:solidFill>
                  <a:srgbClr val="E6EDF3"/>
                </a:solidFill>
                <a:effectLst/>
                <a:highlight>
                  <a:srgbClr val="0D1117"/>
                </a:highlight>
                <a:latin typeface="-apple-system"/>
                <a:hlinkClick r:id="rId5"/>
              </a:rPr>
              <a:t>Deep Learning for Top Quark Jet Tagging, without using Big Data</a:t>
            </a:r>
            <a:endParaRPr lang="en-US" sz="2400" b="0" i="0" dirty="0">
              <a:solidFill>
                <a:srgbClr val="E6EDF3"/>
              </a:solidFill>
              <a:effectLst/>
              <a:highlight>
                <a:srgbClr val="0D1117"/>
              </a:highlight>
              <a:latin typeface="-apple-system"/>
            </a:endParaRPr>
          </a:p>
          <a:p>
            <a:pPr algn="l"/>
            <a:br>
              <a:rPr lang="en-US" sz="2400" dirty="0"/>
            </a:br>
            <a:r>
              <a:rPr lang="en-US" sz="2400" b="0" i="0" dirty="0">
                <a:solidFill>
                  <a:srgbClr val="E6EDF3"/>
                </a:solidFill>
                <a:effectLst/>
                <a:highlight>
                  <a:srgbClr val="0D1117"/>
                </a:highlight>
                <a:latin typeface="-apple-system"/>
              </a:rPr>
              <a:t>For Big Data:</a:t>
            </a:r>
          </a:p>
          <a:p>
            <a:pPr algn="l">
              <a:buFont typeface="Arial" panose="020B0604020202020204" pitchFamily="34" charset="0"/>
              <a:buChar char="•"/>
            </a:pPr>
            <a:r>
              <a:rPr lang="en-US" sz="2400" b="0" i="0" u="sng" dirty="0">
                <a:solidFill>
                  <a:srgbClr val="E6EDF3"/>
                </a:solidFill>
                <a:effectLst/>
                <a:highlight>
                  <a:srgbClr val="0D1117"/>
                </a:highlight>
                <a:latin typeface="-apple-system"/>
                <a:hlinkClick r:id="rId6"/>
              </a:rPr>
              <a:t>Datastore for Parquet files</a:t>
            </a:r>
            <a:endParaRPr lang="en-US" sz="2400" b="0" i="0" dirty="0">
              <a:solidFill>
                <a:srgbClr val="E6EDF3"/>
              </a:solidFill>
              <a:effectLst/>
              <a:highlight>
                <a:srgbClr val="0D1117"/>
              </a:highlight>
              <a:latin typeface="-apple-system"/>
            </a:endParaRPr>
          </a:p>
          <a:p>
            <a:pPr algn="l">
              <a:buFont typeface="Arial" panose="020B0604020202020204" pitchFamily="34" charset="0"/>
              <a:buChar char="•"/>
            </a:pPr>
            <a:r>
              <a:rPr lang="en-US" sz="2400" b="0" i="0" u="sng" dirty="0">
                <a:solidFill>
                  <a:srgbClr val="E6EDF3"/>
                </a:solidFill>
                <a:effectLst/>
                <a:highlight>
                  <a:srgbClr val="0D1117"/>
                </a:highlight>
                <a:latin typeface="-apple-system"/>
                <a:hlinkClick r:id="rId7"/>
              </a:rPr>
              <a:t>Tall Array for working with Big Data</a:t>
            </a:r>
            <a:endParaRPr lang="en-US" sz="2400" b="0" i="0" dirty="0">
              <a:solidFill>
                <a:srgbClr val="E6EDF3"/>
              </a:solidFill>
              <a:effectLst/>
              <a:highlight>
                <a:srgbClr val="0D1117"/>
              </a:highlight>
              <a:latin typeface="-apple-system"/>
            </a:endParaRPr>
          </a:p>
          <a:p>
            <a:br>
              <a:rPr lang="en-US" sz="2400" b="0" i="0" dirty="0">
                <a:solidFill>
                  <a:srgbClr val="E6EDF3"/>
                </a:solidFill>
                <a:effectLst/>
                <a:highlight>
                  <a:srgbClr val="0D1117"/>
                </a:highlight>
                <a:latin typeface="-apple-system"/>
              </a:rPr>
            </a:br>
            <a:endParaRPr sz="2400" dirty="0">
              <a:latin typeface="Trebuchet MS"/>
              <a:cs typeface="Trebuchet MS"/>
            </a:endParaRPr>
          </a:p>
        </p:txBody>
      </p:sp>
      <p:pic>
        <p:nvPicPr>
          <p:cNvPr id="11" name="Picture 10">
            <a:extLst>
              <a:ext uri="{FF2B5EF4-FFF2-40B4-BE49-F238E27FC236}">
                <a16:creationId xmlns:a16="http://schemas.microsoft.com/office/drawing/2014/main" id="{E16AC11F-A82A-C135-34EA-239DF0FDBA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6263" y="1599416"/>
            <a:ext cx="6726287" cy="7315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pic>
        <p:nvPicPr>
          <p:cNvPr id="3" name="object 3"/>
          <p:cNvPicPr/>
          <p:nvPr/>
        </p:nvPicPr>
        <p:blipFill>
          <a:blip r:embed="rId3" cstate="print"/>
          <a:stretch>
            <a:fillRect/>
          </a:stretch>
        </p:blipFill>
        <p:spPr>
          <a:xfrm>
            <a:off x="2051304" y="3849624"/>
            <a:ext cx="3995928" cy="917448"/>
          </a:xfrm>
          <a:prstGeom prst="rect">
            <a:avLst/>
          </a:prstGeom>
        </p:spPr>
      </p:pic>
      <p:pic>
        <p:nvPicPr>
          <p:cNvPr id="4" name="object 4"/>
          <p:cNvPicPr/>
          <p:nvPr/>
        </p:nvPicPr>
        <p:blipFill>
          <a:blip r:embed="rId4" cstate="print"/>
          <a:stretch>
            <a:fillRect/>
          </a:stretch>
        </p:blipFill>
        <p:spPr>
          <a:xfrm>
            <a:off x="14689201" y="4271975"/>
            <a:ext cx="1452753" cy="299745"/>
          </a:xfrm>
          <a:prstGeom prst="rect">
            <a:avLst/>
          </a:prstGeom>
        </p:spPr>
      </p:pic>
      <p:sp>
        <p:nvSpPr>
          <p:cNvPr id="5" name="object 5"/>
          <p:cNvSpPr txBox="1"/>
          <p:nvPr/>
        </p:nvSpPr>
        <p:spPr>
          <a:xfrm>
            <a:off x="7306369" y="3818364"/>
            <a:ext cx="8670925" cy="2219960"/>
          </a:xfrm>
          <a:prstGeom prst="rect">
            <a:avLst/>
          </a:prstGeom>
        </p:spPr>
        <p:txBody>
          <a:bodyPr vert="horz" wrap="square" lIns="0" tIns="19050" rIns="0" bIns="0" rtlCol="0">
            <a:spAutoFit/>
          </a:bodyPr>
          <a:lstStyle/>
          <a:p>
            <a:pPr marL="12700" marR="5080">
              <a:lnSpc>
                <a:spcPct val="99000"/>
              </a:lnSpc>
              <a:spcBef>
                <a:spcPts val="150"/>
              </a:spcBef>
            </a:pPr>
            <a:r>
              <a:rPr sz="2400" dirty="0">
                <a:solidFill>
                  <a:srgbClr val="FFFFFF"/>
                </a:solidFill>
                <a:latin typeface="Trebuchet MS"/>
                <a:cs typeface="Trebuchet MS"/>
              </a:rPr>
              <a:t>In</a:t>
            </a:r>
            <a:r>
              <a:rPr sz="2400" spc="-40" dirty="0">
                <a:solidFill>
                  <a:srgbClr val="FFFFFF"/>
                </a:solidFill>
                <a:latin typeface="Trebuchet MS"/>
                <a:cs typeface="Trebuchet MS"/>
              </a:rPr>
              <a:t> </a:t>
            </a:r>
            <a:r>
              <a:rPr sz="2400" dirty="0">
                <a:solidFill>
                  <a:srgbClr val="FFFFFF"/>
                </a:solidFill>
                <a:latin typeface="Trebuchet MS"/>
                <a:cs typeface="Trebuchet MS"/>
              </a:rPr>
              <a:t>conclusion,</a:t>
            </a:r>
            <a:r>
              <a:rPr sz="2400" spc="-35" dirty="0">
                <a:solidFill>
                  <a:srgbClr val="FFFFFF"/>
                </a:solidFill>
                <a:latin typeface="Trebuchet MS"/>
                <a:cs typeface="Trebuchet MS"/>
              </a:rPr>
              <a:t> </a:t>
            </a:r>
            <a:r>
              <a:rPr sz="2400" dirty="0">
                <a:solidFill>
                  <a:srgbClr val="FFFFFF"/>
                </a:solidFill>
                <a:latin typeface="Trebuchet MS"/>
                <a:cs typeface="Trebuchet MS"/>
              </a:rPr>
              <a:t>the</a:t>
            </a:r>
            <a:r>
              <a:rPr sz="2400" spc="-35" dirty="0">
                <a:solidFill>
                  <a:srgbClr val="FFFFFF"/>
                </a:solidFill>
                <a:latin typeface="Trebuchet MS"/>
                <a:cs typeface="Trebuchet MS"/>
              </a:rPr>
              <a:t> </a:t>
            </a:r>
            <a:r>
              <a:rPr sz="2400" dirty="0">
                <a:solidFill>
                  <a:srgbClr val="FFFFFF"/>
                </a:solidFill>
                <a:latin typeface="Trebuchet MS"/>
                <a:cs typeface="Trebuchet MS"/>
              </a:rPr>
              <a:t>fusion</a:t>
            </a:r>
            <a:r>
              <a:rPr sz="2400" spc="-35" dirty="0">
                <a:solidFill>
                  <a:srgbClr val="FFFFFF"/>
                </a:solidFill>
                <a:latin typeface="Trebuchet MS"/>
                <a:cs typeface="Trebuchet MS"/>
              </a:rPr>
              <a:t> </a:t>
            </a:r>
            <a:r>
              <a:rPr sz="2400" dirty="0">
                <a:solidFill>
                  <a:srgbClr val="FFFFFF"/>
                </a:solidFill>
                <a:latin typeface="Trebuchet MS"/>
                <a:cs typeface="Trebuchet MS"/>
              </a:rPr>
              <a:t>of</a:t>
            </a:r>
            <a:r>
              <a:rPr sz="2400" spc="-90" dirty="0">
                <a:solidFill>
                  <a:srgbClr val="FFFFFF"/>
                </a:solidFill>
                <a:latin typeface="Trebuchet MS"/>
                <a:cs typeface="Trebuchet MS"/>
              </a:rPr>
              <a:t> </a:t>
            </a:r>
            <a:r>
              <a:rPr sz="2450" i="1" spc="120" dirty="0">
                <a:solidFill>
                  <a:srgbClr val="FFFFFF"/>
                </a:solidFill>
                <a:latin typeface="Trebuchet MS"/>
                <a:cs typeface="Trebuchet MS"/>
              </a:rPr>
              <a:t>Deep</a:t>
            </a:r>
            <a:r>
              <a:rPr sz="2450" i="1" spc="-50" dirty="0">
                <a:solidFill>
                  <a:srgbClr val="FFFFFF"/>
                </a:solidFill>
                <a:latin typeface="Trebuchet MS"/>
                <a:cs typeface="Trebuchet MS"/>
              </a:rPr>
              <a:t> </a:t>
            </a:r>
            <a:r>
              <a:rPr sz="2450" i="1" dirty="0">
                <a:solidFill>
                  <a:srgbClr val="FFFFFF"/>
                </a:solidFill>
                <a:latin typeface="Trebuchet MS"/>
                <a:cs typeface="Trebuchet MS"/>
              </a:rPr>
              <a:t>Learning</a:t>
            </a:r>
            <a:r>
              <a:rPr sz="2450" i="1" spc="-50" dirty="0">
                <a:solidFill>
                  <a:srgbClr val="FFFFFF"/>
                </a:solidFill>
                <a:latin typeface="Trebuchet MS"/>
                <a:cs typeface="Trebuchet MS"/>
              </a:rPr>
              <a:t> </a:t>
            </a:r>
            <a:r>
              <a:rPr sz="2400" spc="90" dirty="0">
                <a:solidFill>
                  <a:srgbClr val="FFFFFF"/>
                </a:solidFill>
                <a:latin typeface="Trebuchet MS"/>
                <a:cs typeface="Trebuchet MS"/>
              </a:rPr>
              <a:t>and</a:t>
            </a:r>
            <a:r>
              <a:rPr sz="2400" spc="-40" dirty="0">
                <a:solidFill>
                  <a:srgbClr val="FFFFFF"/>
                </a:solidFill>
                <a:latin typeface="Trebuchet MS"/>
                <a:cs typeface="Trebuchet MS"/>
              </a:rPr>
              <a:t> </a:t>
            </a:r>
            <a:r>
              <a:rPr sz="2450" i="1" spc="70" dirty="0">
                <a:solidFill>
                  <a:srgbClr val="FFFFFF"/>
                </a:solidFill>
                <a:latin typeface="Trebuchet MS"/>
                <a:cs typeface="Trebuchet MS"/>
              </a:rPr>
              <a:t>Big</a:t>
            </a:r>
            <a:r>
              <a:rPr sz="2450" i="1" spc="-50" dirty="0">
                <a:solidFill>
                  <a:srgbClr val="FFFFFF"/>
                </a:solidFill>
                <a:latin typeface="Trebuchet MS"/>
                <a:cs typeface="Trebuchet MS"/>
              </a:rPr>
              <a:t> </a:t>
            </a:r>
            <a:r>
              <a:rPr sz="2450" i="1" spc="-20" dirty="0">
                <a:solidFill>
                  <a:srgbClr val="FFFFFF"/>
                </a:solidFill>
                <a:latin typeface="Trebuchet MS"/>
                <a:cs typeface="Trebuchet MS"/>
              </a:rPr>
              <a:t>Data </a:t>
            </a:r>
            <a:r>
              <a:rPr sz="2450" i="1" dirty="0">
                <a:solidFill>
                  <a:srgbClr val="FFFFFF"/>
                </a:solidFill>
                <a:latin typeface="Trebuchet MS"/>
                <a:cs typeface="Trebuchet MS"/>
              </a:rPr>
              <a:t>Analysis</a:t>
            </a:r>
            <a:r>
              <a:rPr sz="2450" i="1" spc="-60" dirty="0">
                <a:solidFill>
                  <a:srgbClr val="FFFFFF"/>
                </a:solidFill>
                <a:latin typeface="Trebuchet MS"/>
                <a:cs typeface="Trebuchet MS"/>
              </a:rPr>
              <a:t> </a:t>
            </a:r>
            <a:r>
              <a:rPr sz="2400" dirty="0">
                <a:solidFill>
                  <a:srgbClr val="FFFFFF"/>
                </a:solidFill>
                <a:latin typeface="Trebuchet MS"/>
                <a:cs typeface="Trebuchet MS"/>
              </a:rPr>
              <a:t>oﬀers</a:t>
            </a:r>
            <a:r>
              <a:rPr sz="2400" spc="-45" dirty="0">
                <a:solidFill>
                  <a:srgbClr val="FFFFFF"/>
                </a:solidFill>
                <a:latin typeface="Trebuchet MS"/>
                <a:cs typeface="Trebuchet MS"/>
              </a:rPr>
              <a:t> </a:t>
            </a:r>
            <a:r>
              <a:rPr sz="2400" dirty="0">
                <a:solidFill>
                  <a:srgbClr val="FFFFFF"/>
                </a:solidFill>
                <a:latin typeface="Trebuchet MS"/>
                <a:cs typeface="Trebuchet MS"/>
              </a:rPr>
              <a:t>a</a:t>
            </a:r>
            <a:r>
              <a:rPr sz="2400" spc="-45" dirty="0">
                <a:solidFill>
                  <a:srgbClr val="FFFFFF"/>
                </a:solidFill>
                <a:latin typeface="Trebuchet MS"/>
                <a:cs typeface="Trebuchet MS"/>
              </a:rPr>
              <a:t> </a:t>
            </a:r>
            <a:r>
              <a:rPr sz="2400" dirty="0">
                <a:solidFill>
                  <a:srgbClr val="FFFFFF"/>
                </a:solidFill>
                <a:latin typeface="Trebuchet MS"/>
                <a:cs typeface="Trebuchet MS"/>
              </a:rPr>
              <a:t>transformative</a:t>
            </a:r>
            <a:r>
              <a:rPr sz="2400" spc="-45" dirty="0">
                <a:solidFill>
                  <a:srgbClr val="FFFFFF"/>
                </a:solidFill>
                <a:latin typeface="Trebuchet MS"/>
                <a:cs typeface="Trebuchet MS"/>
              </a:rPr>
              <a:t> </a:t>
            </a:r>
            <a:r>
              <a:rPr sz="2400" dirty="0">
                <a:solidFill>
                  <a:srgbClr val="FFFFFF"/>
                </a:solidFill>
                <a:latin typeface="Trebuchet MS"/>
                <a:cs typeface="Trebuchet MS"/>
              </a:rPr>
              <a:t>pathway</a:t>
            </a:r>
            <a:r>
              <a:rPr sz="2400" spc="-114" dirty="0">
                <a:solidFill>
                  <a:srgbClr val="FFFFFF"/>
                </a:solidFill>
                <a:latin typeface="Trebuchet MS"/>
                <a:cs typeface="Trebuchet MS"/>
              </a:rPr>
              <a:t> </a:t>
            </a:r>
            <a:r>
              <a:rPr sz="2400" dirty="0">
                <a:solidFill>
                  <a:srgbClr val="FFFFFF"/>
                </a:solidFill>
                <a:latin typeface="Trebuchet MS"/>
                <a:cs typeface="Trebuchet MS"/>
              </a:rPr>
              <a:t>to</a:t>
            </a:r>
            <a:r>
              <a:rPr sz="2400" spc="-45" dirty="0">
                <a:solidFill>
                  <a:srgbClr val="FFFFFF"/>
                </a:solidFill>
                <a:latin typeface="Trebuchet MS"/>
                <a:cs typeface="Trebuchet MS"/>
              </a:rPr>
              <a:t> </a:t>
            </a:r>
            <a:r>
              <a:rPr sz="2400" spc="65" dirty="0">
                <a:solidFill>
                  <a:srgbClr val="FFFFFF"/>
                </a:solidFill>
                <a:latin typeface="Trebuchet MS"/>
                <a:cs typeface="Trebuchet MS"/>
              </a:rPr>
              <a:t>enhance </a:t>
            </a:r>
            <a:r>
              <a:rPr sz="2400" spc="-25" dirty="0">
                <a:solidFill>
                  <a:srgbClr val="FFFFFF"/>
                </a:solidFill>
                <a:latin typeface="Trebuchet MS"/>
                <a:cs typeface="Trebuchet MS"/>
              </a:rPr>
              <a:t>detection,</a:t>
            </a:r>
            <a:r>
              <a:rPr sz="2400" spc="-100" dirty="0">
                <a:solidFill>
                  <a:srgbClr val="FFFFFF"/>
                </a:solidFill>
                <a:latin typeface="Trebuchet MS"/>
                <a:cs typeface="Trebuchet MS"/>
              </a:rPr>
              <a:t> </a:t>
            </a:r>
            <a:r>
              <a:rPr sz="2400" dirty="0">
                <a:solidFill>
                  <a:srgbClr val="FFFFFF"/>
                </a:solidFill>
                <a:latin typeface="Trebuchet MS"/>
                <a:cs typeface="Trebuchet MS"/>
              </a:rPr>
              <a:t>revolutionizing</a:t>
            </a:r>
            <a:r>
              <a:rPr sz="2400" spc="-100" dirty="0">
                <a:solidFill>
                  <a:srgbClr val="FFFFFF"/>
                </a:solidFill>
                <a:latin typeface="Trebuchet MS"/>
                <a:cs typeface="Trebuchet MS"/>
              </a:rPr>
              <a:t> </a:t>
            </a:r>
            <a:r>
              <a:rPr sz="2400" dirty="0">
                <a:solidFill>
                  <a:srgbClr val="FFFFFF"/>
                </a:solidFill>
                <a:latin typeface="Trebuchet MS"/>
                <a:cs typeface="Trebuchet MS"/>
              </a:rPr>
              <a:t>the</a:t>
            </a:r>
            <a:r>
              <a:rPr sz="2400" spc="-95" dirty="0">
                <a:solidFill>
                  <a:srgbClr val="FFFFFF"/>
                </a:solidFill>
                <a:latin typeface="Trebuchet MS"/>
                <a:cs typeface="Trebuchet MS"/>
              </a:rPr>
              <a:t> </a:t>
            </a:r>
            <a:r>
              <a:rPr sz="2400" spc="80" dirty="0">
                <a:solidFill>
                  <a:srgbClr val="FFFFFF"/>
                </a:solidFill>
                <a:latin typeface="Trebuchet MS"/>
                <a:cs typeface="Trebuchet MS"/>
              </a:rPr>
              <a:t>landscape</a:t>
            </a:r>
            <a:r>
              <a:rPr sz="2400" spc="-100" dirty="0">
                <a:solidFill>
                  <a:srgbClr val="FFFFFF"/>
                </a:solidFill>
                <a:latin typeface="Trebuchet MS"/>
                <a:cs typeface="Trebuchet MS"/>
              </a:rPr>
              <a:t> </a:t>
            </a:r>
            <a:r>
              <a:rPr sz="2400" dirty="0">
                <a:solidFill>
                  <a:srgbClr val="FFFFFF"/>
                </a:solidFill>
                <a:latin typeface="Trebuchet MS"/>
                <a:cs typeface="Trebuchet MS"/>
              </a:rPr>
              <a:t>of</a:t>
            </a:r>
            <a:r>
              <a:rPr sz="2400" spc="-150" dirty="0">
                <a:solidFill>
                  <a:srgbClr val="FFFFFF"/>
                </a:solidFill>
                <a:latin typeface="Trebuchet MS"/>
                <a:cs typeface="Trebuchet MS"/>
              </a:rPr>
              <a:t> </a:t>
            </a:r>
            <a:r>
              <a:rPr sz="2400" spc="-10" dirty="0">
                <a:solidFill>
                  <a:srgbClr val="FFFFFF"/>
                </a:solidFill>
                <a:latin typeface="Trebuchet MS"/>
                <a:cs typeface="Trebuchet MS"/>
              </a:rPr>
              <a:t>particle</a:t>
            </a:r>
            <a:r>
              <a:rPr sz="2400" spc="-100" dirty="0">
                <a:solidFill>
                  <a:srgbClr val="FFFFFF"/>
                </a:solidFill>
                <a:latin typeface="Trebuchet MS"/>
                <a:cs typeface="Trebuchet MS"/>
              </a:rPr>
              <a:t> </a:t>
            </a:r>
            <a:r>
              <a:rPr sz="2400" spc="65" dirty="0">
                <a:solidFill>
                  <a:srgbClr val="FFFFFF"/>
                </a:solidFill>
                <a:latin typeface="Trebuchet MS"/>
                <a:cs typeface="Trebuchet MS"/>
              </a:rPr>
              <a:t>physics </a:t>
            </a:r>
            <a:r>
              <a:rPr sz="2400" spc="-20" dirty="0">
                <a:solidFill>
                  <a:srgbClr val="FFFFFF"/>
                </a:solidFill>
                <a:latin typeface="Trebuchet MS"/>
                <a:cs typeface="Trebuchet MS"/>
              </a:rPr>
              <a:t>research.</a:t>
            </a:r>
            <a:r>
              <a:rPr sz="2400" spc="-135" dirty="0">
                <a:solidFill>
                  <a:srgbClr val="FFFFFF"/>
                </a:solidFill>
                <a:latin typeface="Trebuchet MS"/>
                <a:cs typeface="Trebuchet MS"/>
              </a:rPr>
              <a:t> </a:t>
            </a:r>
            <a:r>
              <a:rPr sz="2400" spc="50" dirty="0">
                <a:solidFill>
                  <a:srgbClr val="FFFFFF"/>
                </a:solidFill>
                <a:latin typeface="Trebuchet MS"/>
                <a:cs typeface="Trebuchet MS"/>
              </a:rPr>
              <a:t>With</a:t>
            </a:r>
            <a:r>
              <a:rPr sz="2400" spc="-40" dirty="0">
                <a:solidFill>
                  <a:srgbClr val="FFFFFF"/>
                </a:solidFill>
                <a:latin typeface="Trebuchet MS"/>
                <a:cs typeface="Trebuchet MS"/>
              </a:rPr>
              <a:t> </a:t>
            </a:r>
            <a:r>
              <a:rPr sz="2400" dirty="0">
                <a:solidFill>
                  <a:srgbClr val="FFFFFF"/>
                </a:solidFill>
                <a:latin typeface="Trebuchet MS"/>
                <a:cs typeface="Trebuchet MS"/>
              </a:rPr>
              <a:t>continued</a:t>
            </a:r>
            <a:r>
              <a:rPr sz="2400" spc="-35" dirty="0">
                <a:solidFill>
                  <a:srgbClr val="FFFFFF"/>
                </a:solidFill>
                <a:latin typeface="Trebuchet MS"/>
                <a:cs typeface="Trebuchet MS"/>
              </a:rPr>
              <a:t> </a:t>
            </a:r>
            <a:r>
              <a:rPr sz="2400" dirty="0">
                <a:solidFill>
                  <a:srgbClr val="FFFFFF"/>
                </a:solidFill>
                <a:latin typeface="Trebuchet MS"/>
                <a:cs typeface="Trebuchet MS"/>
              </a:rPr>
              <a:t>innovation</a:t>
            </a:r>
            <a:r>
              <a:rPr sz="2400" spc="-40" dirty="0">
                <a:solidFill>
                  <a:srgbClr val="FFFFFF"/>
                </a:solidFill>
                <a:latin typeface="Trebuchet MS"/>
                <a:cs typeface="Trebuchet MS"/>
              </a:rPr>
              <a:t> </a:t>
            </a:r>
            <a:r>
              <a:rPr sz="2400" spc="90" dirty="0">
                <a:solidFill>
                  <a:srgbClr val="FFFFFF"/>
                </a:solidFill>
                <a:latin typeface="Trebuchet MS"/>
                <a:cs typeface="Trebuchet MS"/>
              </a:rPr>
              <a:t>and</a:t>
            </a:r>
            <a:r>
              <a:rPr sz="2400" spc="-35" dirty="0">
                <a:solidFill>
                  <a:srgbClr val="FFFFFF"/>
                </a:solidFill>
                <a:latin typeface="Trebuchet MS"/>
                <a:cs typeface="Trebuchet MS"/>
              </a:rPr>
              <a:t> </a:t>
            </a:r>
            <a:r>
              <a:rPr sz="2400" spc="-10" dirty="0">
                <a:solidFill>
                  <a:srgbClr val="FFFFFF"/>
                </a:solidFill>
                <a:latin typeface="Trebuchet MS"/>
                <a:cs typeface="Trebuchet MS"/>
              </a:rPr>
              <a:t>collaboration,</a:t>
            </a:r>
            <a:r>
              <a:rPr sz="2400" spc="-110" dirty="0">
                <a:solidFill>
                  <a:srgbClr val="FFFFFF"/>
                </a:solidFill>
                <a:latin typeface="Trebuchet MS"/>
                <a:cs typeface="Trebuchet MS"/>
              </a:rPr>
              <a:t> </a:t>
            </a:r>
            <a:r>
              <a:rPr sz="2400" spc="100" dirty="0">
                <a:solidFill>
                  <a:srgbClr val="FFFFFF"/>
                </a:solidFill>
                <a:latin typeface="Trebuchet MS"/>
                <a:cs typeface="Trebuchet MS"/>
              </a:rPr>
              <a:t>we</a:t>
            </a:r>
            <a:r>
              <a:rPr sz="2400" spc="-40" dirty="0">
                <a:solidFill>
                  <a:srgbClr val="FFFFFF"/>
                </a:solidFill>
                <a:latin typeface="Trebuchet MS"/>
                <a:cs typeface="Trebuchet MS"/>
              </a:rPr>
              <a:t> </a:t>
            </a:r>
            <a:r>
              <a:rPr sz="2400" spc="-25" dirty="0">
                <a:solidFill>
                  <a:srgbClr val="FFFFFF"/>
                </a:solidFill>
                <a:latin typeface="Trebuchet MS"/>
                <a:cs typeface="Trebuchet MS"/>
              </a:rPr>
              <a:t>are </a:t>
            </a:r>
            <a:r>
              <a:rPr sz="2400" spc="80" dirty="0">
                <a:solidFill>
                  <a:srgbClr val="FFFFFF"/>
                </a:solidFill>
                <a:latin typeface="Trebuchet MS"/>
                <a:cs typeface="Trebuchet MS"/>
              </a:rPr>
              <a:t>poised</a:t>
            </a:r>
            <a:r>
              <a:rPr sz="2400" spc="-110" dirty="0">
                <a:solidFill>
                  <a:srgbClr val="FFFFFF"/>
                </a:solidFill>
                <a:latin typeface="Trebuchet MS"/>
                <a:cs typeface="Trebuchet MS"/>
              </a:rPr>
              <a:t> </a:t>
            </a:r>
            <a:r>
              <a:rPr sz="2400" dirty="0">
                <a:solidFill>
                  <a:srgbClr val="FFFFFF"/>
                </a:solidFill>
                <a:latin typeface="Trebuchet MS"/>
                <a:cs typeface="Trebuchet MS"/>
              </a:rPr>
              <a:t>to</a:t>
            </a:r>
            <a:r>
              <a:rPr sz="2400" spc="-105" dirty="0">
                <a:solidFill>
                  <a:srgbClr val="FFFFFF"/>
                </a:solidFill>
                <a:latin typeface="Trebuchet MS"/>
                <a:cs typeface="Trebuchet MS"/>
              </a:rPr>
              <a:t> </a:t>
            </a:r>
            <a:r>
              <a:rPr sz="2400" spc="65" dirty="0">
                <a:solidFill>
                  <a:srgbClr val="FFFFFF"/>
                </a:solidFill>
                <a:latin typeface="Trebuchet MS"/>
                <a:cs typeface="Trebuchet MS"/>
              </a:rPr>
              <a:t>unlock</a:t>
            </a:r>
            <a:r>
              <a:rPr sz="2400" spc="-105" dirty="0">
                <a:solidFill>
                  <a:srgbClr val="FFFFFF"/>
                </a:solidFill>
                <a:latin typeface="Trebuchet MS"/>
                <a:cs typeface="Trebuchet MS"/>
              </a:rPr>
              <a:t> </a:t>
            </a:r>
            <a:r>
              <a:rPr sz="2400" spc="90" dirty="0">
                <a:solidFill>
                  <a:srgbClr val="FFFFFF"/>
                </a:solidFill>
                <a:latin typeface="Trebuchet MS"/>
                <a:cs typeface="Trebuchet MS"/>
              </a:rPr>
              <a:t>new</a:t>
            </a:r>
            <a:r>
              <a:rPr sz="2400" spc="-170" dirty="0">
                <a:solidFill>
                  <a:srgbClr val="FFFFFF"/>
                </a:solidFill>
                <a:latin typeface="Trebuchet MS"/>
                <a:cs typeface="Trebuchet MS"/>
              </a:rPr>
              <a:t> </a:t>
            </a:r>
            <a:r>
              <a:rPr sz="2400" spc="-25" dirty="0">
                <a:solidFill>
                  <a:srgbClr val="FFFFFF"/>
                </a:solidFill>
                <a:latin typeface="Trebuchet MS"/>
                <a:cs typeface="Trebuchet MS"/>
              </a:rPr>
              <a:t>frontiers</a:t>
            </a:r>
            <a:r>
              <a:rPr sz="2400" spc="-105" dirty="0">
                <a:solidFill>
                  <a:srgbClr val="FFFFFF"/>
                </a:solidFill>
                <a:latin typeface="Trebuchet MS"/>
                <a:cs typeface="Trebuchet MS"/>
              </a:rPr>
              <a:t> </a:t>
            </a:r>
            <a:r>
              <a:rPr sz="2400" spc="-20" dirty="0">
                <a:solidFill>
                  <a:srgbClr val="FFFFFF"/>
                </a:solidFill>
                <a:latin typeface="Trebuchet MS"/>
                <a:cs typeface="Trebuchet MS"/>
              </a:rPr>
              <a:t>in</a:t>
            </a:r>
            <a:r>
              <a:rPr sz="2400" spc="-105" dirty="0">
                <a:solidFill>
                  <a:srgbClr val="FFFFFF"/>
                </a:solidFill>
                <a:latin typeface="Trebuchet MS"/>
                <a:cs typeface="Trebuchet MS"/>
              </a:rPr>
              <a:t> </a:t>
            </a:r>
            <a:r>
              <a:rPr sz="2400" dirty="0">
                <a:solidFill>
                  <a:srgbClr val="FFFFFF"/>
                </a:solidFill>
                <a:latin typeface="Trebuchet MS"/>
                <a:cs typeface="Trebuchet MS"/>
              </a:rPr>
              <a:t>our</a:t>
            </a:r>
            <a:r>
              <a:rPr sz="2400" spc="-165" dirty="0">
                <a:solidFill>
                  <a:srgbClr val="FFFFFF"/>
                </a:solidFill>
                <a:latin typeface="Trebuchet MS"/>
                <a:cs typeface="Trebuchet MS"/>
              </a:rPr>
              <a:t> </a:t>
            </a:r>
            <a:r>
              <a:rPr sz="2400" spc="65" dirty="0">
                <a:solidFill>
                  <a:srgbClr val="FFFFFF"/>
                </a:solidFill>
                <a:latin typeface="Trebuchet MS"/>
                <a:cs typeface="Trebuchet MS"/>
              </a:rPr>
              <a:t>quest</a:t>
            </a:r>
            <a:r>
              <a:rPr sz="2400" spc="-105" dirty="0">
                <a:solidFill>
                  <a:srgbClr val="FFFFFF"/>
                </a:solidFill>
                <a:latin typeface="Trebuchet MS"/>
                <a:cs typeface="Trebuchet MS"/>
              </a:rPr>
              <a:t> </a:t>
            </a:r>
            <a:r>
              <a:rPr sz="2400" dirty="0">
                <a:solidFill>
                  <a:srgbClr val="FFFFFF"/>
                </a:solidFill>
                <a:latin typeface="Trebuchet MS"/>
                <a:cs typeface="Trebuchet MS"/>
              </a:rPr>
              <a:t>to</a:t>
            </a:r>
            <a:r>
              <a:rPr sz="2400" spc="-105" dirty="0">
                <a:solidFill>
                  <a:srgbClr val="FFFFFF"/>
                </a:solidFill>
                <a:latin typeface="Trebuchet MS"/>
                <a:cs typeface="Trebuchet MS"/>
              </a:rPr>
              <a:t> </a:t>
            </a:r>
            <a:r>
              <a:rPr sz="2400" spc="55" dirty="0">
                <a:solidFill>
                  <a:srgbClr val="FFFFFF"/>
                </a:solidFill>
                <a:latin typeface="Trebuchet MS"/>
                <a:cs typeface="Trebuchet MS"/>
              </a:rPr>
              <a:t>understand</a:t>
            </a:r>
            <a:r>
              <a:rPr sz="2400" spc="-105" dirty="0">
                <a:solidFill>
                  <a:srgbClr val="FFFFFF"/>
                </a:solidFill>
                <a:latin typeface="Trebuchet MS"/>
                <a:cs typeface="Trebuchet MS"/>
              </a:rPr>
              <a:t> </a:t>
            </a:r>
            <a:r>
              <a:rPr sz="2400" spc="-25" dirty="0">
                <a:solidFill>
                  <a:srgbClr val="FFFFFF"/>
                </a:solidFill>
                <a:latin typeface="Trebuchet MS"/>
                <a:cs typeface="Trebuchet MS"/>
              </a:rPr>
              <a:t>the </a:t>
            </a:r>
            <a:r>
              <a:rPr sz="2400" spc="-10" dirty="0">
                <a:solidFill>
                  <a:srgbClr val="FFFFFF"/>
                </a:solidFill>
                <a:latin typeface="Trebuchet MS"/>
                <a:cs typeface="Trebuchet MS"/>
              </a:rPr>
              <a:t>universe.</a:t>
            </a:r>
            <a:endParaRPr sz="2400">
              <a:latin typeface="Trebuchet MS"/>
              <a:cs typeface="Trebuchet MS"/>
            </a:endParaRPr>
          </a:p>
        </p:txBody>
      </p:sp>
      <p:sp>
        <p:nvSpPr>
          <p:cNvPr id="6" name="object 6"/>
          <p:cNvSpPr/>
          <p:nvPr/>
        </p:nvSpPr>
        <p:spPr>
          <a:xfrm>
            <a:off x="5015865" y="8237728"/>
            <a:ext cx="8256270" cy="20320"/>
          </a:xfrm>
          <a:custGeom>
            <a:avLst/>
            <a:gdLst/>
            <a:ahLst/>
            <a:cxnLst/>
            <a:rect l="l" t="t" r="r" b="b"/>
            <a:pathLst>
              <a:path w="8256269" h="20320">
                <a:moveTo>
                  <a:pt x="8256257" y="1435"/>
                </a:moveTo>
                <a:lnTo>
                  <a:pt x="0" y="0"/>
                </a:lnTo>
                <a:lnTo>
                  <a:pt x="0" y="18707"/>
                </a:lnTo>
                <a:lnTo>
                  <a:pt x="8256257" y="20154"/>
                </a:lnTo>
                <a:lnTo>
                  <a:pt x="8256257" y="1435"/>
                </a:lnTo>
                <a:close/>
              </a:path>
            </a:pathLst>
          </a:custGeom>
          <a:solidFill>
            <a:srgbClr val="FFFFFF"/>
          </a:solidFill>
        </p:spPr>
        <p:txBody>
          <a:bodyPr wrap="square" lIns="0" tIns="0" rIns="0" bIns="0" rtlCol="0"/>
          <a:lstStyle/>
          <a:p>
            <a:endParaRPr/>
          </a:p>
        </p:txBody>
      </p:sp>
      <p:sp>
        <p:nvSpPr>
          <p:cNvPr id="7" name="object 7"/>
          <p:cNvSpPr/>
          <p:nvPr/>
        </p:nvSpPr>
        <p:spPr>
          <a:xfrm>
            <a:off x="8170175" y="1779948"/>
            <a:ext cx="454025" cy="454025"/>
          </a:xfrm>
          <a:custGeom>
            <a:avLst/>
            <a:gdLst/>
            <a:ahLst/>
            <a:cxnLst/>
            <a:rect l="l" t="t" r="r" b="b"/>
            <a:pathLst>
              <a:path w="454025" h="454025">
                <a:moveTo>
                  <a:pt x="226804" y="453512"/>
                </a:moveTo>
                <a:lnTo>
                  <a:pt x="0" y="453512"/>
                </a:lnTo>
                <a:lnTo>
                  <a:pt x="0" y="0"/>
                </a:lnTo>
                <a:lnTo>
                  <a:pt x="453595" y="0"/>
                </a:lnTo>
                <a:lnTo>
                  <a:pt x="453595" y="453512"/>
                </a:lnTo>
                <a:lnTo>
                  <a:pt x="226804" y="453512"/>
                </a:lnTo>
                <a:close/>
              </a:path>
            </a:pathLst>
          </a:custGeom>
          <a:ln w="18718">
            <a:solidFill>
              <a:srgbClr val="FFFFFF"/>
            </a:solidFill>
          </a:ln>
        </p:spPr>
        <p:txBody>
          <a:bodyPr wrap="square" lIns="0" tIns="0" rIns="0" bIns="0" rtlCol="0"/>
          <a:lstStyle/>
          <a:p>
            <a:endParaRPr/>
          </a:p>
        </p:txBody>
      </p:sp>
      <p:sp>
        <p:nvSpPr>
          <p:cNvPr id="8" name="object 8"/>
          <p:cNvSpPr/>
          <p:nvPr/>
        </p:nvSpPr>
        <p:spPr>
          <a:xfrm>
            <a:off x="8917536" y="1779948"/>
            <a:ext cx="454025" cy="454025"/>
          </a:xfrm>
          <a:custGeom>
            <a:avLst/>
            <a:gdLst/>
            <a:ahLst/>
            <a:cxnLst/>
            <a:rect l="l" t="t" r="r" b="b"/>
            <a:pathLst>
              <a:path w="454025" h="454025">
                <a:moveTo>
                  <a:pt x="226804" y="453512"/>
                </a:moveTo>
                <a:lnTo>
                  <a:pt x="0" y="453512"/>
                </a:lnTo>
                <a:lnTo>
                  <a:pt x="0" y="0"/>
                </a:lnTo>
                <a:lnTo>
                  <a:pt x="453595" y="0"/>
                </a:lnTo>
                <a:lnTo>
                  <a:pt x="453595" y="453512"/>
                </a:lnTo>
                <a:lnTo>
                  <a:pt x="226804" y="453512"/>
                </a:lnTo>
                <a:close/>
              </a:path>
            </a:pathLst>
          </a:custGeom>
          <a:ln w="18718">
            <a:solidFill>
              <a:srgbClr val="FFFFFF"/>
            </a:solidFill>
          </a:ln>
        </p:spPr>
        <p:txBody>
          <a:bodyPr wrap="square" lIns="0" tIns="0" rIns="0" bIns="0" rtlCol="0"/>
          <a:lstStyle/>
          <a:p>
            <a:endParaRPr/>
          </a:p>
        </p:txBody>
      </p:sp>
      <p:sp>
        <p:nvSpPr>
          <p:cNvPr id="9" name="object 9"/>
          <p:cNvSpPr/>
          <p:nvPr/>
        </p:nvSpPr>
        <p:spPr>
          <a:xfrm>
            <a:off x="9664172" y="1779948"/>
            <a:ext cx="454025" cy="454025"/>
          </a:xfrm>
          <a:custGeom>
            <a:avLst/>
            <a:gdLst/>
            <a:ahLst/>
            <a:cxnLst/>
            <a:rect l="l" t="t" r="r" b="b"/>
            <a:pathLst>
              <a:path w="454025" h="454025">
                <a:moveTo>
                  <a:pt x="226791" y="453512"/>
                </a:moveTo>
                <a:lnTo>
                  <a:pt x="0" y="453512"/>
                </a:lnTo>
                <a:lnTo>
                  <a:pt x="0" y="0"/>
                </a:lnTo>
                <a:lnTo>
                  <a:pt x="453595" y="0"/>
                </a:lnTo>
                <a:lnTo>
                  <a:pt x="453595" y="453512"/>
                </a:lnTo>
                <a:lnTo>
                  <a:pt x="226791" y="453512"/>
                </a:lnTo>
                <a:close/>
              </a:path>
            </a:pathLst>
          </a:custGeom>
          <a:ln w="18718">
            <a:solidFill>
              <a:srgbClr val="FFFFFF"/>
            </a:solidFill>
          </a:ln>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7000"/>
          </a:xfrm>
          <a:prstGeom prst="rect">
            <a:avLst/>
          </a:prstGeom>
        </p:spPr>
      </p:pic>
      <p:grpSp>
        <p:nvGrpSpPr>
          <p:cNvPr id="3" name="object 3"/>
          <p:cNvGrpSpPr/>
          <p:nvPr/>
        </p:nvGrpSpPr>
        <p:grpSpPr>
          <a:xfrm>
            <a:off x="457034" y="496627"/>
            <a:ext cx="17374235" cy="9294495"/>
            <a:chOff x="457034" y="496627"/>
            <a:chExt cx="17374235" cy="9294495"/>
          </a:xfrm>
        </p:grpSpPr>
        <p:sp>
          <p:nvSpPr>
            <p:cNvPr id="4" name="object 4"/>
            <p:cNvSpPr/>
            <p:nvPr/>
          </p:nvSpPr>
          <p:spPr>
            <a:xfrm>
              <a:off x="466559" y="506152"/>
              <a:ext cx="17355185" cy="9275445"/>
            </a:xfrm>
            <a:custGeom>
              <a:avLst/>
              <a:gdLst/>
              <a:ahLst/>
              <a:cxnLst/>
              <a:rect l="l" t="t" r="r" b="b"/>
              <a:pathLst>
                <a:path w="17355185" h="9275445">
                  <a:moveTo>
                    <a:pt x="8677427" y="9275008"/>
                  </a:moveTo>
                  <a:lnTo>
                    <a:pt x="0" y="9275008"/>
                  </a:lnTo>
                  <a:lnTo>
                    <a:pt x="0" y="0"/>
                  </a:lnTo>
                  <a:lnTo>
                    <a:pt x="17354842" y="0"/>
                  </a:lnTo>
                  <a:lnTo>
                    <a:pt x="17354842" y="9275008"/>
                  </a:lnTo>
                  <a:lnTo>
                    <a:pt x="8677427" y="9275008"/>
                  </a:lnTo>
                  <a:close/>
                </a:path>
              </a:pathLst>
            </a:custGeom>
            <a:ln w="18719">
              <a:solidFill>
                <a:srgbClr val="FFFFFF"/>
              </a:solidFill>
            </a:ln>
          </p:spPr>
          <p:txBody>
            <a:bodyPr wrap="square" lIns="0" tIns="0" rIns="0" bIns="0" rtlCol="0"/>
            <a:lstStyle/>
            <a:p>
              <a:endParaRPr/>
            </a:p>
          </p:txBody>
        </p:sp>
        <p:sp>
          <p:nvSpPr>
            <p:cNvPr id="5" name="object 5"/>
            <p:cNvSpPr/>
            <p:nvPr/>
          </p:nvSpPr>
          <p:spPr>
            <a:xfrm>
              <a:off x="972716" y="8007126"/>
              <a:ext cx="454025" cy="1200785"/>
            </a:xfrm>
            <a:custGeom>
              <a:avLst/>
              <a:gdLst/>
              <a:ahLst/>
              <a:cxnLst/>
              <a:rect l="l" t="t" r="r" b="b"/>
              <a:pathLst>
                <a:path w="454025" h="1200784">
                  <a:moveTo>
                    <a:pt x="0" y="226787"/>
                  </a:moveTo>
                  <a:lnTo>
                    <a:pt x="0" y="0"/>
                  </a:lnTo>
                  <a:lnTo>
                    <a:pt x="453520" y="0"/>
                  </a:lnTo>
                  <a:lnTo>
                    <a:pt x="453520" y="453574"/>
                  </a:lnTo>
                  <a:lnTo>
                    <a:pt x="0" y="453574"/>
                  </a:lnTo>
                  <a:lnTo>
                    <a:pt x="0" y="226787"/>
                  </a:lnTo>
                  <a:close/>
                </a:path>
                <a:path w="454025" h="1200784">
                  <a:moveTo>
                    <a:pt x="0" y="973383"/>
                  </a:moveTo>
                  <a:lnTo>
                    <a:pt x="0" y="746596"/>
                  </a:lnTo>
                  <a:lnTo>
                    <a:pt x="453520" y="746596"/>
                  </a:lnTo>
                  <a:lnTo>
                    <a:pt x="453520" y="1200178"/>
                  </a:lnTo>
                  <a:lnTo>
                    <a:pt x="0" y="1200178"/>
                  </a:lnTo>
                  <a:lnTo>
                    <a:pt x="0" y="973383"/>
                  </a:lnTo>
                  <a:close/>
                </a:path>
              </a:pathLst>
            </a:custGeom>
            <a:ln w="18717">
              <a:solidFill>
                <a:srgbClr val="FFFFFF"/>
              </a:solidFill>
            </a:ln>
          </p:spPr>
          <p:txBody>
            <a:bodyPr wrap="square" lIns="0" tIns="0" rIns="0" bIns="0" rtlCol="0"/>
            <a:lstStyle/>
            <a:p>
              <a:endParaRPr/>
            </a:p>
          </p:txBody>
        </p:sp>
        <p:sp>
          <p:nvSpPr>
            <p:cNvPr id="6" name="object 6"/>
            <p:cNvSpPr/>
            <p:nvPr/>
          </p:nvSpPr>
          <p:spPr>
            <a:xfrm>
              <a:off x="16862425" y="1079284"/>
              <a:ext cx="454025" cy="454025"/>
            </a:xfrm>
            <a:custGeom>
              <a:avLst/>
              <a:gdLst/>
              <a:ahLst/>
              <a:cxnLst/>
              <a:rect l="l" t="t" r="r" b="b"/>
              <a:pathLst>
                <a:path w="454025" h="454025">
                  <a:moveTo>
                    <a:pt x="0" y="226745"/>
                  </a:moveTo>
                  <a:lnTo>
                    <a:pt x="0" y="0"/>
                  </a:lnTo>
                  <a:lnTo>
                    <a:pt x="453517" y="0"/>
                  </a:lnTo>
                  <a:lnTo>
                    <a:pt x="453517" y="453504"/>
                  </a:lnTo>
                  <a:lnTo>
                    <a:pt x="0" y="453504"/>
                  </a:lnTo>
                  <a:lnTo>
                    <a:pt x="0" y="226745"/>
                  </a:lnTo>
                  <a:close/>
                </a:path>
              </a:pathLst>
            </a:custGeom>
            <a:ln w="18716">
              <a:solidFill>
                <a:srgbClr val="FFFFFF"/>
              </a:solidFill>
            </a:ln>
          </p:spPr>
          <p:txBody>
            <a:bodyPr wrap="square" lIns="0" tIns="0" rIns="0" bIns="0" rtlCol="0"/>
            <a:lstStyle/>
            <a:p>
              <a:endParaRPr/>
            </a:p>
          </p:txBody>
        </p:sp>
        <p:sp>
          <p:nvSpPr>
            <p:cNvPr id="7" name="object 7"/>
            <p:cNvSpPr/>
            <p:nvPr/>
          </p:nvSpPr>
          <p:spPr>
            <a:xfrm>
              <a:off x="5855182" y="3380092"/>
              <a:ext cx="6579234" cy="20320"/>
            </a:xfrm>
            <a:custGeom>
              <a:avLst/>
              <a:gdLst/>
              <a:ahLst/>
              <a:cxnLst/>
              <a:rect l="l" t="t" r="r" b="b"/>
              <a:pathLst>
                <a:path w="6579234" h="20320">
                  <a:moveTo>
                    <a:pt x="6578638" y="1447"/>
                  </a:moveTo>
                  <a:lnTo>
                    <a:pt x="0" y="0"/>
                  </a:lnTo>
                  <a:lnTo>
                    <a:pt x="0" y="18719"/>
                  </a:lnTo>
                  <a:lnTo>
                    <a:pt x="6578638" y="20167"/>
                  </a:lnTo>
                  <a:lnTo>
                    <a:pt x="6578638" y="1447"/>
                  </a:lnTo>
                  <a:close/>
                </a:path>
              </a:pathLst>
            </a:custGeom>
            <a:solidFill>
              <a:srgbClr val="FFFFFF"/>
            </a:solidFill>
          </p:spPr>
          <p:txBody>
            <a:bodyPr wrap="square" lIns="0" tIns="0" rIns="0" bIns="0" rtlCol="0"/>
            <a:lstStyle/>
            <a:p>
              <a:endParaRPr/>
            </a:p>
          </p:txBody>
        </p:sp>
        <p:pic>
          <p:nvPicPr>
            <p:cNvPr id="8" name="object 8"/>
            <p:cNvPicPr/>
            <p:nvPr/>
          </p:nvPicPr>
          <p:blipFill>
            <a:blip r:embed="rId3" cstate="print"/>
            <a:stretch>
              <a:fillRect/>
            </a:stretch>
          </p:blipFill>
          <p:spPr>
            <a:xfrm>
              <a:off x="6294120" y="1350264"/>
              <a:ext cx="5696712" cy="1853184"/>
            </a:xfrm>
            <a:prstGeom prst="rect">
              <a:avLst/>
            </a:prstGeom>
          </p:spPr>
        </p:pic>
      </p:grpSp>
      <p:sp>
        <p:nvSpPr>
          <p:cNvPr id="9" name="object 9"/>
          <p:cNvSpPr txBox="1"/>
          <p:nvPr/>
        </p:nvSpPr>
        <p:spPr>
          <a:xfrm>
            <a:off x="6535216" y="3798519"/>
            <a:ext cx="5159375" cy="3315010"/>
          </a:xfrm>
          <a:prstGeom prst="rect">
            <a:avLst/>
          </a:prstGeom>
        </p:spPr>
        <p:txBody>
          <a:bodyPr vert="horz" wrap="square" lIns="0" tIns="31750" rIns="0" bIns="0" rtlCol="0">
            <a:spAutoFit/>
          </a:bodyPr>
          <a:lstStyle/>
          <a:p>
            <a:pPr marL="12700" marR="5080" algn="ctr">
              <a:lnSpc>
                <a:spcPts val="3750"/>
              </a:lnSpc>
              <a:spcBef>
                <a:spcPts val="250"/>
              </a:spcBef>
            </a:pPr>
            <a:r>
              <a:rPr sz="3150" spc="235" dirty="0">
                <a:solidFill>
                  <a:srgbClr val="FFFFFF"/>
                </a:solidFill>
                <a:latin typeface="Trebuchet MS"/>
                <a:cs typeface="Trebuchet MS"/>
              </a:rPr>
              <a:t>Do</a:t>
            </a:r>
            <a:r>
              <a:rPr sz="3150" spc="-229" dirty="0">
                <a:solidFill>
                  <a:srgbClr val="FFFFFF"/>
                </a:solidFill>
                <a:latin typeface="Trebuchet MS"/>
                <a:cs typeface="Trebuchet MS"/>
              </a:rPr>
              <a:t> </a:t>
            </a:r>
            <a:r>
              <a:rPr sz="3150" spc="130" dirty="0">
                <a:solidFill>
                  <a:srgbClr val="FFFFFF"/>
                </a:solidFill>
                <a:latin typeface="Trebuchet MS"/>
                <a:cs typeface="Trebuchet MS"/>
              </a:rPr>
              <a:t>you</a:t>
            </a:r>
            <a:r>
              <a:rPr sz="3150" spc="-145" dirty="0">
                <a:solidFill>
                  <a:srgbClr val="FFFFFF"/>
                </a:solidFill>
                <a:latin typeface="Trebuchet MS"/>
                <a:cs typeface="Trebuchet MS"/>
              </a:rPr>
              <a:t> </a:t>
            </a:r>
            <a:r>
              <a:rPr sz="3150" spc="75" dirty="0">
                <a:solidFill>
                  <a:srgbClr val="FFFFFF"/>
                </a:solidFill>
                <a:latin typeface="Trebuchet MS"/>
                <a:cs typeface="Trebuchet MS"/>
              </a:rPr>
              <a:t>have</a:t>
            </a:r>
            <a:r>
              <a:rPr sz="3150" spc="-140" dirty="0">
                <a:solidFill>
                  <a:srgbClr val="FFFFFF"/>
                </a:solidFill>
                <a:latin typeface="Trebuchet MS"/>
                <a:cs typeface="Trebuchet MS"/>
              </a:rPr>
              <a:t> </a:t>
            </a:r>
            <a:r>
              <a:rPr sz="3150" spc="95" dirty="0">
                <a:solidFill>
                  <a:srgbClr val="FFFFFF"/>
                </a:solidFill>
                <a:latin typeface="Trebuchet MS"/>
                <a:cs typeface="Trebuchet MS"/>
              </a:rPr>
              <a:t>any</a:t>
            </a:r>
            <a:r>
              <a:rPr sz="3150" spc="-229" dirty="0">
                <a:solidFill>
                  <a:srgbClr val="FFFFFF"/>
                </a:solidFill>
                <a:latin typeface="Trebuchet MS"/>
                <a:cs typeface="Trebuchet MS"/>
              </a:rPr>
              <a:t> </a:t>
            </a:r>
            <a:r>
              <a:rPr sz="3150" spc="105" dirty="0">
                <a:solidFill>
                  <a:srgbClr val="FFFFFF"/>
                </a:solidFill>
                <a:latin typeface="Trebuchet MS"/>
                <a:cs typeface="Trebuchet MS"/>
              </a:rPr>
              <a:t>questions? </a:t>
            </a:r>
            <a:r>
              <a:rPr lang="en-IN" sz="3150" spc="-10" dirty="0">
                <a:solidFill>
                  <a:srgbClr val="FFFFFF"/>
                </a:solidFill>
                <a:latin typeface="Trebuchet MS"/>
                <a:cs typeface="Trebuchet MS"/>
              </a:rPr>
              <a:t>vaidiksharma124@gmail.com</a:t>
            </a:r>
            <a:endParaRPr sz="3150" dirty="0">
              <a:latin typeface="Trebuchet MS"/>
              <a:cs typeface="Trebuchet MS"/>
            </a:endParaRPr>
          </a:p>
          <a:p>
            <a:pPr algn="ctr">
              <a:lnSpc>
                <a:spcPts val="3629"/>
              </a:lnSpc>
            </a:pPr>
            <a:r>
              <a:rPr sz="3150" spc="-105" dirty="0">
                <a:solidFill>
                  <a:srgbClr val="FFFFFF"/>
                </a:solidFill>
                <a:latin typeface="Trebuchet MS"/>
                <a:cs typeface="Trebuchet MS"/>
              </a:rPr>
              <a:t>+</a:t>
            </a:r>
            <a:r>
              <a:rPr lang="en-IN" sz="3150" spc="-105" dirty="0">
                <a:solidFill>
                  <a:srgbClr val="FFFFFF"/>
                </a:solidFill>
                <a:latin typeface="Trebuchet MS"/>
                <a:cs typeface="Trebuchet MS"/>
              </a:rPr>
              <a:t>91</a:t>
            </a:r>
            <a:r>
              <a:rPr lang="en-IN" sz="3150" spc="-145" dirty="0">
                <a:solidFill>
                  <a:srgbClr val="FFFFFF"/>
                </a:solidFill>
                <a:latin typeface="Trebuchet MS"/>
                <a:cs typeface="Trebuchet MS"/>
              </a:rPr>
              <a:t> 98</a:t>
            </a:r>
            <a:r>
              <a:rPr lang="en-IN" sz="3150" spc="114" dirty="0">
                <a:solidFill>
                  <a:srgbClr val="FFFFFF"/>
                </a:solidFill>
                <a:latin typeface="Trebuchet MS"/>
                <a:cs typeface="Trebuchet MS"/>
              </a:rPr>
              <a:t>3 48</a:t>
            </a:r>
            <a:r>
              <a:rPr lang="en-IN" sz="3150" spc="-100" dirty="0">
                <a:solidFill>
                  <a:srgbClr val="FFFFFF"/>
                </a:solidFill>
                <a:latin typeface="Trebuchet MS"/>
                <a:cs typeface="Trebuchet MS"/>
              </a:rPr>
              <a:t>1 18</a:t>
            </a:r>
            <a:r>
              <a:rPr lang="en-IN" sz="3150" spc="-25" dirty="0">
                <a:solidFill>
                  <a:srgbClr val="FFFFFF"/>
                </a:solidFill>
                <a:latin typeface="Trebuchet MS"/>
                <a:cs typeface="Trebuchet MS"/>
              </a:rPr>
              <a:t>39</a:t>
            </a:r>
          </a:p>
          <a:p>
            <a:pPr algn="ctr">
              <a:lnSpc>
                <a:spcPts val="3629"/>
              </a:lnSpc>
            </a:pPr>
            <a:r>
              <a:rPr lang="en-IN" sz="3150" spc="-25" dirty="0">
                <a:solidFill>
                  <a:srgbClr val="FFFFFF"/>
                </a:solidFill>
                <a:latin typeface="Trebuchet MS"/>
                <a:cs typeface="Trebuchet MS"/>
              </a:rPr>
              <a:t>LinkedIn: </a:t>
            </a:r>
            <a:r>
              <a:rPr lang="en-IN" sz="3150" spc="-25" dirty="0">
                <a:solidFill>
                  <a:srgbClr val="FFFFFF"/>
                </a:solidFill>
                <a:latin typeface="Trebuchet MS"/>
                <a:cs typeface="Trebuchet MS"/>
                <a:hlinkClick r:id="rId4"/>
              </a:rPr>
              <a:t>https://www.linkedin.com/in/vaidik-sharma-2aba80186/</a:t>
            </a:r>
            <a:endParaRPr lang="en-IN" sz="3150" spc="-25" dirty="0">
              <a:solidFill>
                <a:srgbClr val="FFFFFF"/>
              </a:solidFill>
              <a:latin typeface="Trebuchet MS"/>
              <a:cs typeface="Trebuchet MS"/>
            </a:endParaRPr>
          </a:p>
          <a:p>
            <a:pPr algn="ctr">
              <a:lnSpc>
                <a:spcPts val="3629"/>
              </a:lnSpc>
            </a:pPr>
            <a:r>
              <a:rPr lang="en-IN" sz="3150" spc="-25" dirty="0">
                <a:solidFill>
                  <a:srgbClr val="FFFFFF"/>
                </a:solidFill>
                <a:latin typeface="Trebuchet MS"/>
                <a:cs typeface="Trebuchet MS"/>
              </a:rPr>
              <a:t>Instagram: VaidikS_124</a:t>
            </a:r>
            <a:endParaRPr sz="3150" dirty="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TotalTime>
  <Words>1234</Words>
  <Application>Microsoft Office PowerPoint</Application>
  <PresentationFormat>Custom</PresentationFormat>
  <Paragraphs>168</Paragraphs>
  <Slides>34</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-apple-system</vt:lpstr>
      <vt:lpstr>Arial</vt:lpstr>
      <vt:lpstr>Calibri</vt:lpstr>
      <vt:lpstr>Consolas</vt:lpstr>
      <vt:lpstr>Corbel</vt:lpstr>
      <vt:lpstr>Trebuchet MS</vt:lpstr>
      <vt:lpstr>var(--fontStack-monospace, ui-monospace, SFMono-Regular, SF Mono, Menlo, Consolas, Liberation Mono, monospace)</vt:lpstr>
      <vt:lpstr>Verdana</vt:lpstr>
      <vt:lpstr>Office Theme</vt:lpstr>
      <vt:lpstr>PowerPoint Presentation</vt:lpstr>
      <vt:lpstr>Fundamentals of machine learning</vt:lpstr>
      <vt:lpstr>Data</vt:lpstr>
      <vt:lpstr>Data</vt:lpstr>
      <vt:lpstr>Model – learning/training – inference</vt:lpstr>
      <vt:lpstr>Optimization</vt:lpstr>
      <vt:lpstr>Gradient descent</vt:lpstr>
      <vt:lpstr>Over- and underfitting, generalization, regularization</vt:lpstr>
      <vt:lpstr>Deep learning</vt:lpstr>
      <vt:lpstr>Anatomy of a deep neural network</vt:lpstr>
      <vt:lpstr>Layers</vt:lpstr>
      <vt:lpstr>Input data and targets</vt:lpstr>
      <vt:lpstr>Loss function</vt:lpstr>
      <vt:lpstr>Optimizer</vt:lpstr>
      <vt:lpstr>Anatomy of a deep neural network</vt:lpstr>
      <vt:lpstr>Deep learning frameworks</vt:lpstr>
      <vt:lpstr>PowerPoint Presentation</vt:lpstr>
      <vt:lpstr>Deep learning frameworks</vt:lpstr>
      <vt:lpstr>Deep learning frameworks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Description</vt:lpstr>
      <vt:lpstr>Steps:</vt:lpstr>
      <vt:lpstr>Background Resources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Vaidik Sharma</cp:lastModifiedBy>
  <cp:revision>1</cp:revision>
  <dcterms:created xsi:type="dcterms:W3CDTF">2024-05-30T14:30:50Z</dcterms:created>
  <dcterms:modified xsi:type="dcterms:W3CDTF">2024-05-31T13:41:46Z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2024-05-30T00:00:00Z</vt:filetime>
  </property>
  <property fmtid="{D5CDD505-2E9C-101B-9397-08002B2CF9AE}" pid="3" name="Creator">
    <vt:lpwstr>Chromium</vt:lpwstr>
  </property>
  <property fmtid="{D5CDD505-2E9C-101B-9397-08002B2CF9AE}" pid="4" name="LastSaved">
    <vt:filetime>2024-05-30T00:00:00Z</vt:filetime>
  </property>
  <property fmtid="{D5CDD505-2E9C-101B-9397-08002B2CF9AE}" pid="5" name="Producer">
    <vt:lpwstr>GPL Ghostscript 10.02.0</vt:lpwstr>
  </property>
</Properties>
</file>